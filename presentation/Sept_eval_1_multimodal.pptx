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media/image5.svg" ContentType="image/svg+xml"/>
  <Override PartName="/ppt/media/image6.svg" ContentType="image/svg+xml"/>
  <Override PartName="/ppt/media/image7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7" r:id="rId10"/>
    <p:sldId id="268" r:id="rId11"/>
    <p:sldId id="279" r:id="rId36"/>
    <p:sldId id="269" r:id="rId12"/>
    <p:sldId id="280" r:id="rId37"/>
    <p:sldId id="281" r:id="rId38"/>
    <p:sldId id="270" r:id="rId13"/>
    <p:sldId id="271" r:id="rId14"/>
    <p:sldId id="272" r:id="rId15"/>
    <p:sldId id="273" r:id="rId16"/>
    <p:sldId id="274" r:id="rId17"/>
    <p:sldId id="278" r:id="rId18"/>
    <p:sldId id="275" r:id="rId19"/>
    <p:sldId id="282" r:id="rId39"/>
    <p:sldId id="276" r:id="rId20"/>
    <p:sldId id="264" r:id="rId21"/>
    <p:sldId id="265" r:id="rId22"/>
  </p:sldIdLst>
  <p:sldSz cx="18288000" cy="10287000"/>
  <p:notesSz cx="6858000" cy="9144000"/>
  <p:embeddedFontLst>
    <p:embeddedFont>
      <p:font typeface="Anonymous Pro Bold" panose="020B0604020202020204" charset="0"/>
      <p:regular r:id="rId23"/>
    </p:embeddedFont>
    <p:embeddedFont>
      <p:font typeface="Canva Sans" panose="020B0604020202020204" charset="0"/>
      <p:regular r:id="rId24"/>
    </p:embeddedFont>
    <p:embeddedFont>
      <p:font typeface="Canva Sans Bold" panose="020B0604020202020204" charset="0"/>
      <p:regular r:id="rId25"/>
    </p:embeddedFont>
    <p:embeddedFont>
      <p:font typeface="Fira Sans" panose="020B0503050000020004" pitchFamily="34" charset="0"/>
      <p:regular r:id="rId26"/>
    </p:embeddedFont>
    <p:embeddedFont>
      <p:font typeface="Fira Sans Bold" panose="020B0803050000020004" charset="0"/>
      <p:regular r:id="rId27"/>
    </p:embeddedFont>
    <p:embeddedFont>
      <p:font typeface="League Spartan" panose="020B0604020202020204" charset="0"/>
      <p:regular r:id="rId28"/>
    </p:embeddedFont>
    <p:embeddedFont>
      <p:font typeface="Times New Roman Bold" panose="02020803070505020304" pitchFamily="18" charset="0"/>
      <p:bold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DFE152-E4E1-421A-9E79-0518D6043CB6}" v="7" dt="2026-10-04T16:34:55.38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6" d="100"/>
          <a:sy n="46" d="100"/>
        </p:scale>
        <p:origin x="913" y="7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2.xml"/><Relationship Id="rId13" Type="http://schemas.openxmlformats.org/officeDocument/2006/relationships/slide" Target="slides/slide15.xml"/><Relationship Id="rId14" Type="http://schemas.openxmlformats.org/officeDocument/2006/relationships/slide" Target="slides/slide16.xml"/><Relationship Id="rId15" Type="http://schemas.openxmlformats.org/officeDocument/2006/relationships/slide" Target="slides/slide17.xml"/><Relationship Id="rId16" Type="http://schemas.openxmlformats.org/officeDocument/2006/relationships/slide" Target="slides/slide18.xml"/><Relationship Id="rId17" Type="http://schemas.openxmlformats.org/officeDocument/2006/relationships/slide" Target="slides/slide19.xml"/><Relationship Id="rId18" Type="http://schemas.openxmlformats.org/officeDocument/2006/relationships/slide" Target="slides/slide20.xml"/><Relationship Id="rId19" Type="http://schemas.openxmlformats.org/officeDocument/2006/relationships/slide" Target="slides/slide21.xml"/><Relationship Id="rId20" Type="http://schemas.openxmlformats.org/officeDocument/2006/relationships/slide" Target="slides/slide23.xml"/><Relationship Id="rId21" Type="http://schemas.openxmlformats.org/officeDocument/2006/relationships/slide" Target="slides/slide24.xml"/><Relationship Id="rId22" Type="http://schemas.openxmlformats.org/officeDocument/2006/relationships/slide" Target="slides/slide25.xml"/><Relationship Id="rId23" Type="http://schemas.openxmlformats.org/officeDocument/2006/relationships/font" Target="fonts/font1.fntdata"/><Relationship Id="rId24" Type="http://schemas.openxmlformats.org/officeDocument/2006/relationships/font" Target="fonts/font2.fntdata"/><Relationship Id="rId25" Type="http://schemas.openxmlformats.org/officeDocument/2006/relationships/font" Target="fonts/font3.fntdata"/><Relationship Id="rId26" Type="http://schemas.openxmlformats.org/officeDocument/2006/relationships/font" Target="fonts/font4.fntdata"/><Relationship Id="rId27" Type="http://schemas.openxmlformats.org/officeDocument/2006/relationships/font" Target="fonts/font5.fntdata"/><Relationship Id="rId28" Type="http://schemas.openxmlformats.org/officeDocument/2006/relationships/font" Target="fonts/font6.fntdata"/><Relationship Id="rId29" Type="http://schemas.openxmlformats.org/officeDocument/2006/relationships/font" Target="fonts/font7.fntdata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Relationship Id="rId34" Type="http://schemas.microsoft.com/office/2016/11/relationships/changesInfo" Target="changesInfos/changesInfo1.xml"/><Relationship Id="rId35" Type="http://schemas.microsoft.com/office/2015/10/relationships/revisionInfo" Target="revisionInfo.xml"/><Relationship Id="rId36" Type="http://schemas.openxmlformats.org/officeDocument/2006/relationships/slide" Target="slides/slide11.xml"/><Relationship Id="rId37" Type="http://schemas.openxmlformats.org/officeDocument/2006/relationships/slide" Target="slides/slide13.xml"/><Relationship Id="rId38" Type="http://schemas.openxmlformats.org/officeDocument/2006/relationships/slide" Target="slides/slide14.xml"/><Relationship Id="rId39" Type="http://schemas.openxmlformats.org/officeDocument/2006/relationships/slide" Target="slides/slide22.xml"/><Relationship Id="rId40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skan Shaikh" userId="6ed7a8d74177264d" providerId="LiveId" clId="{1528929A-6AFB-4239-876A-4B5E5FAFEDD7}"/>
    <pc:docChg chg="undo redo custSel addSld delSld modSld">
      <pc:chgData name="Muskan Shaikh" userId="6ed7a8d74177264d" providerId="LiveId" clId="{1528929A-6AFB-4239-876A-4B5E5FAFEDD7}" dt="2026-10-04T16:35:30.025" v="236" actId="47"/>
      <pc:docMkLst>
        <pc:docMk/>
      </pc:docMkLst>
      <pc:sldChg chg="modSp mod">
        <pc:chgData name="Muskan Shaikh" userId="6ed7a8d74177264d" providerId="LiveId" clId="{1528929A-6AFB-4239-876A-4B5E5FAFEDD7}" dt="2026-10-04T16:32:54.295" v="206" actId="14100"/>
        <pc:sldMkLst>
          <pc:docMk/>
          <pc:sldMk cId="0" sldId="257"/>
        </pc:sldMkLst>
        <pc:spChg chg="mod">
          <ac:chgData name="Muskan Shaikh" userId="6ed7a8d74177264d" providerId="LiveId" clId="{1528929A-6AFB-4239-876A-4B5E5FAFEDD7}" dt="2026-10-04T16:32:54.295" v="206" actId="14100"/>
          <ac:spMkLst>
            <pc:docMk/>
            <pc:sldMk cId="0" sldId="257"/>
            <ac:spMk id="13" creationId="{00000000-0000-0000-0000-000000000000}"/>
          </ac:spMkLst>
        </pc:spChg>
      </pc:sldChg>
      <pc:sldChg chg="modSp mod">
        <pc:chgData name="Muskan Shaikh" userId="6ed7a8d74177264d" providerId="LiveId" clId="{1528929A-6AFB-4239-876A-4B5E5FAFEDD7}" dt="2026-10-04T16:33:07.227" v="208" actId="14100"/>
        <pc:sldMkLst>
          <pc:docMk/>
          <pc:sldMk cId="0" sldId="258"/>
        </pc:sldMkLst>
        <pc:spChg chg="mod">
          <ac:chgData name="Muskan Shaikh" userId="6ed7a8d74177264d" providerId="LiveId" clId="{1528929A-6AFB-4239-876A-4B5E5FAFEDD7}" dt="2026-10-04T16:18:18.319" v="23" actId="14100"/>
          <ac:spMkLst>
            <pc:docMk/>
            <pc:sldMk cId="0" sldId="258"/>
            <ac:spMk id="25" creationId="{00000000-0000-0000-0000-000000000000}"/>
          </ac:spMkLst>
        </pc:spChg>
        <pc:spChg chg="mod">
          <ac:chgData name="Muskan Shaikh" userId="6ed7a8d74177264d" providerId="LiveId" clId="{1528929A-6AFB-4239-876A-4B5E5FAFEDD7}" dt="2026-10-04T16:33:07.227" v="208" actId="14100"/>
          <ac:spMkLst>
            <pc:docMk/>
            <pc:sldMk cId="0" sldId="258"/>
            <ac:spMk id="26" creationId="{00000000-0000-0000-0000-000000000000}"/>
          </ac:spMkLst>
        </pc:spChg>
      </pc:sldChg>
      <pc:sldChg chg="modSp mod">
        <pc:chgData name="Muskan Shaikh" userId="6ed7a8d74177264d" providerId="LiveId" clId="{1528929A-6AFB-4239-876A-4B5E5FAFEDD7}" dt="2026-10-04T16:18:23.346" v="25" actId="14100"/>
        <pc:sldMkLst>
          <pc:docMk/>
          <pc:sldMk cId="0" sldId="259"/>
        </pc:sldMkLst>
        <pc:spChg chg="mod">
          <ac:chgData name="Muskan Shaikh" userId="6ed7a8d74177264d" providerId="LiveId" clId="{1528929A-6AFB-4239-876A-4B5E5FAFEDD7}" dt="2026-10-04T16:18:23.346" v="25" actId="14100"/>
          <ac:spMkLst>
            <pc:docMk/>
            <pc:sldMk cId="0" sldId="259"/>
            <ac:spMk id="14" creationId="{00000000-0000-0000-0000-000000000000}"/>
          </ac:spMkLst>
        </pc:spChg>
      </pc:sldChg>
      <pc:sldChg chg="addSp delSp modSp mod">
        <pc:chgData name="Muskan Shaikh" userId="6ed7a8d74177264d" providerId="LiveId" clId="{1528929A-6AFB-4239-876A-4B5E5FAFEDD7}" dt="2026-10-04T16:34:04.935" v="225" actId="478"/>
        <pc:sldMkLst>
          <pc:docMk/>
          <pc:sldMk cId="0" sldId="260"/>
        </pc:sldMkLst>
        <pc:spChg chg="add del">
          <ac:chgData name="Muskan Shaikh" userId="6ed7a8d74177264d" providerId="LiveId" clId="{1528929A-6AFB-4239-876A-4B5E5FAFEDD7}" dt="2026-10-04T16:34:03.312" v="220" actId="478"/>
          <ac:spMkLst>
            <pc:docMk/>
            <pc:sldMk cId="0" sldId="260"/>
            <ac:spMk id="10" creationId="{00000000-0000-0000-0000-000000000000}"/>
          </ac:spMkLst>
        </pc:spChg>
        <pc:spChg chg="add del topLvl">
          <ac:chgData name="Muskan Shaikh" userId="6ed7a8d74177264d" providerId="LiveId" clId="{1528929A-6AFB-4239-876A-4B5E5FAFEDD7}" dt="2026-10-04T16:34:04.463" v="224" actId="478"/>
          <ac:spMkLst>
            <pc:docMk/>
            <pc:sldMk cId="0" sldId="260"/>
            <ac:spMk id="21" creationId="{00000000-0000-0000-0000-000000000000}"/>
          </ac:spMkLst>
        </pc:spChg>
        <pc:grpChg chg="add del">
          <ac:chgData name="Muskan Shaikh" userId="6ed7a8d74177264d" providerId="LiveId" clId="{1528929A-6AFB-4239-876A-4B5E5FAFEDD7}" dt="2026-10-04T16:34:04.935" v="225" actId="478"/>
          <ac:grpSpMkLst>
            <pc:docMk/>
            <pc:sldMk cId="0" sldId="260"/>
            <ac:grpSpMk id="8" creationId="{00000000-0000-0000-0000-000000000000}"/>
          </ac:grpSpMkLst>
        </pc:grpChg>
        <pc:grpChg chg="add del">
          <ac:chgData name="Muskan Shaikh" userId="6ed7a8d74177264d" providerId="LiveId" clId="{1528929A-6AFB-4239-876A-4B5E5FAFEDD7}" dt="2026-10-04T16:34:03.643" v="221" actId="478"/>
          <ac:grpSpMkLst>
            <pc:docMk/>
            <pc:sldMk cId="0" sldId="260"/>
            <ac:grpSpMk id="16" creationId="{00000000-0000-0000-0000-000000000000}"/>
          </ac:grpSpMkLst>
        </pc:grpChg>
        <pc:grpChg chg="add del">
          <ac:chgData name="Muskan Shaikh" userId="6ed7a8d74177264d" providerId="LiveId" clId="{1528929A-6AFB-4239-876A-4B5E5FAFEDD7}" dt="2026-10-04T16:34:04.112" v="223" actId="478"/>
          <ac:grpSpMkLst>
            <pc:docMk/>
            <pc:sldMk cId="0" sldId="260"/>
            <ac:grpSpMk id="18" creationId="{00000000-0000-0000-0000-000000000000}"/>
          </ac:grpSpMkLst>
        </pc:grpChg>
        <pc:grpChg chg="del">
          <ac:chgData name="Muskan Shaikh" userId="6ed7a8d74177264d" providerId="LiveId" clId="{1528929A-6AFB-4239-876A-4B5E5FAFEDD7}" dt="2026-10-04T16:33:42.236" v="210" actId="478"/>
          <ac:grpSpMkLst>
            <pc:docMk/>
            <pc:sldMk cId="0" sldId="260"/>
            <ac:grpSpMk id="20" creationId="{00000000-0000-0000-0000-000000000000}"/>
          </ac:grpSpMkLst>
        </pc:grpChg>
        <pc:grpChg chg="add del">
          <ac:chgData name="Muskan Shaikh" userId="6ed7a8d74177264d" providerId="LiveId" clId="{1528929A-6AFB-4239-876A-4B5E5FAFEDD7}" dt="2026-10-04T16:34:03.854" v="222" actId="478"/>
          <ac:grpSpMkLst>
            <pc:docMk/>
            <pc:sldMk cId="0" sldId="260"/>
            <ac:grpSpMk id="22" creationId="{00000000-0000-0000-0000-000000000000}"/>
          </ac:grpSpMkLst>
        </pc:grpChg>
        <pc:picChg chg="add del mod">
          <ac:chgData name="Muskan Shaikh" userId="6ed7a8d74177264d" providerId="LiveId" clId="{1528929A-6AFB-4239-876A-4B5E5FAFEDD7}" dt="2026-10-04T16:34:03.111" v="219" actId="931"/>
          <ac:picMkLst>
            <pc:docMk/>
            <pc:sldMk cId="0" sldId="260"/>
            <ac:picMk id="25" creationId="{10E59EE7-14F0-51D4-01FB-1950E27A6DDA}"/>
          </ac:picMkLst>
        </pc:picChg>
      </pc:sldChg>
      <pc:sldChg chg="modSp mod">
        <pc:chgData name="Muskan Shaikh" userId="6ed7a8d74177264d" providerId="LiveId" clId="{1528929A-6AFB-4239-876A-4B5E5FAFEDD7}" dt="2026-10-04T16:18:29.985" v="26" actId="20577"/>
        <pc:sldMkLst>
          <pc:docMk/>
          <pc:sldMk cId="0" sldId="261"/>
        </pc:sldMkLst>
        <pc:spChg chg="mod">
          <ac:chgData name="Muskan Shaikh" userId="6ed7a8d74177264d" providerId="LiveId" clId="{1528929A-6AFB-4239-876A-4B5E5FAFEDD7}" dt="2026-10-04T16:18:29.985" v="26" actId="20577"/>
          <ac:spMkLst>
            <pc:docMk/>
            <pc:sldMk cId="0" sldId="261"/>
            <ac:spMk id="10" creationId="{00000000-0000-0000-0000-000000000000}"/>
          </ac:spMkLst>
        </pc:spChg>
      </pc:sldChg>
      <pc:sldChg chg="delSp del mod">
        <pc:chgData name="Muskan Shaikh" userId="6ed7a8d74177264d" providerId="LiveId" clId="{1528929A-6AFB-4239-876A-4B5E5FAFEDD7}" dt="2026-10-04T16:18:51.118" v="28" actId="47"/>
        <pc:sldMkLst>
          <pc:docMk/>
          <pc:sldMk cId="0" sldId="263"/>
        </pc:sldMkLst>
        <pc:spChg chg="del">
          <ac:chgData name="Muskan Shaikh" userId="6ed7a8d74177264d" providerId="LiveId" clId="{1528929A-6AFB-4239-876A-4B5E5FAFEDD7}" dt="2026-10-04T16:18:47.792" v="27" actId="478"/>
          <ac:spMkLst>
            <pc:docMk/>
            <pc:sldMk cId="0" sldId="263"/>
            <ac:spMk id="10" creationId="{00000000-0000-0000-0000-000000000000}"/>
          </ac:spMkLst>
        </pc:spChg>
      </pc:sldChg>
      <pc:sldChg chg="addSp delSp modSp mod">
        <pc:chgData name="Muskan Shaikh" userId="6ed7a8d74177264d" providerId="LiveId" clId="{1528929A-6AFB-4239-876A-4B5E5FAFEDD7}" dt="2026-10-04T16:18:08.683" v="21" actId="255"/>
        <pc:sldMkLst>
          <pc:docMk/>
          <pc:sldMk cId="0" sldId="264"/>
        </pc:sldMkLst>
        <pc:spChg chg="add del mod">
          <ac:chgData name="Muskan Shaikh" userId="6ed7a8d74177264d" providerId="LiveId" clId="{1528929A-6AFB-4239-876A-4B5E5FAFEDD7}" dt="2026-10-04T16:17:23.815" v="4"/>
          <ac:spMkLst>
            <pc:docMk/>
            <pc:sldMk cId="0" sldId="264"/>
            <ac:spMk id="13" creationId="{DD054478-7E59-D226-844F-F07FA9A87B5F}"/>
          </ac:spMkLst>
        </pc:spChg>
        <pc:spChg chg="add del mod">
          <ac:chgData name="Muskan Shaikh" userId="6ed7a8d74177264d" providerId="LiveId" clId="{1528929A-6AFB-4239-876A-4B5E5FAFEDD7}" dt="2026-10-04T16:17:55.559" v="18"/>
          <ac:spMkLst>
            <pc:docMk/>
            <pc:sldMk cId="0" sldId="264"/>
            <ac:spMk id="14" creationId="{AA970159-B81B-B7C4-3492-3AF270F3C21F}"/>
          </ac:spMkLst>
        </pc:spChg>
        <pc:graphicFrameChg chg="del mod">
          <ac:chgData name="Muskan Shaikh" userId="6ed7a8d74177264d" providerId="LiveId" clId="{1528929A-6AFB-4239-876A-4B5E5FAFEDD7}" dt="2026-10-04T16:16:45.123" v="1" actId="478"/>
          <ac:graphicFrameMkLst>
            <pc:docMk/>
            <pc:sldMk cId="0" sldId="264"/>
            <ac:graphicFrameMk id="10" creationId="{00000000-0000-0000-0000-000000000000}"/>
          </ac:graphicFrameMkLst>
        </pc:graphicFrameChg>
        <pc:graphicFrameChg chg="add mod modGraphic">
          <ac:chgData name="Muskan Shaikh" userId="6ed7a8d74177264d" providerId="LiveId" clId="{1528929A-6AFB-4239-876A-4B5E5FAFEDD7}" dt="2026-10-04T16:18:08.683" v="21" actId="255"/>
          <ac:graphicFrameMkLst>
            <pc:docMk/>
            <pc:sldMk cId="0" sldId="264"/>
            <ac:graphicFrameMk id="15" creationId="{755DEF30-6ED8-57BE-BA3E-0C8D15F7DD5B}"/>
          </ac:graphicFrameMkLst>
        </pc:graphicFrameChg>
      </pc:sldChg>
      <pc:sldChg chg="modSp mod">
        <pc:chgData name="Muskan Shaikh" userId="6ed7a8d74177264d" providerId="LiveId" clId="{1528929A-6AFB-4239-876A-4B5E5FAFEDD7}" dt="2026-10-04T16:22:42.087" v="87" actId="1076"/>
        <pc:sldMkLst>
          <pc:docMk/>
          <pc:sldMk cId="0" sldId="266"/>
        </pc:sldMkLst>
        <pc:spChg chg="mod">
          <ac:chgData name="Muskan Shaikh" userId="6ed7a8d74177264d" providerId="LiveId" clId="{1528929A-6AFB-4239-876A-4B5E5FAFEDD7}" dt="2026-10-04T16:19:54.878" v="41" actId="1076"/>
          <ac:spMkLst>
            <pc:docMk/>
            <pc:sldMk cId="0" sldId="266"/>
            <ac:spMk id="10" creationId="{00000000-0000-0000-0000-000000000000}"/>
          </ac:spMkLst>
        </pc:spChg>
        <pc:spChg chg="mod">
          <ac:chgData name="Muskan Shaikh" userId="6ed7a8d74177264d" providerId="LiveId" clId="{1528929A-6AFB-4239-876A-4B5E5FAFEDD7}" dt="2026-10-04T16:22:28.206" v="84" actId="1076"/>
          <ac:spMkLst>
            <pc:docMk/>
            <pc:sldMk cId="0" sldId="266"/>
            <ac:spMk id="11" creationId="{00000000-0000-0000-0000-000000000000}"/>
          </ac:spMkLst>
        </pc:spChg>
        <pc:spChg chg="mod">
          <ac:chgData name="Muskan Shaikh" userId="6ed7a8d74177264d" providerId="LiveId" clId="{1528929A-6AFB-4239-876A-4B5E5FAFEDD7}" dt="2026-10-04T16:21:04.426" v="52" actId="20577"/>
          <ac:spMkLst>
            <pc:docMk/>
            <pc:sldMk cId="0" sldId="266"/>
            <ac:spMk id="13" creationId="{00000000-0000-0000-0000-000000000000}"/>
          </ac:spMkLst>
        </pc:spChg>
        <pc:spChg chg="mod">
          <ac:chgData name="Muskan Shaikh" userId="6ed7a8d74177264d" providerId="LiveId" clId="{1528929A-6AFB-4239-876A-4B5E5FAFEDD7}" dt="2026-10-04T16:21:20.976" v="68" actId="20577"/>
          <ac:spMkLst>
            <pc:docMk/>
            <pc:sldMk cId="0" sldId="266"/>
            <ac:spMk id="15" creationId="{00000000-0000-0000-0000-000000000000}"/>
          </ac:spMkLst>
        </pc:spChg>
        <pc:spChg chg="mod">
          <ac:chgData name="Muskan Shaikh" userId="6ed7a8d74177264d" providerId="LiveId" clId="{1528929A-6AFB-4239-876A-4B5E5FAFEDD7}" dt="2026-10-04T16:21:50.361" v="80" actId="20577"/>
          <ac:spMkLst>
            <pc:docMk/>
            <pc:sldMk cId="0" sldId="266"/>
            <ac:spMk id="17" creationId="{00000000-0000-0000-0000-000000000000}"/>
          </ac:spMkLst>
        </pc:spChg>
        <pc:spChg chg="mod">
          <ac:chgData name="Muskan Shaikh" userId="6ed7a8d74177264d" providerId="LiveId" clId="{1528929A-6AFB-4239-876A-4B5E5FAFEDD7}" dt="2026-10-04T16:22:32.494" v="85" actId="1076"/>
          <ac:spMkLst>
            <pc:docMk/>
            <pc:sldMk cId="0" sldId="266"/>
            <ac:spMk id="18" creationId="{00000000-0000-0000-0000-000000000000}"/>
          </ac:spMkLst>
        </pc:spChg>
        <pc:spChg chg="mod">
          <ac:chgData name="Muskan Shaikh" userId="6ed7a8d74177264d" providerId="LiveId" clId="{1528929A-6AFB-4239-876A-4B5E5FAFEDD7}" dt="2026-10-04T16:22:34.368" v="86" actId="1076"/>
          <ac:spMkLst>
            <pc:docMk/>
            <pc:sldMk cId="0" sldId="266"/>
            <ac:spMk id="19" creationId="{00000000-0000-0000-0000-000000000000}"/>
          </ac:spMkLst>
        </pc:spChg>
        <pc:spChg chg="mod">
          <ac:chgData name="Muskan Shaikh" userId="6ed7a8d74177264d" providerId="LiveId" clId="{1528929A-6AFB-4239-876A-4B5E5FAFEDD7}" dt="2026-10-04T16:22:42.087" v="87" actId="1076"/>
          <ac:spMkLst>
            <pc:docMk/>
            <pc:sldMk cId="0" sldId="266"/>
            <ac:spMk id="20" creationId="{00000000-0000-0000-0000-000000000000}"/>
          </ac:spMkLst>
        </pc:spChg>
        <pc:spChg chg="mod">
          <ac:chgData name="Muskan Shaikh" userId="6ed7a8d74177264d" providerId="LiveId" clId="{1528929A-6AFB-4239-876A-4B5E5FAFEDD7}" dt="2026-10-04T16:20:18.800" v="42" actId="255"/>
          <ac:spMkLst>
            <pc:docMk/>
            <pc:sldMk cId="0" sldId="266"/>
            <ac:spMk id="21" creationId="{00000000-0000-0000-0000-000000000000}"/>
          </ac:spMkLst>
        </pc:spChg>
      </pc:sldChg>
      <pc:sldChg chg="addSp delSp modSp mod">
        <pc:chgData name="Muskan Shaikh" userId="6ed7a8d74177264d" providerId="LiveId" clId="{1528929A-6AFB-4239-876A-4B5E5FAFEDD7}" dt="2026-10-04T16:35:27.725" v="235" actId="1076"/>
        <pc:sldMkLst>
          <pc:docMk/>
          <pc:sldMk cId="0" sldId="267"/>
        </pc:sldMkLst>
        <pc:picChg chg="del mod">
          <ac:chgData name="Muskan Shaikh" userId="6ed7a8d74177264d" providerId="LiveId" clId="{1528929A-6AFB-4239-876A-4B5E5FAFEDD7}" dt="2026-10-04T16:35:23.997" v="234" actId="478"/>
          <ac:picMkLst>
            <pc:docMk/>
            <pc:sldMk cId="0" sldId="267"/>
            <ac:picMk id="12" creationId="{00000000-0000-0000-0000-000000000000}"/>
          </ac:picMkLst>
        </pc:picChg>
        <pc:picChg chg="add mod">
          <ac:chgData name="Muskan Shaikh" userId="6ed7a8d74177264d" providerId="LiveId" clId="{1528929A-6AFB-4239-876A-4B5E5FAFEDD7}" dt="2026-10-04T16:35:27.725" v="235" actId="1076"/>
          <ac:picMkLst>
            <pc:docMk/>
            <pc:sldMk cId="0" sldId="267"/>
            <ac:picMk id="14" creationId="{57F8992A-96D1-A430-0173-97E3D72B057A}"/>
          </ac:picMkLst>
        </pc:picChg>
      </pc:sldChg>
      <pc:sldChg chg="delSp modSp mod">
        <pc:chgData name="Muskan Shaikh" userId="6ed7a8d74177264d" providerId="LiveId" clId="{1528929A-6AFB-4239-876A-4B5E5FAFEDD7}" dt="2026-10-04T16:24:42.109" v="95" actId="1076"/>
        <pc:sldMkLst>
          <pc:docMk/>
          <pc:sldMk cId="0" sldId="268"/>
        </pc:sldMkLst>
        <pc:spChg chg="del mod">
          <ac:chgData name="Muskan Shaikh" userId="6ed7a8d74177264d" providerId="LiveId" clId="{1528929A-6AFB-4239-876A-4B5E5FAFEDD7}" dt="2026-10-04T16:24:38.894" v="94"/>
          <ac:spMkLst>
            <pc:docMk/>
            <pc:sldMk cId="0" sldId="268"/>
            <ac:spMk id="11" creationId="{00000000-0000-0000-0000-000000000000}"/>
          </ac:spMkLst>
        </pc:spChg>
        <pc:picChg chg="mod">
          <ac:chgData name="Muskan Shaikh" userId="6ed7a8d74177264d" providerId="LiveId" clId="{1528929A-6AFB-4239-876A-4B5E5FAFEDD7}" dt="2026-10-04T16:24:42.109" v="95" actId="1076"/>
          <ac:picMkLst>
            <pc:docMk/>
            <pc:sldMk cId="0" sldId="268"/>
            <ac:picMk id="12" creationId="{00000000-0000-0000-0000-000000000000}"/>
          </ac:picMkLst>
        </pc:picChg>
      </pc:sldChg>
      <pc:sldChg chg="delSp modSp mod">
        <pc:chgData name="Muskan Shaikh" userId="6ed7a8d74177264d" providerId="LiveId" clId="{1528929A-6AFB-4239-876A-4B5E5FAFEDD7}" dt="2026-10-04T16:26:54.504" v="134" actId="1076"/>
        <pc:sldMkLst>
          <pc:docMk/>
          <pc:sldMk cId="0" sldId="269"/>
        </pc:sldMkLst>
        <pc:spChg chg="mod">
          <ac:chgData name="Muskan Shaikh" userId="6ed7a8d74177264d" providerId="LiveId" clId="{1528929A-6AFB-4239-876A-4B5E5FAFEDD7}" dt="2026-10-04T16:26:54.504" v="134" actId="1076"/>
          <ac:spMkLst>
            <pc:docMk/>
            <pc:sldMk cId="0" sldId="269"/>
            <ac:spMk id="10" creationId="{00000000-0000-0000-0000-000000000000}"/>
          </ac:spMkLst>
        </pc:spChg>
        <pc:spChg chg="del mod">
          <ac:chgData name="Muskan Shaikh" userId="6ed7a8d74177264d" providerId="LiveId" clId="{1528929A-6AFB-4239-876A-4B5E5FAFEDD7}" dt="2026-10-04T16:26:38.969" v="130"/>
          <ac:spMkLst>
            <pc:docMk/>
            <pc:sldMk cId="0" sldId="269"/>
            <ac:spMk id="11" creationId="{00000000-0000-0000-0000-000000000000}"/>
          </ac:spMkLst>
        </pc:spChg>
        <pc:spChg chg="mod">
          <ac:chgData name="Muskan Shaikh" userId="6ed7a8d74177264d" providerId="LiveId" clId="{1528929A-6AFB-4239-876A-4B5E5FAFEDD7}" dt="2026-10-04T16:26:30.087" v="127" actId="255"/>
          <ac:spMkLst>
            <pc:docMk/>
            <pc:sldMk cId="0" sldId="269"/>
            <ac:spMk id="13" creationId="{00000000-0000-0000-0000-000000000000}"/>
          </ac:spMkLst>
        </pc:spChg>
        <pc:spChg chg="mod">
          <ac:chgData name="Muskan Shaikh" userId="6ed7a8d74177264d" providerId="LiveId" clId="{1528929A-6AFB-4239-876A-4B5E5FAFEDD7}" dt="2026-10-04T16:26:25.853" v="126" actId="255"/>
          <ac:spMkLst>
            <pc:docMk/>
            <pc:sldMk cId="0" sldId="269"/>
            <ac:spMk id="15" creationId="{00000000-0000-0000-0000-000000000000}"/>
          </ac:spMkLst>
        </pc:spChg>
        <pc:spChg chg="mod">
          <ac:chgData name="Muskan Shaikh" userId="6ed7a8d74177264d" providerId="LiveId" clId="{1528929A-6AFB-4239-876A-4B5E5FAFEDD7}" dt="2026-10-04T16:26:16.983" v="124" actId="255"/>
          <ac:spMkLst>
            <pc:docMk/>
            <pc:sldMk cId="0" sldId="269"/>
            <ac:spMk id="17" creationId="{00000000-0000-0000-0000-000000000000}"/>
          </ac:spMkLst>
        </pc:spChg>
      </pc:sldChg>
      <pc:sldChg chg="modSp mod">
        <pc:chgData name="Muskan Shaikh" userId="6ed7a8d74177264d" providerId="LiveId" clId="{1528929A-6AFB-4239-876A-4B5E5FAFEDD7}" dt="2026-10-04T16:27:32.222" v="138" actId="1076"/>
        <pc:sldMkLst>
          <pc:docMk/>
          <pc:sldMk cId="0" sldId="270"/>
        </pc:sldMkLst>
        <pc:spChg chg="mod">
          <ac:chgData name="Muskan Shaikh" userId="6ed7a8d74177264d" providerId="LiveId" clId="{1528929A-6AFB-4239-876A-4B5E5FAFEDD7}" dt="2026-10-04T16:27:32.222" v="138" actId="1076"/>
          <ac:spMkLst>
            <pc:docMk/>
            <pc:sldMk cId="0" sldId="270"/>
            <ac:spMk id="10" creationId="{00000000-0000-0000-0000-000000000000}"/>
          </ac:spMkLst>
        </pc:spChg>
        <pc:picChg chg="mod">
          <ac:chgData name="Muskan Shaikh" userId="6ed7a8d74177264d" providerId="LiveId" clId="{1528929A-6AFB-4239-876A-4B5E5FAFEDD7}" dt="2026-10-04T16:27:22.043" v="136" actId="1076"/>
          <ac:picMkLst>
            <pc:docMk/>
            <pc:sldMk cId="0" sldId="270"/>
            <ac:picMk id="12" creationId="{00000000-0000-0000-0000-000000000000}"/>
          </ac:picMkLst>
        </pc:picChg>
      </pc:sldChg>
      <pc:sldChg chg="modSp mod">
        <pc:chgData name="Muskan Shaikh" userId="6ed7a8d74177264d" providerId="LiveId" clId="{1528929A-6AFB-4239-876A-4B5E5FAFEDD7}" dt="2026-10-04T16:27:59.551" v="144" actId="1076"/>
        <pc:sldMkLst>
          <pc:docMk/>
          <pc:sldMk cId="0" sldId="271"/>
        </pc:sldMkLst>
        <pc:spChg chg="mod">
          <ac:chgData name="Muskan Shaikh" userId="6ed7a8d74177264d" providerId="LiveId" clId="{1528929A-6AFB-4239-876A-4B5E5FAFEDD7}" dt="2026-10-04T16:27:43.426" v="140" actId="1076"/>
          <ac:spMkLst>
            <pc:docMk/>
            <pc:sldMk cId="0" sldId="271"/>
            <ac:spMk id="10" creationId="{00000000-0000-0000-0000-000000000000}"/>
          </ac:spMkLst>
        </pc:spChg>
        <pc:spChg chg="mod">
          <ac:chgData name="Muskan Shaikh" userId="6ed7a8d74177264d" providerId="LiveId" clId="{1528929A-6AFB-4239-876A-4B5E5FAFEDD7}" dt="2026-10-04T16:27:59.551" v="144" actId="1076"/>
          <ac:spMkLst>
            <pc:docMk/>
            <pc:sldMk cId="0" sldId="271"/>
            <ac:spMk id="13" creationId="{00000000-0000-0000-0000-000000000000}"/>
          </ac:spMkLst>
        </pc:spChg>
        <pc:picChg chg="mod">
          <ac:chgData name="Muskan Shaikh" userId="6ed7a8d74177264d" providerId="LiveId" clId="{1528929A-6AFB-4239-876A-4B5E5FAFEDD7}" dt="2026-10-04T16:27:56.565" v="143" actId="1076"/>
          <ac:picMkLst>
            <pc:docMk/>
            <pc:sldMk cId="0" sldId="271"/>
            <ac:picMk id="12" creationId="{00000000-0000-0000-0000-000000000000}"/>
          </ac:picMkLst>
        </pc:picChg>
      </pc:sldChg>
      <pc:sldChg chg="modSp mod">
        <pc:chgData name="Muskan Shaikh" userId="6ed7a8d74177264d" providerId="LiveId" clId="{1528929A-6AFB-4239-876A-4B5E5FAFEDD7}" dt="2026-10-04T16:28:16.985" v="149" actId="167"/>
        <pc:sldMkLst>
          <pc:docMk/>
          <pc:sldMk cId="0" sldId="272"/>
        </pc:sldMkLst>
        <pc:spChg chg="mod">
          <ac:chgData name="Muskan Shaikh" userId="6ed7a8d74177264d" providerId="LiveId" clId="{1528929A-6AFB-4239-876A-4B5E5FAFEDD7}" dt="2026-10-04T16:28:05.168" v="145" actId="1076"/>
          <ac:spMkLst>
            <pc:docMk/>
            <pc:sldMk cId="0" sldId="272"/>
            <ac:spMk id="13" creationId="{00000000-0000-0000-0000-000000000000}"/>
          </ac:spMkLst>
        </pc:spChg>
        <pc:picChg chg="mod ord">
          <ac:chgData name="Muskan Shaikh" userId="6ed7a8d74177264d" providerId="LiveId" clId="{1528929A-6AFB-4239-876A-4B5E5FAFEDD7}" dt="2026-10-04T16:28:16.985" v="149" actId="167"/>
          <ac:picMkLst>
            <pc:docMk/>
            <pc:sldMk cId="0" sldId="272"/>
            <ac:picMk id="12" creationId="{00000000-0000-0000-0000-000000000000}"/>
          </ac:picMkLst>
        </pc:picChg>
      </pc:sldChg>
      <pc:sldChg chg="addSp delSp modSp mod">
        <pc:chgData name="Muskan Shaikh" userId="6ed7a8d74177264d" providerId="LiveId" clId="{1528929A-6AFB-4239-876A-4B5E5FAFEDD7}" dt="2026-10-04T16:30:31.127" v="183" actId="1076"/>
        <pc:sldMkLst>
          <pc:docMk/>
          <pc:sldMk cId="0" sldId="274"/>
        </pc:sldMkLst>
        <pc:spChg chg="mod">
          <ac:chgData name="Muskan Shaikh" userId="6ed7a8d74177264d" providerId="LiveId" clId="{1528929A-6AFB-4239-876A-4B5E5FAFEDD7}" dt="2026-10-04T16:29:40.320" v="163" actId="1076"/>
          <ac:spMkLst>
            <pc:docMk/>
            <pc:sldMk cId="0" sldId="274"/>
            <ac:spMk id="11" creationId="{00000000-0000-0000-0000-000000000000}"/>
          </ac:spMkLst>
        </pc:spChg>
        <pc:picChg chg="add del">
          <ac:chgData name="Muskan Shaikh" userId="6ed7a8d74177264d" providerId="LiveId" clId="{1528929A-6AFB-4239-876A-4B5E5FAFEDD7}" dt="2026-10-04T16:29:43.555" v="167" actId="478"/>
          <ac:picMkLst>
            <pc:docMk/>
            <pc:sldMk cId="0" sldId="274"/>
            <ac:picMk id="12" creationId="{00000000-0000-0000-0000-000000000000}"/>
          </ac:picMkLst>
        </pc:picChg>
        <pc:picChg chg="add del mod">
          <ac:chgData name="Muskan Shaikh" userId="6ed7a8d74177264d" providerId="LiveId" clId="{1528929A-6AFB-4239-876A-4B5E5FAFEDD7}" dt="2026-10-04T16:30:31.127" v="183" actId="1076"/>
          <ac:picMkLst>
            <pc:docMk/>
            <pc:sldMk cId="0" sldId="274"/>
            <ac:picMk id="14" creationId="{FF7893B8-2B12-C1F6-0822-A51A643A3781}"/>
          </ac:picMkLst>
        </pc:picChg>
        <pc:picChg chg="add del mod">
          <ac:chgData name="Muskan Shaikh" userId="6ed7a8d74177264d" providerId="LiveId" clId="{1528929A-6AFB-4239-876A-4B5E5FAFEDD7}" dt="2026-10-04T16:30:13.478" v="175" actId="21"/>
          <ac:picMkLst>
            <pc:docMk/>
            <pc:sldMk cId="0" sldId="274"/>
            <ac:picMk id="16" creationId="{EEAC04CF-60B2-84B4-42A2-20F49F915E55}"/>
          </ac:picMkLst>
        </pc:picChg>
      </pc:sldChg>
      <pc:sldChg chg="delSp modSp mod">
        <pc:chgData name="Muskan Shaikh" userId="6ed7a8d74177264d" providerId="LiveId" clId="{1528929A-6AFB-4239-876A-4B5E5FAFEDD7}" dt="2026-10-04T16:31:40.783" v="203"/>
        <pc:sldMkLst>
          <pc:docMk/>
          <pc:sldMk cId="0" sldId="275"/>
        </pc:sldMkLst>
        <pc:spChg chg="mod">
          <ac:chgData name="Muskan Shaikh" userId="6ed7a8d74177264d" providerId="LiveId" clId="{1528929A-6AFB-4239-876A-4B5E5FAFEDD7}" dt="2026-10-04T16:31:16.449" v="190" actId="1076"/>
          <ac:spMkLst>
            <pc:docMk/>
            <pc:sldMk cId="0" sldId="275"/>
            <ac:spMk id="10" creationId="{00000000-0000-0000-0000-000000000000}"/>
          </ac:spMkLst>
        </pc:spChg>
        <pc:spChg chg="del mod">
          <ac:chgData name="Muskan Shaikh" userId="6ed7a8d74177264d" providerId="LiveId" clId="{1528929A-6AFB-4239-876A-4B5E5FAFEDD7}" dt="2026-10-04T16:31:40.783" v="203"/>
          <ac:spMkLst>
            <pc:docMk/>
            <pc:sldMk cId="0" sldId="275"/>
            <ac:spMk id="11" creationId="{00000000-0000-0000-0000-000000000000}"/>
          </ac:spMkLst>
        </pc:spChg>
        <pc:spChg chg="mod">
          <ac:chgData name="Muskan Shaikh" userId="6ed7a8d74177264d" providerId="LiveId" clId="{1528929A-6AFB-4239-876A-4B5E5FAFEDD7}" dt="2026-10-04T16:31:32.814" v="197" actId="1076"/>
          <ac:spMkLst>
            <pc:docMk/>
            <pc:sldMk cId="0" sldId="275"/>
            <ac:spMk id="15" creationId="{00000000-0000-0000-0000-000000000000}"/>
          </ac:spMkLst>
        </pc:spChg>
        <pc:picChg chg="mod">
          <ac:chgData name="Muskan Shaikh" userId="6ed7a8d74177264d" providerId="LiveId" clId="{1528929A-6AFB-4239-876A-4B5E5FAFEDD7}" dt="2026-10-04T16:31:27.991" v="196" actId="14100"/>
          <ac:picMkLst>
            <pc:docMk/>
            <pc:sldMk cId="0" sldId="275"/>
            <ac:picMk id="12" creationId="{00000000-0000-0000-0000-000000000000}"/>
          </ac:picMkLst>
        </pc:picChg>
        <pc:picChg chg="mod">
          <ac:chgData name="Muskan Shaikh" userId="6ed7a8d74177264d" providerId="LiveId" clId="{1528929A-6AFB-4239-876A-4B5E5FAFEDD7}" dt="2026-10-04T16:31:37.181" v="200" actId="1076"/>
          <ac:picMkLst>
            <pc:docMk/>
            <pc:sldMk cId="0" sldId="275"/>
            <ac:picMk id="13" creationId="{00000000-0000-0000-0000-000000000000}"/>
          </ac:picMkLst>
        </pc:picChg>
        <pc:picChg chg="mod">
          <ac:chgData name="Muskan Shaikh" userId="6ed7a8d74177264d" providerId="LiveId" clId="{1528929A-6AFB-4239-876A-4B5E5FAFEDD7}" dt="2026-10-04T16:31:39.222" v="201" actId="14100"/>
          <ac:picMkLst>
            <pc:docMk/>
            <pc:sldMk cId="0" sldId="275"/>
            <ac:picMk id="14" creationId="{00000000-0000-0000-0000-000000000000}"/>
          </ac:picMkLst>
        </pc:picChg>
      </pc:sldChg>
      <pc:sldChg chg="del">
        <pc:chgData name="Muskan Shaikh" userId="6ed7a8d74177264d" providerId="LiveId" clId="{1528929A-6AFB-4239-876A-4B5E5FAFEDD7}" dt="2026-10-04T16:31:52.717" v="204" actId="47"/>
        <pc:sldMkLst>
          <pc:docMk/>
          <pc:sldMk cId="0" sldId="277"/>
        </pc:sldMkLst>
      </pc:sldChg>
      <pc:sldChg chg="addSp modSp new mod">
        <pc:chgData name="Muskan Shaikh" userId="6ed7a8d74177264d" providerId="LiveId" clId="{1528929A-6AFB-4239-876A-4B5E5FAFEDD7}" dt="2026-10-04T16:30:21.273" v="179" actId="1076"/>
        <pc:sldMkLst>
          <pc:docMk/>
          <pc:sldMk cId="2803577854" sldId="278"/>
        </pc:sldMkLst>
        <pc:spChg chg="mod">
          <ac:chgData name="Muskan Shaikh" userId="6ed7a8d74177264d" providerId="LiveId" clId="{1528929A-6AFB-4239-876A-4B5E5FAFEDD7}" dt="2026-10-04T16:30:08.762" v="174"/>
          <ac:spMkLst>
            <pc:docMk/>
            <pc:sldMk cId="2803577854" sldId="278"/>
            <ac:spMk id="3" creationId="{406049E9-A246-B953-0B76-BCF28FF34A0E}"/>
          </ac:spMkLst>
        </pc:spChg>
        <pc:spChg chg="mod">
          <ac:chgData name="Muskan Shaikh" userId="6ed7a8d74177264d" providerId="LiveId" clId="{1528929A-6AFB-4239-876A-4B5E5FAFEDD7}" dt="2026-10-04T16:30:08.762" v="174"/>
          <ac:spMkLst>
            <pc:docMk/>
            <pc:sldMk cId="2803577854" sldId="278"/>
            <ac:spMk id="5" creationId="{10F6F4A1-FE76-A1D7-C1CF-95501F12A54C}"/>
          </ac:spMkLst>
        </pc:spChg>
        <pc:spChg chg="mod">
          <ac:chgData name="Muskan Shaikh" userId="6ed7a8d74177264d" providerId="LiveId" clId="{1528929A-6AFB-4239-876A-4B5E5FAFEDD7}" dt="2026-10-04T16:30:08.762" v="174"/>
          <ac:spMkLst>
            <pc:docMk/>
            <pc:sldMk cId="2803577854" sldId="278"/>
            <ac:spMk id="7" creationId="{ED82EEC0-87C6-319A-DBA1-80F21CC2F910}"/>
          </ac:spMkLst>
        </pc:spChg>
        <pc:spChg chg="mod">
          <ac:chgData name="Muskan Shaikh" userId="6ed7a8d74177264d" providerId="LiveId" clId="{1528929A-6AFB-4239-876A-4B5E5FAFEDD7}" dt="2026-10-04T16:30:08.762" v="174"/>
          <ac:spMkLst>
            <pc:docMk/>
            <pc:sldMk cId="2803577854" sldId="278"/>
            <ac:spMk id="9" creationId="{D3A38E7B-8A81-B63E-D8FF-DE9680F0D84B}"/>
          </ac:spMkLst>
        </pc:spChg>
        <pc:grpChg chg="add mod">
          <ac:chgData name="Muskan Shaikh" userId="6ed7a8d74177264d" providerId="LiveId" clId="{1528929A-6AFB-4239-876A-4B5E5FAFEDD7}" dt="2026-10-04T16:30:08.762" v="174"/>
          <ac:grpSpMkLst>
            <pc:docMk/>
            <pc:sldMk cId="2803577854" sldId="278"/>
            <ac:grpSpMk id="2" creationId="{1BAF0718-7042-6994-BDCD-F8E0628AEE9C}"/>
          </ac:grpSpMkLst>
        </pc:grpChg>
        <pc:grpChg chg="add mod">
          <ac:chgData name="Muskan Shaikh" userId="6ed7a8d74177264d" providerId="LiveId" clId="{1528929A-6AFB-4239-876A-4B5E5FAFEDD7}" dt="2026-10-04T16:30:08.762" v="174"/>
          <ac:grpSpMkLst>
            <pc:docMk/>
            <pc:sldMk cId="2803577854" sldId="278"/>
            <ac:grpSpMk id="4" creationId="{A8D0621C-3E75-8EBB-7E13-54E5D8B13E89}"/>
          </ac:grpSpMkLst>
        </pc:grpChg>
        <pc:grpChg chg="add mod">
          <ac:chgData name="Muskan Shaikh" userId="6ed7a8d74177264d" providerId="LiveId" clId="{1528929A-6AFB-4239-876A-4B5E5FAFEDD7}" dt="2026-10-04T16:30:08.762" v="174"/>
          <ac:grpSpMkLst>
            <pc:docMk/>
            <pc:sldMk cId="2803577854" sldId="278"/>
            <ac:grpSpMk id="6" creationId="{065902DD-EEBB-7A46-2997-3E2F1B01773F}"/>
          </ac:grpSpMkLst>
        </pc:grpChg>
        <pc:grpChg chg="add mod">
          <ac:chgData name="Muskan Shaikh" userId="6ed7a8d74177264d" providerId="LiveId" clId="{1528929A-6AFB-4239-876A-4B5E5FAFEDD7}" dt="2026-10-04T16:30:08.762" v="174"/>
          <ac:grpSpMkLst>
            <pc:docMk/>
            <pc:sldMk cId="2803577854" sldId="278"/>
            <ac:grpSpMk id="8" creationId="{4DF10B92-2D5D-78FF-2474-39655D7DBD1A}"/>
          </ac:grpSpMkLst>
        </pc:grpChg>
        <pc:picChg chg="add mod">
          <ac:chgData name="Muskan Shaikh" userId="6ed7a8d74177264d" providerId="LiveId" clId="{1528929A-6AFB-4239-876A-4B5E5FAFEDD7}" dt="2026-10-04T16:30:21.273" v="179" actId="1076"/>
          <ac:picMkLst>
            <pc:docMk/>
            <pc:sldMk cId="2803577854" sldId="278"/>
            <ac:picMk id="11" creationId="{9D7F6786-9798-FBD7-744D-2429610A6223}"/>
          </ac:picMkLst>
        </pc:picChg>
      </pc:sldChg>
      <pc:sldChg chg="addSp delSp modSp new del mod">
        <pc:chgData name="Muskan Shaikh" userId="6ed7a8d74177264d" providerId="LiveId" clId="{1528929A-6AFB-4239-876A-4B5E5FAFEDD7}" dt="2026-10-04T16:35:30.025" v="236" actId="47"/>
        <pc:sldMkLst>
          <pc:docMk/>
          <pc:sldMk cId="527622478" sldId="279"/>
        </pc:sldMkLst>
        <pc:spChg chg="mod">
          <ac:chgData name="Muskan Shaikh" userId="6ed7a8d74177264d" providerId="LiveId" clId="{1528929A-6AFB-4239-876A-4B5E5FAFEDD7}" dt="2026-10-04T16:34:55.386" v="229"/>
          <ac:spMkLst>
            <pc:docMk/>
            <pc:sldMk cId="527622478" sldId="279"/>
            <ac:spMk id="5" creationId="{8BF4B748-9DC7-FFCD-CA0A-2ACAB2BDDB99}"/>
          </ac:spMkLst>
        </pc:spChg>
        <pc:spChg chg="mod">
          <ac:chgData name="Muskan Shaikh" userId="6ed7a8d74177264d" providerId="LiveId" clId="{1528929A-6AFB-4239-876A-4B5E5FAFEDD7}" dt="2026-10-04T16:34:55.386" v="229"/>
          <ac:spMkLst>
            <pc:docMk/>
            <pc:sldMk cId="527622478" sldId="279"/>
            <ac:spMk id="7" creationId="{A3373B07-8295-695D-E46E-9067510A2442}"/>
          </ac:spMkLst>
        </pc:spChg>
        <pc:spChg chg="mod">
          <ac:chgData name="Muskan Shaikh" userId="6ed7a8d74177264d" providerId="LiveId" clId="{1528929A-6AFB-4239-876A-4B5E5FAFEDD7}" dt="2026-10-04T16:34:55.386" v="229"/>
          <ac:spMkLst>
            <pc:docMk/>
            <pc:sldMk cId="527622478" sldId="279"/>
            <ac:spMk id="9" creationId="{382C7C72-C8B3-066B-6ABF-FE7D6864AB3F}"/>
          </ac:spMkLst>
        </pc:spChg>
        <pc:spChg chg="mod">
          <ac:chgData name="Muskan Shaikh" userId="6ed7a8d74177264d" providerId="LiveId" clId="{1528929A-6AFB-4239-876A-4B5E5FAFEDD7}" dt="2026-10-04T16:34:55.386" v="229"/>
          <ac:spMkLst>
            <pc:docMk/>
            <pc:sldMk cId="527622478" sldId="279"/>
            <ac:spMk id="11" creationId="{5BC618AA-DC00-E8F0-8700-3466B2C4D621}"/>
          </ac:spMkLst>
        </pc:spChg>
        <pc:grpChg chg="add mod">
          <ac:chgData name="Muskan Shaikh" userId="6ed7a8d74177264d" providerId="LiveId" clId="{1528929A-6AFB-4239-876A-4B5E5FAFEDD7}" dt="2026-10-04T16:34:55.386" v="229"/>
          <ac:grpSpMkLst>
            <pc:docMk/>
            <pc:sldMk cId="527622478" sldId="279"/>
            <ac:grpSpMk id="4" creationId="{03A0C76E-3E63-AEBA-F599-CDDEE6E19150}"/>
          </ac:grpSpMkLst>
        </pc:grpChg>
        <pc:grpChg chg="add mod">
          <ac:chgData name="Muskan Shaikh" userId="6ed7a8d74177264d" providerId="LiveId" clId="{1528929A-6AFB-4239-876A-4B5E5FAFEDD7}" dt="2026-10-04T16:34:55.386" v="229"/>
          <ac:grpSpMkLst>
            <pc:docMk/>
            <pc:sldMk cId="527622478" sldId="279"/>
            <ac:grpSpMk id="6" creationId="{416A22F1-16F1-5F26-B2C6-036A5FFB3A8F}"/>
          </ac:grpSpMkLst>
        </pc:grpChg>
        <pc:grpChg chg="add mod">
          <ac:chgData name="Muskan Shaikh" userId="6ed7a8d74177264d" providerId="LiveId" clId="{1528929A-6AFB-4239-876A-4B5E5FAFEDD7}" dt="2026-10-04T16:34:55.386" v="229"/>
          <ac:grpSpMkLst>
            <pc:docMk/>
            <pc:sldMk cId="527622478" sldId="279"/>
            <ac:grpSpMk id="8" creationId="{AB0E1BF2-59B8-1130-733E-33A22FBFFA4C}"/>
          </ac:grpSpMkLst>
        </pc:grpChg>
        <pc:grpChg chg="add mod">
          <ac:chgData name="Muskan Shaikh" userId="6ed7a8d74177264d" providerId="LiveId" clId="{1528929A-6AFB-4239-876A-4B5E5FAFEDD7}" dt="2026-10-04T16:34:55.386" v="229"/>
          <ac:grpSpMkLst>
            <pc:docMk/>
            <pc:sldMk cId="527622478" sldId="279"/>
            <ac:grpSpMk id="10" creationId="{6F6848A7-B52B-E68E-6A1B-CC4DE11322E4}"/>
          </ac:grpSpMkLst>
        </pc:grpChg>
        <pc:picChg chg="add del mod">
          <ac:chgData name="Muskan Shaikh" userId="6ed7a8d74177264d" providerId="LiveId" clId="{1528929A-6AFB-4239-876A-4B5E5FAFEDD7}" dt="2026-10-04T16:35:14.713" v="231" actId="21"/>
          <ac:picMkLst>
            <pc:docMk/>
            <pc:sldMk cId="527622478" sldId="279"/>
            <ac:picMk id="3" creationId="{18B4BC8D-9BF8-3924-3C71-8628EE6CFC61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(20s)</a:t>
            </a:r>
          </a:p>
          <a:p/>
          <a:p>
            <a:r>
              <a:t>Good morning. We are building an emotion recognition layer for</a:t>
            </a:r>
          </a:p>
          <a:p>
            <a:r>
              <a:t>telemedicine - a system that watches a consultation and tells the</a:t>
            </a:r>
          </a:p>
          <a:p>
            <a:r>
              <a:t>clinician what the patient's face, voice and words suggest they are</a:t>
            </a:r>
          </a:p>
          <a:p>
            <a:r>
              <a:t>feeling, in real time.</a:t>
            </a:r>
          </a:p>
          <a:p/>
          <a:p>
            <a:r>
              <a:t>I am &lt;name&gt;, with Muskan, Yashraj and Ankita, mentored by Dr. Girishma</a:t>
            </a:r>
          </a:p>
          <a:p>
            <a:r>
              <a:t>Sharma.</a:t>
            </a:r>
          </a:p>
          <a:p/>
          <a:p>
            <a:r>
              <a:t>One framing note before I start. Since the last review we have gone from</a:t>
            </a:r>
          </a:p>
          <a:p>
            <a:r>
              <a:t>one modality to three, and the honest headline is that the fused system</a:t>
            </a:r>
          </a:p>
          <a:p>
            <a:r>
              <a:t>beats every single modality and is still not stable enough to put in</a:t>
            </a:r>
          </a:p>
          <a:p>
            <a:r>
              <a:t>front of a clinician. I will show you both halves of that, with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INTRODUCTION (45s)</a:t>
            </a:r>
          </a:p>
          <a:p/>
          <a:p>
            <a:r>
              <a:t>Emotion recognition is the computational identification of an emotional</a:t>
            </a:r>
          </a:p>
          <a:p>
            <a:r>
              <a:t>state from signals a person emits without being asked - the face, the</a:t>
            </a:r>
          </a:p>
          <a:p>
            <a:r>
              <a:t>voice, the words, and in some of the literature physiological channels</a:t>
            </a:r>
          </a:p>
          <a:p>
            <a:r>
              <a:t>like EEG.</a:t>
            </a:r>
          </a:p>
          <a:p/>
          <a:p>
            <a:r>
              <a:t>The field moved from rule-based coding of facial action units to deep</a:t>
            </a:r>
          </a:p>
          <a:p>
            <a:r>
              <a:t>learning, and the practical consequence is that a single model can now</a:t>
            </a:r>
          </a:p>
          <a:p>
            <a:r>
              <a:t>be handed raw pixels or raw audio instead of hand-designed features.</a:t>
            </a:r>
          </a:p>
          <a:p/>
          <a:p>
            <a:r>
              <a:t>What we are building is the healthcare application of that: a layer a</a:t>
            </a:r>
          </a:p>
          <a:p>
            <a:r>
              <a:t>telemedicine platform can add so the emotional state of a patient is</a:t>
            </a:r>
          </a:p>
          <a:p>
            <a:r>
              <a:t>visible alongside their clinical data, live, during the consultation.</a:t>
            </a:r>
          </a:p>
          <a:p/>
          <a:p>
            <a:r>
              <a:t>Keep one phrase in mind for later - "in real time" is the hard part, and</a:t>
            </a:r>
          </a:p>
          <a:p>
            <a:r>
              <a:t>it is where our remaining problem lives.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MOTIVATION (60s)</a:t>
            </a:r>
          </a:p>
          <a:p/>
          <a:p>
            <a:r>
              <a:t>Three beats here.</a:t>
            </a:r>
          </a:p>
          <a:p/>
          <a:p>
            <a:r>
              <a:t>The problem: telemedicine platforms carry clinical data and speech.</a:t>
            </a:r>
          </a:p>
          <a:p>
            <a:r>
              <a:t>They do not carry non-verbal signal. In a physical consultation a doctor</a:t>
            </a:r>
          </a:p>
          <a:p>
            <a:r>
              <a:t>reads posture, hesitation, a flattened voice - over a video call most of</a:t>
            </a:r>
          </a:p>
          <a:p>
            <a:r>
              <a:t>that is either lost or not attended to, because the clinician is looking</a:t>
            </a:r>
          </a:p>
          <a:p>
            <a:r>
              <a:t>at a chart.</a:t>
            </a:r>
          </a:p>
          <a:p/>
          <a:p>
            <a:r>
              <a:t>Why it matters: emotional state affects both diagnosis and whether the</a:t>
            </a:r>
          </a:p>
          <a:p>
            <a:r>
              <a:t>patient actually follows the treatment. And mental health deterioration</a:t>
            </a:r>
          </a:p>
          <a:p>
            <a:r>
              <a:t>in particular shows up in affect before it shows up in anything a</a:t>
            </a:r>
          </a:p>
          <a:p>
            <a:r>
              <a:t>patient volunteers.</a:t>
            </a:r>
          </a:p>
          <a:p/>
          <a:p>
            <a:r>
              <a:t>Our goal: a layer that is real-time, privacy-aware and - the word we</a:t>
            </a:r>
          </a:p>
          <a:p>
            <a:r>
              <a:t>care most about - validated. Plenty of published systems quote 90%+</a:t>
            </a:r>
          </a:p>
          <a:p>
            <a:r>
              <a:t>accuracy. Part of what we will show today is why those numbers usually</a:t>
            </a:r>
          </a:p>
          <a:p>
            <a:r>
              <a:t>do not survive contact with an unseen 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OBJECTIVES FOR THIS CYCLE (45s)</a:t>
            </a:r>
          </a:p>
          <a:p/>
          <a:p>
            <a:r>
              <a:t>Four, and I will tell you up front which ones we met.</a:t>
            </a:r>
          </a:p>
          <a:p/>
          <a:p>
            <a:r>
              <a:t>System integration - connect the finished frontend to the Python ML</a:t>
            </a:r>
          </a:p>
          <a:p>
            <a:r>
              <a:t>backend. Done; it is one WebSocket carrying all three modalities, and</a:t>
            </a:r>
          </a:p>
          <a:p>
            <a:r>
              <a:t>I will demo it.</a:t>
            </a:r>
          </a:p>
          <a:p/>
          <a:p>
            <a:r>
              <a:t>Establish the multimodal baseline - extract and fuse video, audio and</a:t>
            </a:r>
          </a:p>
          <a:p>
            <a:r>
              <a:t>text. Done, and measured end to end.</a:t>
            </a:r>
          </a:p>
          <a:p/>
          <a:p>
            <a:r>
              <a:t>Prove the multimodal approach beats single-modality. Done, but the</a:t>
            </a:r>
          </a:p>
          <a:p>
            <a:r>
              <a:t>margin is smaller than we expected, and the reason is interesting</a:t>
            </a:r>
          </a:p>
          <a:p>
            <a:r>
              <a:t>rather than embarrassing. Slide on it later.</a:t>
            </a:r>
          </a:p>
          <a:p/>
          <a:p>
            <a:r>
              <a:t>Finalise the web platform UI. Done - the therapist-facing portal works,</a:t>
            </a:r>
          </a:p>
          <a:p>
            <a:r>
              <a:t>and it shows not just the answer but which modality produced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METHODOLOGY - THE TRANSFORMER (45s)</a:t>
            </a:r>
          </a:p>
          <a:p/>
          <a:p>
            <a:r>
              <a:t>This is the architecture figure from "Attention Is All You Need" - the</a:t>
            </a:r>
          </a:p>
          <a:p>
            <a:r>
              <a:t>encoder-decoder transformer. Do not walk the whole diagram; the panel</a:t>
            </a:r>
          </a:p>
          <a:p>
            <a:r>
              <a:t>has seen it. Use it to make one point and move on:</a:t>
            </a:r>
          </a:p>
          <a:p/>
          <a:p>
            <a:r>
              <a:t>"All three of our encoders are transformers, and the reason is the</a:t>
            </a:r>
          </a:p>
          <a:p>
            <a:r>
              <a:t>block in the middle - multi-head attention. It lets every part of the</a:t>
            </a:r>
          </a:p>
          <a:p>
            <a:r>
              <a:t>input look at every other part in a single step. For a face that means</a:t>
            </a:r>
          </a:p>
          <a:p>
            <a:r>
              <a:t>the brow and the mouth are related directly rather than through layers</a:t>
            </a:r>
          </a:p>
          <a:p>
            <a:r>
              <a:t>of local filters. For speech it means a word can be interpreted against</a:t>
            </a:r>
          </a:p>
          <a:p>
            <a:r>
              <a:t>the tone of the sentence around it.</a:t>
            </a:r>
          </a:p>
          <a:p/>
          <a:p>
            <a:r>
              <a:t>We use the encoder half only. We are classifying, not generating, so</a:t>
            </a:r>
          </a:p>
          <a:p>
            <a:r>
              <a:t>there is no decoder stack in anything we ship."</a:t>
            </a:r>
          </a:p>
          <a:p/>
          <a:p>
            <a:r>
              <a:t>That last sentence pre-empts the obvious question about the right-hand</a:t>
            </a:r>
          </a:p>
          <a:p>
            <a:r>
              <a:t>column of the figure.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MODELS USED - THE COMPARISON TABLE (60s)</a:t>
            </a:r>
          </a:p>
          <a:p/>
          <a:p>
            <a:r>
              <a:t>This table is the encoder study from the earlier cycle: three candidate</a:t>
            </a:r>
          </a:p>
          <a:p>
            <a:r>
              <a:t>configurations across text, audio and video.</a:t>
            </a:r>
          </a:p>
          <a:p/>
          <a:p>
            <a:r>
              <a:t>  Baseline       BERT-base / MFCC-40 + CNN / ViT-Base</a:t>
            </a:r>
          </a:p>
          <a:p>
            <a:r>
              <a:t>  Combination A  MentalBERT / WavLM Base+ / DINOv2</a:t>
            </a:r>
          </a:p>
          <a:p>
            <a:r>
              <a:t>  Combination B  MiniLM-L6 / log-mel + MobileNetV3-S / EfficientNet-B0</a:t>
            </a:r>
          </a:p>
          <a:p/>
          <a:p>
            <a:r>
              <a:t>Read it as the three bets available: a conventional baseline, a</a:t>
            </a:r>
          </a:p>
          <a:p>
            <a:r>
              <a:t>"best-representation" option, and a "smallest viable" option.</a:t>
            </a:r>
          </a:p>
          <a:p/>
          <a:p>
            <a:r>
              <a:t>IMPORTANT - say this out loud rather than letting them find it:</a:t>
            </a:r>
          </a:p>
          <a:p/>
          <a:p>
            <a:r>
              <a:t>"This table is the study we did before building. The system we are</a:t>
            </a:r>
          </a:p>
          <a:p>
            <a:r>
              <a:t>demoing today is not Combination A exactly. One finding carried over -</a:t>
            </a:r>
          </a:p>
          <a:p>
            <a:r>
              <a:t>WavLM - and I will show you on slide 14 what we actually shipped in the</a:t>
            </a:r>
          </a:p>
          <a:p>
            <a:r>
              <a:t>other two slots and why. The numbers on the next slide belong to this</a:t>
            </a:r>
          </a:p>
          <a:p>
            <a:r>
              <a:t>earlier study, not to the system you are about to see measured."</a:t>
            </a:r>
          </a:p>
          <a:p/>
          <a:p>
            <a:r>
              <a:t>If you do not say that, a panel member who compares slide 7's fear F1 of</a:t>
            </a:r>
          </a:p>
          <a:p>
            <a:r>
              <a:t>0.96 with our measured audio results on slide 16 will think we are</a:t>
            </a:r>
          </a:p>
          <a:p>
            <a:r>
              <a:t>inflating. It is the single most dangerous inconsistency in the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COMBINATION A IS SUPERIOR (60s)</a:t>
            </a:r>
          </a:p>
          <a:p/>
          <a:p>
            <a:r>
              <a:t>Three reasons from the earlier study - take them in order, briefly.</a:t>
            </a:r>
          </a:p>
          <a:p/>
          <a:p>
            <a:r>
              <a:t>Domain-matched text: MentalBERT is pre-trained on mental-health</a:t>
            </a:r>
          </a:p>
          <a:p>
            <a:r>
              <a:t>language, so it represents clinical phrasing better than general BERT.</a:t>
            </a:r>
          </a:p>
          <a:p/>
          <a:p>
            <a:r>
              <a:t>Learned speech representation: WavLM instead of hand-crafted MFCC</a:t>
            </a:r>
          </a:p>
          <a:p>
            <a:r>
              <a:t>features. This is the finding that survived and is in the system today -</a:t>
            </a:r>
          </a:p>
          <a:p>
            <a:r>
              <a:t>a learned representation captures prosody that a fixed filterbank</a:t>
            </a:r>
          </a:p>
          <a:p>
            <a:r>
              <a:t>throws away.</a:t>
            </a:r>
          </a:p>
          <a:p/>
          <a:p>
            <a:r>
              <a:t>Strong visual representation: DINOv2, a self-supervised visual encoder.</a:t>
            </a:r>
          </a:p>
          <a:p>
            <a:r>
              <a:t>Note the honest caveat already written on the slide - its individual</a:t>
            </a:r>
          </a:p>
          <a:p>
            <a:r>
              <a:t>contribution was never isolated.</a:t>
            </a:r>
          </a:p>
          <a:p/>
          <a:p>
            <a:r>
              <a:t>THEN THE BRIDGE, and do not skip it:</a:t>
            </a:r>
          </a:p>
          <a:p/>
          <a:p>
            <a:r>
              <a:t>"Two of these three did not make it into the build. MentalBERT and</a:t>
            </a:r>
          </a:p>
          <a:p>
            <a:r>
              <a:t>DINOv2 are not in our codebase. Neither predicts our seven emotion</a:t>
            </a:r>
          </a:p>
          <a:p>
            <a:r>
              <a:t>classes directly, and both exceed the CPU budget we set for a</a:t>
            </a:r>
          </a:p>
          <a:p>
            <a:r>
              <a:t>deployment that has to run on one machine. What we built instead, and</a:t>
            </a:r>
          </a:p>
          <a:p>
            <a:r>
              <a:t>the measurements behind it, are on slide 14.</a:t>
            </a:r>
          </a:p>
          <a:p/>
          <a:p>
            <a:r>
              <a:t>So treat these F1 numbers as the earlier comparison's. Every figure</a:t>
            </a:r>
          </a:p>
          <a:p>
            <a:r>
              <a:t>after slide 12 is measured on our own splits and is reproducible from</a:t>
            </a:r>
          </a:p>
          <a:p>
            <a:r>
              <a:t>the repository."</a:t>
            </a:r>
          </a:p>
          <a:p/>
          <a:p>
            <a:r>
              <a:t>PREPARED ANSWER if asked "why is fear 0.96 here and much lower later?"</a:t>
            </a:r>
          </a:p>
          <a:p>
            <a:r>
              <a:t>Different data, different split policy, different model. Our later</a:t>
            </a:r>
          </a:p>
          <a:p>
            <a:r>
              <a:t>numbers use speaker-disjoint splits, which remove the actor-identity</a:t>
            </a:r>
          </a:p>
          <a:p>
            <a:r>
              <a:t>shortcut. That alone is worth 15 to 25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METHODOLOGY IN THREE STEPS (2 min - this is a core slide)</a:t>
            </a:r>
          </a:p>
          <a:p/>
          <a:p>
            <a:r>
              <a:t>Step one, read each signal. A Vision Transformer reads the face from</a:t>
            </a:r>
          </a:p>
          <a:p>
            <a:r>
              <a:t>the webcam. A WavLM speech encoder reads tone of voice. A compact BERT</a:t>
            </a:r>
          </a:p>
          <a:p>
            <a:r>
              <a:t>reads typed text. The important design decision is that each one is</a:t>
            </a:r>
          </a:p>
          <a:p>
            <a:r>
              <a:t>trained and evaluated completely independently, so a weak modality is</a:t>
            </a:r>
          </a:p>
          <a:p>
            <a:r>
              <a:t>visible before it ever reaches the fusion. Nothing is hidden by the</a:t>
            </a:r>
          </a:p>
          <a:p>
            <a:r>
              <a:t>averaging.</a:t>
            </a:r>
          </a:p>
          <a:p/>
          <a:p>
            <a:r>
              <a:t>Step two, speak one language. All three emit a probability over the</a:t>
            </a:r>
          </a:p>
          <a:p>
            <a:r>
              <a:t>SAME seven emotions, in the same order: angry, disgust, fear, happy,</a:t>
            </a:r>
          </a:p>
          <a:p>
            <a:r>
              <a:t>neutral, sad, surprise. That shared label space is what makes fusion</a:t>
            </a:r>
          </a:p>
          <a:p>
            <a:r>
              <a:t>arithmetic rather than translation - position four means happy in all</a:t>
            </a:r>
          </a:p>
          <a:p>
            <a:r>
              <a:t>three vectors. Getting the audio model to speak those seven directly</a:t>
            </a:r>
          </a:p>
          <a:p>
            <a:r>
              <a:t>took rebuilding its training corpus, which is slide 15.</a:t>
            </a:r>
          </a:p>
          <a:p/>
          <a:p>
            <a:r>
              <a:t>Step three, weigh and decide. A weighted logarithmic opinion pool - a</a:t>
            </a:r>
          </a:p>
          <a:p>
            <a:r>
              <a:t>geometric mean, not an average. Geometric because the modalities are</a:t>
            </a:r>
          </a:p>
          <a:p>
            <a:r>
              <a:t>roughly independent given the true emotion, so a class both find</a:t>
            </a:r>
          </a:p>
          <a:p>
            <a:r>
              <a:t>plausible should be reinforced and a class either rules out should be</a:t>
            </a:r>
          </a:p>
          <a:p>
            <a:r>
              <a:t>suppressed. An arithmetic average can never be more confident than its</a:t>
            </a:r>
          </a:p>
          <a:p>
            <a:r>
              <a:t>inputs; a product of experts can.</a:t>
            </a:r>
          </a:p>
          <a:p/>
          <a:p>
            <a:r>
              <a:t>And the weights are not fixed. They track how much THIS observation</a:t>
            </a:r>
          </a:p>
          <a:p>
            <a:r>
              <a:t>deserves trust: face crop quality, how recently the voice was heard,</a:t>
            </a:r>
          </a:p>
          <a:p>
            <a:r>
              <a:t>how long the typed message was.</a:t>
            </a:r>
          </a:p>
          <a:p/>
          <a:p>
            <a:r>
              <a:t>The numbers on the right: 52% face, 50% voice, 33% text measured alone</a:t>
            </a:r>
          </a:p>
          <a:p>
            <a:r>
              <a:t>on data they never trained on, 55.4% fused - plus 3.3 points over the</a:t>
            </a:r>
          </a:p>
          <a:p>
            <a:r>
              <a:t>best single modality.</a:t>
            </a:r>
          </a:p>
          <a:p/>
          <a:p>
            <a:r>
              <a:t>LIKELY QUESTION: "Only 55%?" Answer: seven-class cross-dataset, chance</a:t>
            </a:r>
          </a:p>
          <a:p>
            <a:r>
              <a:t>is 14.3%, and the published range for this exact setting is 40-55%. The</a:t>
            </a:r>
          </a:p>
          <a:p>
            <a:r>
              <a:t>90% numbers in the literature are same-dataset. I have a slide on why.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SYSTEM ARCHITECTURE (45s)</a:t>
            </a:r>
          </a:p>
          <a:p/>
          <a:p>
            <a:r>
              <a:t>Walk the diagram left to right once, then stop.</a:t>
            </a:r>
          </a:p>
          <a:p/>
          <a:p>
            <a:r>
              <a:t>Three independent encoders, one shared label space, one</a:t>
            </a:r>
          </a:p>
          <a:p>
            <a:r>
              <a:t>reliability-weighted pool. Note what is NOT here: there is no joint</a:t>
            </a:r>
          </a:p>
          <a:p>
            <a:r>
              <a:t>encoder, no cross-attention between modalities, no learned fusion</a:t>
            </a:r>
          </a:p>
          <a:p>
            <a:r>
              <a:t>layer. Every box can be deleted and the system still answers, with the</a:t>
            </a:r>
          </a:p>
          <a:p>
            <a:r>
              <a:t>remaining signals, and tells you it is doing so.</a:t>
            </a:r>
          </a:p>
          <a:p/>
          <a:p>
            <a:r>
              <a:t>That is a deliberate trade. We give up whatever a jointly trained model</a:t>
            </a:r>
          </a:p>
          <a:p>
            <a:r>
              <a:t>would gain, and in exchange we get a system that degrades predictably</a:t>
            </a:r>
          </a:p>
          <a:p>
            <a:r>
              <a:t>and can explain any individual decision - which for a clinical tool is</a:t>
            </a:r>
          </a:p>
          <a:p>
            <a:r>
              <a:t>the better side of the trade.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USER FLOW (45s)</a:t>
            </a:r>
          </a:p>
          <a:p/>
          <a:p>
            <a:r>
              <a:t>This is the therapist's path, not the model's.</a:t>
            </a:r>
          </a:p>
          <a:p/>
          <a:p>
            <a:r>
              <a:t>They open the portal, start or upload a consultation, and the system</a:t>
            </a:r>
          </a:p>
          <a:p>
            <a:r>
              <a:t>streams back a reading per frame with the weights that produced it.</a:t>
            </a:r>
          </a:p>
          <a:p>
            <a:r>
              <a:t>Nothing is stored that is not needed for the session.</a:t>
            </a:r>
          </a:p>
          <a:p/>
          <a:p>
            <a:r>
              <a:t>One thing to point at: the output is never just a label. It is a label,</a:t>
            </a:r>
          </a:p>
          <a:p>
            <a:r>
              <a:t>a confidence, three per-modality opinions, and a conflict flag. A</a:t>
            </a:r>
          </a:p>
          <a:p>
            <a:r>
              <a:t>clinician who cannot see why a system said "sad" will not use it twice.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TECHNOLOGY STACK (75s - new slide)</a:t>
            </a:r>
          </a:p>
          <a:p/>
          <a:p>
            <a:r>
              <a:t>Three columns: what trains it, what serves it, what shows it. Read the</a:t>
            </a:r>
          </a:p>
          <a:p>
            <a:r>
              <a:t>labels, not the whole card - the detail is there for the panel to scan.</a:t>
            </a:r>
          </a:p>
          <a:p/>
          <a:p>
            <a:r>
              <a:t>Train: PyTorch and HuggingFace Transformers for all three encoders, and</a:t>
            </a:r>
          </a:p>
          <a:p>
            <a:r>
              <a:t>the thing worth saying out loud is the last line - all of this trained</a:t>
            </a:r>
          </a:p>
          <a:p>
            <a:r>
              <a:t>on one RTX 4060. No cluster, no cloud credits.</a:t>
            </a:r>
          </a:p>
          <a:p/>
          <a:p>
            <a:r>
              <a:t>Serve: FastAPI and Uvicorn, and ONE WebSocket carrying video frames,</a:t>
            </a:r>
          </a:p>
          <a:p>
            <a:r>
              <a:t>sixteen-kilohertz audio and typed text on a single connection. The face</a:t>
            </a:r>
          </a:p>
          <a:p>
            <a:r>
              <a:t>model runs through ONNX Runtime on the GPU and falls back to CPU by</a:t>
            </a:r>
          </a:p>
          <a:p>
            <a:r>
              <a:t>itself. The fusion is about forty lines of NumPy - and every constant in</a:t>
            </a:r>
          </a:p>
          <a:p>
            <a:r>
              <a:t>it lives in a JSON file rather than in code, so a weight can be retuned</a:t>
            </a:r>
          </a:p>
          <a:p>
            <a:r>
              <a:t>and cited without a commit to the engine.</a:t>
            </a:r>
          </a:p>
          <a:p/>
          <a:p>
            <a:r>
              <a:t>Show: the client is one HTML file. No React, no build step. The detail I</a:t>
            </a:r>
          </a:p>
          <a:p>
            <a:r>
              <a:t>would point at is pacing - the browser only sends the next frame when</a:t>
            </a:r>
          </a:p>
          <a:p>
            <a:r>
              <a:t>the server acknowledges the last one, so a slow machine loses frame rate</a:t>
            </a:r>
          </a:p>
          <a:p>
            <a:r>
              <a:t>instead of building a queue of stale frames.</a:t>
            </a:r>
          </a:p>
          <a:p/>
          <a:p>
            <a:r>
              <a:t>The bottom line is the argument: a telemedicine deployment cannot assume</a:t>
            </a:r>
          </a:p>
          <a:p>
            <a:r>
              <a:t>a datacentre. Everything degrades to CPU on one machine, and the</a:t>
            </a:r>
          </a:p>
          <a:p>
            <a:r>
              <a:t>heaviest piece - a 380 MB voice model - is opt-in, so a session that</a:t>
            </a:r>
          </a:p>
          <a:p>
            <a:r>
              <a:t>never uses the microphone never loads it.</a:t>
            </a:r>
          </a:p>
          <a:p/>
          <a:p>
            <a:r>
              <a:t>LIKELY QUESTION: "Why ONNX for one model and PyTorch for the others?"</a:t>
            </a:r>
          </a:p>
          <a:p>
            <a:r>
              <a:t>The face model runs thirty times a second; the other two about once a</a:t>
            </a:r>
          </a:p>
          <a:p>
            <a:r>
              <a:t>second. The ViT was worth exporting; the others were not, and keeping</a:t>
            </a:r>
          </a:p>
          <a:p>
            <a:r>
              <a:t>them in PyTorch means we can swap checkpoints without re-exporting.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THREE MODALITIES (75s)</a:t>
            </a:r>
          </a:p>
          <a:p/>
          <a:p>
            <a:r>
              <a:t>The argument is not "more signals are better". It is that these three</a:t>
            </a:r>
          </a:p>
          <a:p>
            <a:r>
              <a:t>fail in DIFFERENT situations.</a:t>
            </a:r>
          </a:p>
          <a:p/>
          <a:p>
            <a:r>
              <a:t>Face: always present, always current - and the weakest cross-dataset.</a:t>
            </a:r>
          </a:p>
          <a:p>
            <a:r>
              <a:t>74% on its own test split, 52% on faces it has never seen. That</a:t>
            </a:r>
          </a:p>
          <a:p>
            <a:r>
              <a:t>22-point drop is the single most important number in this deck. A still</a:t>
            </a:r>
          </a:p>
          <a:p>
            <a:r>
              <a:t>face is also genuinely ambiguous; humans disagree about it too.</a:t>
            </a:r>
          </a:p>
          <a:p/>
          <a:p>
            <a:r>
              <a:t>Voice: carries intensity the face hides. A flat expression with a sharp</a:t>
            </a:r>
          </a:p>
          <a:p>
            <a:r>
              <a:t>voice is still distress. 69% on clear acted speech, 36% in a noisy</a:t>
            </a:r>
          </a:p>
          <a:p>
            <a:r>
              <a:t>room, and nothing at all when nobody is talking.</a:t>
            </a:r>
          </a:p>
          <a:p/>
          <a:p>
            <a:r>
              <a:t>Text: the most explicit signal when it exists - someone typing "I can't</a:t>
            </a:r>
          </a:p>
          <a:p>
            <a:r>
              <a:t>cope" is not ambiguous - but it arrives in bursts and goes stale. A</a:t>
            </a:r>
          </a:p>
          <a:p>
            <a:r>
              <a:t>message from two minutes ago says very little about right now, which is</a:t>
            </a:r>
          </a:p>
          <a:p>
            <a:r>
              <a:t>why text evidence decays with a thirty-second half-life.</a:t>
            </a:r>
          </a:p>
          <a:p/>
          <a:p>
            <a:r>
              <a:t>The consequence: because the three fail independently, the pool can</a:t>
            </a:r>
          </a:p>
          <a:p>
            <a:r>
              <a:t>recover when one is wrong. And because each carries a confidence, the</a:t>
            </a:r>
          </a:p>
          <a:p>
            <a:r>
              <a:t>fusion knows when to stop trusting it rather than being switched off by</a:t>
            </a:r>
          </a:p>
          <a:p>
            <a:r>
              <a:t>hand.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MEET THE THREE ENCODERS (2 min - new slide; this is the "explain it"</a:t>
            </a:r>
          </a:p>
          <a:p>
            <a:r>
              <a:t>slide, so take your time and use the analogies)</a:t>
            </a:r>
          </a:p>
          <a:p/>
          <a:p>
            <a:r>
              <a:t>Each card is the same three questions: what is it, why does it suit</a:t>
            </a:r>
          </a:p>
          <a:p>
            <a:r>
              <a:t>this signal, what does it cost us.</a:t>
            </a:r>
          </a:p>
          <a:p/>
          <a:p>
            <a:r>
              <a:t>THE FACE - ViT-Base/16. A Vision Transformer cuts the image into a grid</a:t>
            </a:r>
          </a:p>
          <a:p>
            <a:r>
              <a:t>of sixteen-by-sixteen pixel patches, treats each patch like a word in a</a:t>
            </a:r>
          </a:p>
          <a:p>
            <a:r>
              <a:t>sentence, and lets every patch attend to every other patch at once.</a:t>
            </a:r>
          </a:p>
          <a:p/>
          <a:p>
            <a:r>
              <a:t>Why that suits a face: the difference between angry and sad is not in</a:t>
            </a:r>
          </a:p>
          <a:p>
            <a:r>
              <a:t>the brow alone or the mouth alone - it is in how they move TOGETHER. A</a:t>
            </a:r>
          </a:p>
          <a:p>
            <a:r>
              <a:t>transformer relates two distant regions in a single step. A convolution</a:t>
            </a:r>
          </a:p>
          <a:p>
            <a:r>
              <a:t>with a small kernel has to stack layer on layer before the brow and the</a:t>
            </a:r>
          </a:p>
          <a:p>
            <a:r>
              <a:t>mouth are even in the same receptive field.</a:t>
            </a:r>
          </a:p>
          <a:p/>
          <a:p>
            <a:r>
              <a:t>Cost: 86 million parameters, exported to ONNX, 6.6 milliseconds a frame.</a:t>
            </a:r>
          </a:p>
          <a:p/>
          <a:p>
            <a:r>
              <a:t>THE VOICE - WavLM-base-plus. This is the one worth slowing down on,</a:t>
            </a:r>
          </a:p>
          <a:p>
            <a:r>
              <a:t>because the interesting part is how it was trained BEFORE we touched</a:t>
            </a:r>
          </a:p>
          <a:p>
            <a:r>
              <a:t>it. Microsoft trained it on roughly ninety-four thousand hours of</a:t>
            </a:r>
          </a:p>
          <a:p>
            <a:r>
              <a:t>unlabelled speech by masking out pieces of the audio and asking the</a:t>
            </a:r>
          </a:p>
          <a:p>
            <a:r>
              <a:t>model to reconstruct what was missing. No emotion labels at all at that</a:t>
            </a:r>
          </a:p>
          <a:p>
            <a:r>
              <a:t>stage - it is learning what human speech is like.</a:t>
            </a:r>
          </a:p>
          <a:p/>
          <a:p>
            <a:r>
              <a:t>Why that matters to us: by the time we fine-tune it, it already knows</a:t>
            </a:r>
          </a:p>
          <a:p>
            <a:r>
              <a:t>what voices do - pitch movement, timing, hesitation, vocal strain. Our</a:t>
            </a:r>
          </a:p>
          <a:p>
            <a:r>
              <a:t>labelled dataset is 4,179 clips. You cannot learn "what speech sounds</a:t>
            </a:r>
          </a:p>
          <a:p>
            <a:r>
              <a:t>like" from four thousand clips. You can only learn to map something you</a:t>
            </a:r>
          </a:p>
          <a:p>
            <a:r>
              <a:t>already understand onto seven labels, which is exactly what fine-tuning</a:t>
            </a:r>
          </a:p>
          <a:p>
            <a:r>
              <a:t>does.</a:t>
            </a:r>
          </a:p>
          <a:p/>
          <a:p>
            <a:r>
              <a:t>Analogy if the panel wants one: it is the difference between teaching</a:t>
            </a:r>
          </a:p>
          <a:p>
            <a:r>
              <a:t>someone to read emotion in a language they already speak, versus</a:t>
            </a:r>
          </a:p>
          <a:p>
            <a:r>
              <a:t>teaching them the language and the emotion at the same time from four</a:t>
            </a:r>
          </a:p>
          <a:p>
            <a:r>
              <a:t>thousand sentences.</a:t>
            </a:r>
          </a:p>
          <a:p/>
          <a:p>
            <a:r>
              <a:t>Cost: 95 million parameters, 16 milliseconds for a four-second window,</a:t>
            </a:r>
          </a:p>
          <a:p>
            <a:r>
              <a:t>scored about once a second.</a:t>
            </a:r>
          </a:p>
          <a:p/>
          <a:p>
            <a:r>
              <a:t>THE WORDS - TinyBERT, four layers. Distillation: you take a full-size</a:t>
            </a:r>
          </a:p>
          <a:p>
            <a:r>
              <a:t>BERT, and you train a small four-layer student to reproduce the big</a:t>
            </a:r>
          </a:p>
          <a:p>
            <a:r>
              <a:t>model's answers rather than learning from the labels alone. The student</a:t>
            </a:r>
          </a:p>
          <a:p>
            <a:r>
              <a:t>inherits a lot of the teacher's behaviour at a fraction of the size -</a:t>
            </a:r>
          </a:p>
          <a:p>
            <a:r>
              <a:t>14.4 million parameters, about an eighth of BERT-base.</a:t>
            </a:r>
          </a:p>
          <a:p/>
          <a:p>
            <a:r>
              <a:t>Why that suits text here: text is the lightest of our three signals and</a:t>
            </a:r>
          </a:p>
          <a:p>
            <a:r>
              <a:t>must not take the compute budget. At 2.8 milliseconds a message, it runs</a:t>
            </a:r>
          </a:p>
          <a:p>
            <a:r>
              <a:t>on the CPU beside two other models without being noticed.</a:t>
            </a:r>
          </a:p>
          <a:p/>
          <a:p>
            <a:r>
              <a:t>Cost: we deploy the GoEmotions checkpoint specifically, because it</a:t>
            </a:r>
          </a:p>
          <a:p>
            <a:r>
              <a:t>predicts our seven classes directly.</a:t>
            </a:r>
          </a:p>
          <a:p/>
          <a:p>
            <a:r>
              <a:t>THE BOTTOM LINE - and this is the slide's real point: all three must</a:t>
            </a:r>
          </a:p>
          <a:p>
            <a:r>
              <a:t>output the same seven emotions in the same order, so fusing them is</a:t>
            </a:r>
          </a:p>
          <a:p>
            <a:r>
              <a:t>arithmetic rather than translation. That constraint, not accuracy, is</a:t>
            </a:r>
          </a:p>
          <a:p>
            <a:r>
              <a:t>what ruled several otherwise better models out - which is the next</a:t>
            </a:r>
          </a:p>
          <a:p>
            <a:r>
              <a:t>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THESE, NOT THE ALTERNATIVES (2 min - new slide)</a:t>
            </a:r>
          </a:p>
          <a:p/>
          <a:p>
            <a:r>
              <a:t>This table is the defence. Every row is: what we chose, what we measured</a:t>
            </a:r>
          </a:p>
          <a:p>
            <a:r>
              <a:t>it against, what the measurement said. Read the rows, do not read the</a:t>
            </a:r>
          </a:p>
          <a:p>
            <a:r>
              <a:t>cells word for word.</a:t>
            </a:r>
          </a:p>
          <a:p/>
          <a:p>
            <a:r>
              <a:t>FACE. We chose our v4 ViT checkpoint, and we measured it against three</a:t>
            </a:r>
          </a:p>
          <a:p>
            <a:r>
              <a:t>of our own attempts to beat it: balanced sampling, label cleaning, and</a:t>
            </a:r>
          </a:p>
          <a:p>
            <a:r>
              <a:t>an ensemble of two checkpoints. All three scored worse on unseen faces.</a:t>
            </a:r>
          </a:p>
          <a:p>
            <a:r>
              <a:t>The clearest case is label cleaning: removing 4,614 confidently</a:t>
            </a:r>
          </a:p>
          <a:p>
            <a:r>
              <a:t>mislabelled images raised validation accuracy from 77.5 to 81.1 percent,</a:t>
            </a:r>
          </a:p>
          <a:p>
            <a:r>
              <a:t>and dropped unseen-face accuracy from 52.3 to 48.0. What it removed was</a:t>
            </a:r>
          </a:p>
          <a:p>
            <a:r>
              <a:t>disproportionately the AMBIGUOUS examples, and those are what teach a</a:t>
            </a:r>
          </a:p>
          <a:p>
            <a:r>
              <a:t>model to generalise. The conclusion we draw is important: our binding</a:t>
            </a:r>
          </a:p>
          <a:p>
            <a:r>
              <a:t>constraint is the diversity of the face data, not the model. A bigger</a:t>
            </a:r>
          </a:p>
          <a:p>
            <a:r>
              <a:t>backbone does not fix this.</a:t>
            </a:r>
          </a:p>
          <a:p/>
          <a:p>
            <a:r>
              <a:t>VOICE. WavLM against this project's own MFCC-CNN - and we did not just</a:t>
            </a:r>
          </a:p>
          <a:p>
            <a:r>
              <a:t>cite a paper, we imported that architecture unchanged and retrained it</a:t>
            </a:r>
          </a:p>
          <a:p>
            <a:r>
              <a:t>on the identical speaker-disjoint split. Macro-F1 went from 0.322 to</a:t>
            </a:r>
          </a:p>
          <a:p>
            <a:r>
              <a:t>0.499. Because the data and splits are held constant, that 17.7-point</a:t>
            </a:r>
          </a:p>
          <a:p>
            <a:r>
              <a:t>gap is attributable to the model and nothing else.</a:t>
            </a:r>
          </a:p>
          <a:p/>
          <a:p>
            <a:r>
              <a:t>TEXT. TinyBERT against DistilBERT and MobileBERT on the same split:</a:t>
            </a:r>
          </a:p>
          <a:p>
            <a:r>
              <a:t>88.6 macro-F1 against 89.3 and 89.4. We give up 0.8 points of F1 and</a:t>
            </a:r>
          </a:p>
          <a:p>
            <a:r>
              <a:t>get 2.8 milliseconds instead of 10.6 and 16.9. For three models sharing</a:t>
            </a:r>
          </a:p>
          <a:p>
            <a:r>
              <a:t>a CPU, that is the right side of the trade. BERT-base and RoBERTa were</a:t>
            </a:r>
          </a:p>
          <a:p>
            <a:r>
              <a:t>excluded on budget, not on accuracy.</a:t>
            </a:r>
          </a:p>
          <a:p/>
          <a:p>
            <a:r>
              <a:t>TEXT HEAD. This row is the most instructive. We deploy the GoEmotions</a:t>
            </a:r>
          </a:p>
          <a:p>
            <a:r>
              <a:t>checkpoint even though the MTEB checkpoint scores higher - because MTEB</a:t>
            </a:r>
          </a:p>
          <a:p>
            <a:r>
              <a:t>has six classes and physically cannot say "neutral" or "disgust".</a:t>
            </a:r>
          </a:p>
          <a:p>
            <a:r>
              <a:t>Neutral is the most common state in a real consultation. A better score</a:t>
            </a:r>
          </a:p>
          <a:p>
            <a:r>
              <a:t>on a label set you cannot use is worth nothing.</a:t>
            </a:r>
          </a:p>
          <a:p/>
          <a:p>
            <a:r>
              <a:t>FUSION. A log opinion pool rather than a learned fusion head, because</a:t>
            </a:r>
          </a:p>
          <a:p>
            <a:r>
              <a:t>no trimodal corpus exists in our label space. A learned head would have</a:t>
            </a:r>
          </a:p>
          <a:p>
            <a:r>
              <a:t>to be fitted on simulated pairs, and it could not be audited.</a:t>
            </a:r>
          </a:p>
          <a:p/>
          <a:p>
            <a:r>
              <a:t>THEN THE FOOTER, deliberately: this is where slides 6 and 7 are</a:t>
            </a:r>
          </a:p>
          <a:p>
            <a:r>
              <a:t>reconciled. Say it plainly - "Combination A proposed MentalBERT, WavLM</a:t>
            </a:r>
          </a:p>
          <a:p>
            <a:r>
              <a:t>and DINOv2. WavLM survived. The other two are not in the codebase:</a:t>
            </a:r>
          </a:p>
          <a:p>
            <a:r>
              <a:t>neither predicts our seven classes directly and both exceed the CPU</a:t>
            </a:r>
          </a:p>
          <a:p>
            <a:r>
              <a:t>budget. The F1 figures on slide 7 belong to that earlier study, not to</a:t>
            </a:r>
          </a:p>
          <a:p>
            <a:r>
              <a:t>this system."</a:t>
            </a:r>
          </a:p>
          <a:p/>
          <a:p>
            <a:r>
              <a:t>Saying that yourself converts your weakest slide into evidence that you</a:t>
            </a:r>
          </a:p>
          <a:p>
            <a:r>
              <a:t>audit your own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REBUILDING THE AUDIO CORPUS (75s)</a:t>
            </a:r>
          </a:p>
          <a:p/>
          <a:p>
            <a:r>
              <a:t>This slide is about a problem we inherited and had to fix before any</a:t>
            </a:r>
          </a:p>
          <a:p>
            <a:r>
              <a:t>audio number meant anything.</a:t>
            </a:r>
          </a:p>
          <a:p/>
          <a:p>
            <a:r>
              <a:t>The earlier branch shipped an audio model that had never been trained -</a:t>
            </a:r>
          </a:p>
          <a:p>
            <a:r>
              <a:t>the notebook stopped before the training cell - on a corpus missing two</a:t>
            </a:r>
          </a:p>
          <a:p>
            <a:r>
              <a:t>of the seven emotions. No neutral and no disgust, and an 8.6-to-1</a:t>
            </a:r>
          </a:p>
          <a:p>
            <a:r>
              <a:t>imbalance on surprise. A model that cannot emit "neutral" will label</a:t>
            </a:r>
          </a:p>
          <a:p>
            <a:r>
              <a:t>silence as whatever its prior favours, on every single frame. Neutral is</a:t>
            </a:r>
          </a:p>
          <a:p>
            <a:r>
              <a:t>the resting state of a real consultation, so that is fatal, not</a:t>
            </a:r>
          </a:p>
          <a:p>
            <a:r>
              <a:t>cosmetic.</a:t>
            </a:r>
          </a:p>
          <a:p/>
          <a:p>
            <a:r>
              <a:t>So we rebuilt it from four corpora - CREMA-D, RAVDESS, SAVEE and MELD -</a:t>
            </a:r>
          </a:p>
          <a:p>
            <a:r>
              <a:t>about 23,000 clips covering all seven classes.</a:t>
            </a:r>
          </a:p>
          <a:p/>
          <a:p>
            <a:r>
              <a:t>The methodological point is the caption, and I want to dwell on it. We</a:t>
            </a:r>
          </a:p>
          <a:p>
            <a:r>
              <a:t>split by SPEAKER, not by clip. Every acted corpus has each actor perform</a:t>
            </a:r>
          </a:p>
          <a:p>
            <a:r>
              <a:t>every emotion on the same sentences. If you split randomly, the same</a:t>
            </a:r>
          </a:p>
          <a:p>
            <a:r>
              <a:t>actor's voice appears in train and test, and the model can score by</a:t>
            </a:r>
          </a:p>
          <a:p>
            <a:r>
              <a:t>recognising the voice rather than the emotion. That is worth fifteen to</a:t>
            </a:r>
          </a:p>
          <a:p>
            <a:r>
              <a:t>twenty-five points, and it is why a lot of published speech-emotion</a:t>
            </a:r>
          </a:p>
          <a:p>
            <a:r>
              <a:t>numbers look high. Our numbers are lower than the literature partly</a:t>
            </a:r>
          </a:p>
          <a:p>
            <a:r>
              <a:t>because of this choice, and we would make it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AUDIO RESULTS (75s)</a:t>
            </a:r>
          </a:p>
          <a:p/>
          <a:p>
            <a:r>
              <a:t>Speaker-disjoint test split, 4,179 clips, seven classes, so chance is</a:t>
            </a:r>
          </a:p>
          <a:p>
            <a:r>
              <a:t>14.3%.</a:t>
            </a:r>
          </a:p>
          <a:p/>
          <a:p>
            <a:r>
              <a:t>The baseline bar is the earlier branch's own MFCC CNN architecture,</a:t>
            </a:r>
          </a:p>
          <a:p>
            <a:r>
              <a:t>imported unchanged and retrained on the same rebuilt data. Same data,</a:t>
            </a:r>
          </a:p>
          <a:p>
            <a:r>
              <a:t>same splits - so the 17.7-point gap isolates the model from the</a:t>
            </a:r>
          </a:p>
          <a:p>
            <a:r>
              <a:t>dataset. 0.322 macro-F1 to 0.499.</a:t>
            </a:r>
          </a:p>
          <a:p/>
          <a:p>
            <a:r>
              <a:t>Now the part I would rather you hear from me than find in the appendix.</a:t>
            </a:r>
          </a:p>
          <a:p>
            <a:r>
              <a:t>The averaged number hides the real finding. Broken out by domain: 69.4%</a:t>
            </a:r>
          </a:p>
          <a:p>
            <a:r>
              <a:t>accuracy on acted studio speech, 35.6% on MELD - real dialogue from a TV</a:t>
            </a:r>
          </a:p>
          <a:p>
            <a:r>
              <a:t>show, with background noise and a laugh track. Studio speech works. A</a:t>
            </a:r>
          </a:p>
          <a:p>
            <a:r>
              <a:t>noisy room is still hard.</a:t>
            </a:r>
          </a:p>
          <a:p/>
          <a:p>
            <a:r>
              <a:t>And the fusion is told the harder number. The per-class reliabilities we</a:t>
            </a:r>
          </a:p>
          <a:p>
            <a:r>
              <a:t>feed the pool come from the wild domain, not the acted one, so the</a:t>
            </a:r>
          </a:p>
          <a:p>
            <a:r>
              <a:t>system does not over-trust the voice in exactly the conditions a real</a:t>
            </a:r>
          </a:p>
          <a:p>
            <a:r>
              <a:t>consultation resembles.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DOES FUSION ACTUALLY HELP? (90s)</a:t>
            </a:r>
          </a:p>
          <a:p/>
          <a:p>
            <a:r>
              <a:t>MELD test split, 2,523 clips that carry both audio and a transcript.</a:t>
            </a:r>
          </a:p>
          <a:p>
            <a:r>
              <a:t>Solid bars are accuracy, hatched are macro-F1.</a:t>
            </a:r>
          </a:p>
          <a:p/>
          <a:p>
            <a:r>
              <a:t>Yes, it helps: 55.4% fused against 52% for the best single modality -</a:t>
            </a:r>
          </a:p>
          <a:p>
            <a:r>
              <a:t>plus 3.3 points.</a:t>
            </a:r>
          </a:p>
          <a:p/>
          <a:p>
            <a:r>
              <a:t>Two honest qualifications, and I would rather state them than be asked.</a:t>
            </a:r>
          </a:p>
          <a:p/>
          <a:p>
            <a:r>
              <a:t>First, why these are real pairs. MELD ships a transcript per clip, so</a:t>
            </a:r>
          </a:p>
          <a:p>
            <a:r>
              <a:t>the audio and the text describe the same utterance from the same</a:t>
            </a:r>
          </a:p>
          <a:p>
            <a:r>
              <a:t>speaker. A lot of multimodal papers pair a face from one dataset with a</a:t>
            </a:r>
          </a:p>
          <a:p>
            <a:r>
              <a:t>voice from another at random, which manufactures independence that does</a:t>
            </a:r>
          </a:p>
          <a:p>
            <a:r>
              <a:t>not exist and inflates the fusion gain.</a:t>
            </a:r>
          </a:p>
          <a:p/>
          <a:p>
            <a:r>
              <a:t>Second - and this is why our gain is modest - on real data the</a:t>
            </a:r>
          </a:p>
          <a:p>
            <a:r>
              <a:t>modalities fail TOGETHER. A flat delivery tends to come with a flat</a:t>
            </a:r>
          </a:p>
          <a:p>
            <a:r>
              <a:t>sentence. Independently paired data cannot show you that, which is</a:t>
            </a:r>
          </a:p>
          <a:p>
            <a:r>
              <a:t>exactly why it overstates the benefit. Our +3.3 is a smaller number</a:t>
            </a:r>
          </a:p>
          <a:p>
            <a:r>
              <a:t>measured honestly.</a:t>
            </a:r>
          </a:p>
          <a:p/>
          <a:p>
            <a:r>
              <a:t>LIKELY QUESTION: "Is the face leg real in this measurement?" No, and it</a:t>
            </a:r>
          </a:p>
          <a:p>
            <a:r>
              <a:t>is flagged in multimodal.json - MELD has no usable face crops for our</a:t>
            </a:r>
          </a:p>
          <a:p>
            <a:r>
              <a:t>pipeline, so the face leg is simulated from the measured v4 confusion</a:t>
            </a:r>
          </a:p>
          <a:p>
            <a:r>
              <a:t>behaviour. The audio-text gain is fully real; the trimodal figure</a:t>
            </a:r>
          </a:p>
          <a:p>
            <a:r>
              <a:t>carries that caveat and we do not hide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SCORING THE MULTIMODALITY (60s)</a:t>
            </a:r>
          </a:p>
          <a:p/>
          <a:p>
            <a:r>
              <a:t>We wanted a single number we could argue about rather than a vague claim</a:t>
            </a:r>
          </a:p>
          <a:p>
            <a:r>
              <a:t>that the system works, so this is a composite of five components with</a:t>
            </a:r>
          </a:p>
          <a:p>
            <a:r>
              <a:t>stated weights.</a:t>
            </a:r>
          </a:p>
          <a:p/>
          <a:p>
            <a:r>
              <a:t>Capability, 0.633 at weight 0.35 - trimodal macro-F1 against a 0.70</a:t>
            </a:r>
          </a:p>
          <a:p>
            <a:r>
              <a:t>ceiling. Fusion gain, 0.222 at 0.25. Calibration, 0.376 at 0.15 - audio</a:t>
            </a:r>
          </a:p>
          <a:p>
            <a:r>
              <a:t>is the best-calibrated leg. Robustness, 0.609 at 0.15 - the worst</a:t>
            </a:r>
          </a:p>
          <a:p>
            <a:r>
              <a:t>two-modality result as a fraction of all three. Conflict discrimination,</a:t>
            </a:r>
          </a:p>
          <a:p>
            <a:r>
              <a:t>0.721 at 0.10 - 74.1% correct when the modalities agree against 52.5%</a:t>
            </a:r>
          </a:p>
          <a:p>
            <a:r>
              <a:t>when they clash.</a:t>
            </a:r>
          </a:p>
          <a:p/>
          <a:p>
            <a:r>
              <a:t>Total: 49.7 out of 100.</a:t>
            </a:r>
          </a:p>
          <a:p/>
          <a:p>
            <a:r>
              <a:t>Be explicit about what that is: this project's own summary of "is the</a:t>
            </a:r>
          </a:p>
          <a:p>
            <a:r>
              <a:t>pool worth having", not a standard metric. Every component, its raw</a:t>
            </a:r>
          </a:p>
          <a:p>
            <a:r>
              <a:t>value and its weight is written to results/multimodal.json, so anyone</a:t>
            </a:r>
          </a:p>
          <a:p>
            <a:r>
              <a:t>can change a weight and recompute. We publish it precisely because it is</a:t>
            </a:r>
          </a:p>
          <a:p>
            <a:r>
              <a:t>arguable.</a:t>
            </a:r>
          </a:p>
          <a:p/>
          <a:p>
            <a:r>
              <a:t>The component worth noticing is conflict discrimination. The gap between</a:t>
            </a:r>
          </a:p>
          <a:p>
            <a:r>
              <a:t>74% and 52.5% means the conflict flag is predictive - when the system</a:t>
            </a:r>
          </a:p>
          <a:p>
            <a:r>
              <a:t>says the modalities disagree, it is genuinely less reliable. That is a</a:t>
            </a:r>
          </a:p>
          <a:p>
            <a:r>
              <a:t>usable warning, not decoration.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LIVE SYSTEM (30s - set up the demo)</a:t>
            </a:r>
          </a:p>
          <a:p/>
          <a:p>
            <a:r>
              <a:t>This is running, not mocked. Face, voice and text fused in real time at</a:t>
            </a:r>
          </a:p>
          <a:p>
            <a:r>
              <a:t>32 frames a second on one laptop GPU, with the reasoning shown alongside</a:t>
            </a:r>
          </a:p>
          <a:p>
            <a:r>
              <a:t>the answer.</a:t>
            </a:r>
          </a:p>
          <a:p/>
          <a:p>
            <a:r>
              <a:t>If demoing live: smile, then type "i am furious" and let them watch the</a:t>
            </a:r>
          </a:p>
          <a:p>
            <a:r>
              <a:t>weights move. If not, the next two slides walk the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SCREENSHOT (20s)</a:t>
            </a:r>
          </a:p>
          <a:p/>
          <a:p>
            <a:r>
              <a:t>Give them a moment to take in the whole interface, then say:</a:t>
            </a:r>
          </a:p>
          <a:p/>
          <a:p>
            <a:r>
              <a:t>"Everything on this screen is produced per frame - the three modality</a:t>
            </a:r>
          </a:p>
          <a:p>
            <a:r>
              <a:t>readings, the weights, the fused answer and the conflict banner. The</a:t>
            </a:r>
          </a:p>
          <a:p>
            <a:r>
              <a:t>next slide pulls out the three parts that matter."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INSIDE THE INTERFACE (90s)</a:t>
            </a:r>
          </a:p>
          <a:p/>
          <a:p>
            <a:r>
              <a:t>Three things, and they are the design argument of the whole project.</a:t>
            </a:r>
          </a:p>
          <a:p/>
          <a:p>
            <a:r>
              <a:t>Three readings, nothing hidden. On this frame the face says happy, the</a:t>
            </a:r>
          </a:p>
          <a:p>
            <a:r>
              <a:t>voice says angry, the text says happy. A system that showed only a fused</a:t>
            </a:r>
          </a:p>
          <a:p>
            <a:r>
              <a:t>answer would have swallowed that disagreement.</a:t>
            </a:r>
          </a:p>
          <a:p/>
          <a:p>
            <a:r>
              <a:t>Weighted, not averaged. Face 10%, audio 26%, text 63% on this frame. The</a:t>
            </a:r>
          </a:p>
          <a:p>
            <a:r>
              <a:t>face crop was low quality - blurred, badly posed - so it lost influence</a:t>
            </a:r>
          </a:p>
          <a:p>
            <a:r>
              <a:t>automatically. Nobody switched it off; the quality term in the exponent</a:t>
            </a:r>
          </a:p>
          <a:p>
            <a:r>
              <a:t>did it. That is the mechanism from the methodology slide doing visible</a:t>
            </a:r>
          </a:p>
          <a:p>
            <a:r>
              <a:t>work.</a:t>
            </a:r>
          </a:p>
          <a:p/>
          <a:p>
            <a:r>
              <a:t>Disagreement surfaced. When the modalities conflict, the banner says so.</a:t>
            </a:r>
          </a:p>
          <a:p>
            <a:r>
              <a:t>And that flag is predictive, not cosmetic: accuracy drops from 74% to</a:t>
            </a:r>
          </a:p>
          <a:p>
            <a:r>
              <a:t>53% when it fires. So the right reading of a conflict banner is "ask the</a:t>
            </a:r>
          </a:p>
          <a:p>
            <a:r>
              <a:t>patient rather than trust the label".</a:t>
            </a:r>
          </a:p>
          <a:p/>
          <a:p>
            <a:r>
              <a:t>LIKELY QUESTION: "How do you detect conflict?" Two conditions together -</a:t>
            </a:r>
          </a:p>
          <a:p>
            <a:r>
              <a:t>the modalities' top choices differ AND their Bhattacharyya overlap is</a:t>
            </a:r>
          </a:p>
          <a:p>
            <a:r>
              <a:t>below 0.8. Either alone misfires: a low overlap with the same top choice</a:t>
            </a:r>
          </a:p>
          <a:p>
            <a:r>
              <a:t>is just differing confidence about one emotion, and differing top</a:t>
            </a:r>
          </a:p>
          <a:p>
            <a:r>
              <a:t>choices with high overlap is two near-uniform shrugs.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LABEL WILL NOT SIT STILL (2 min - the most important slide; do not</a:t>
            </a:r>
          </a:p>
          <a:p>
            <a:r>
              <a:t>skip it and do not let a panel member find it instead of you)</a:t>
            </a:r>
          </a:p>
          <a:p/>
          <a:p>
            <a:r>
              <a:t>Frame it before the content: "The system works. It is also not yet</a:t>
            </a:r>
          </a:p>
          <a:p>
            <a:r>
              <a:t>trustworthy in the way a clinical tool has to be, and I want to tell you</a:t>
            </a:r>
          </a:p>
          <a:p>
            <a:r>
              <a:t>exactly why rather than have you discover it in the demo."</a:t>
            </a:r>
          </a:p>
          <a:p/>
          <a:p>
            <a:r>
              <a:t>Each card is a number, what it means, and the consequence.</a:t>
            </a:r>
          </a:p>
          <a:p/>
          <a:p>
            <a:r>
              <a:t>ONE - the top-1 is nearly a tie. 52.3% over seven classes means the</a:t>
            </a:r>
          </a:p>
          <a:p>
            <a:r>
              <a:t>leading class and the runner-up are usually within a few points. Any</a:t>
            </a:r>
          </a:p>
          <a:p>
            <a:r>
              <a:t>change in crop, lighting or head pose re-orders them, so the answer</a:t>
            </a:r>
          </a:p>
          <a:p>
            <a:r>
              <a:t>moves while the face does not. The pairs that swap most are neutral</a:t>
            </a:r>
          </a:p>
          <a:p>
            <a:r>
              <a:t>against sad and angry against disgust - and disgust holds only 0.20 F1</a:t>
            </a:r>
          </a:p>
          <a:p>
            <a:r>
              <a:t>cross-dataset, barely better than a guess.</a:t>
            </a:r>
          </a:p>
          <a:p/>
          <a:p>
            <a:r>
              <a:t>TWO - the session prior is wrong. A webcam consultation is roughly 55%</a:t>
            </a:r>
          </a:p>
          <a:p>
            <a:r>
              <a:t>neutral, but the model is calibrated on a balanced set, and a model</a:t>
            </a:r>
          </a:p>
          <a:p>
            <a:r>
              <a:t>carries whatever prior it was calibrated under. Measured under a</a:t>
            </a:r>
          </a:p>
          <a:p>
            <a:r>
              <a:t>realistic prior it emits neutral on 27.5% of frames, sad at 2.2 times</a:t>
            </a:r>
          </a:p>
          <a:p>
            <a:r>
              <a:t>and surprise at 2.1 times their true rate. So nearly every spurious</a:t>
            </a:r>
          </a:p>
          <a:p>
            <a:r>
              <a:t>"surprise" flash a user sees is a neutral face leaking. Correcting the</a:t>
            </a:r>
          </a:p>
          <a:p>
            <a:r>
              <a:t>prior takes accuracy from 56.7% to 72.3% - and we ship the correction</a:t>
            </a:r>
          </a:p>
          <a:p>
            <a:r>
              <a:t>switched OFF, because turning it on would change what every number in</a:t>
            </a:r>
          </a:p>
          <a:p>
            <a:r>
              <a:t>our evaluation harness means. That is the right default for a research</a:t>
            </a:r>
          </a:p>
          <a:p>
            <a:r>
              <a:t>artefact and the wrong default for a product, and we know which one we</a:t>
            </a:r>
          </a:p>
          <a:p>
            <a:r>
              <a:t>are building next.</a:t>
            </a:r>
          </a:p>
          <a:p/>
          <a:p>
            <a:r>
              <a:t>THREE - only the face leg is smoothed. There is an exponential moving</a:t>
            </a:r>
          </a:p>
          <a:p>
            <a:r>
              <a:t>average with a 0.6-second time constant and a hysteresis margin inside</a:t>
            </a:r>
          </a:p>
          <a:p>
            <a:r>
              <a:t>the face pipeline. But the fusion engine is stateless by design, so the</a:t>
            </a:r>
          </a:p>
          <a:p>
            <a:r>
              <a:t>number on screen has no temporal filter at all. Worse, its weights move</a:t>
            </a:r>
          </a:p>
          <a:p>
            <a:r>
              <a:t>every frame as audio decays with an eight-second half-life and text with</a:t>
            </a:r>
          </a:p>
          <a:p>
            <a:r>
              <a:t>a thirty-second one - which means the displayed label can change with no</a:t>
            </a:r>
          </a:p>
          <a:p>
            <a:r>
              <a:t>new evidence whatsoever.</a:t>
            </a:r>
          </a:p>
          <a:p/>
          <a:p>
            <a:r>
              <a:t>Then the bottom line, said plainly: nothing in this deck measures this.</a:t>
            </a:r>
          </a:p>
          <a:p>
            <a:r>
              <a:t>Every figure we have shown is per-frame accuracy on still images. Not</a:t>
            </a:r>
          </a:p>
          <a:p>
            <a:r>
              <a:t>one metric describes how often the displayed label changes, which is the</a:t>
            </a:r>
          </a:p>
          <a:p>
            <a:r>
              <a:t>first thing a clinician would notice. That is why it is item one in the</a:t>
            </a:r>
          </a:p>
          <a:p>
            <a:r>
              <a:t>future scope.</a:t>
            </a:r>
          </a:p>
          <a:p/>
          <a:p>
            <a:r>
              <a:t>LIKELY QUESTION: "So is the accuracy real?" Yes - per-frame accuracy is</a:t>
            </a:r>
          </a:p>
          <a:p>
            <a:r>
              <a:t>exactly what we measured, honestly, on held-out data. Stability is a</a:t>
            </a:r>
          </a:p>
          <a:p>
            <a:r>
              <a:t>different property that we did not measure, and the fix is a decision</a:t>
            </a:r>
          </a:p>
          <a:p>
            <a:r>
              <a:t>rule, not a better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FUTURE SCOPE (2 min)</a:t>
            </a:r>
          </a:p>
          <a:p/>
          <a:p>
            <a:r>
              <a:t>Say the organising principle first: this is ordered, not listed. The</a:t>
            </a:r>
          </a:p>
          <a:p>
            <a:r>
              <a:t>instability has to be measured and closed before any clinical claim is</a:t>
            </a:r>
          </a:p>
          <a:p>
            <a:r>
              <a:t>worth making. Each card is a "do" and a "why" - read those two lines,</a:t>
            </a:r>
          </a:p>
          <a:p>
            <a:r>
              <a:t>not the whole card.</a:t>
            </a:r>
          </a:p>
          <a:p/>
          <a:p>
            <a:r>
              <a:t>NEXT - make the live output trustworthy.</a:t>
            </a:r>
          </a:p>
          <a:p/>
          <a:p>
            <a:r>
              <a:t>One, measure stability. Switches per minute, mean dwell time, and the</a:t>
            </a:r>
          </a:p>
          <a:p>
            <a:r>
              <a:t>entropy of the displayed sequence, over held-out video, beside accuracy.</a:t>
            </a:r>
          </a:p>
          <a:p>
            <a:r>
              <a:t>A model that is 52% accurate and steady is clinically usable; one that</a:t>
            </a:r>
          </a:p>
          <a:p>
            <a:r>
              <a:t>is 52% accurate and flickering is not - and today our metrics cannot</a:t>
            </a:r>
          </a:p>
          <a:p>
            <a:r>
              <a:t>tell those two apart. This is cheap, and it comes first.</a:t>
            </a:r>
          </a:p>
          <a:p/>
          <a:p>
            <a:r>
              <a:t>Two, smooth the decision rather than the leg. Move the EMA and</a:t>
            </a:r>
          </a:p>
          <a:p>
            <a:r>
              <a:t>hysteresis AFTER the pool instead of inside the face pipeline, then</a:t>
            </a:r>
          </a:p>
          <a:p>
            <a:r>
              <a:t>replace both with an explicit dwell-time model - a seven-state hidden</a:t>
            </a:r>
          </a:p>
          <a:p>
            <a:r>
              <a:t>Markov model decoded with Viterbi - so changing the reported emotion has</a:t>
            </a:r>
          </a:p>
          <a:p>
            <a:r>
              <a:t>to be paid for by evidence. And turn the prior correction on, reported</a:t>
            </a:r>
          </a:p>
          <a:p>
            <a:r>
              <a:t>as a serving rule so the evaluation numbers stay comparable.</a:t>
            </a:r>
          </a:p>
          <a:p/>
          <a:p>
            <a:r>
              <a:t>Three, report episodes, not frames. A clinician does not need 32 labels</a:t>
            </a:r>
          </a:p>
          <a:p>
            <a:r>
              <a:t>a second. Aggregate to intervals - "two minutes forty predominantly sad,</a:t>
            </a:r>
          </a:p>
          <a:p>
            <a:r>
              <a:t>two flagged conflicts" - with per-frame output available on request.</a:t>
            </a:r>
          </a:p>
          <a:p>
            <a:r>
              <a:t>That also gives us somewhere to put abstention: on a low-quality or</a:t>
            </a:r>
          </a:p>
          <a:p>
            <a:r>
              <a:t>conflicted stretch the honest output is "unknown", and right now we have</a:t>
            </a:r>
          </a:p>
          <a:p>
            <a:r>
              <a:t>no way to say it.</a:t>
            </a:r>
          </a:p>
          <a:p/>
          <a:p>
            <a:r>
              <a:t>THEN - what a clinical claim would require.</a:t>
            </a:r>
          </a:p>
          <a:p/>
          <a:p>
            <a:r>
              <a:t>Four, escape the data ceiling. Our three attempts to beat v4 all failed,</a:t>
            </a:r>
          </a:p>
          <a:p>
            <a:r>
              <a:t>which is evidence that the binding constraint is face diversity, not</a:t>
            </a:r>
          </a:p>
          <a:p>
            <a:r>
              <a:t>capacity. The levers left are the full AffectNet - about 287,000 images</a:t>
            </a:r>
          </a:p>
          <a:p>
            <a:r>
              <a:t>against the 27,823 public subset, which needs an authenticated licence -</a:t>
            </a:r>
          </a:p>
          <a:p>
            <a:r>
              <a:t>and a genuinely trimodal corpus like IEMOCAP or CMU-MOSEI, so fusion can</a:t>
            </a:r>
          </a:p>
          <a:p>
            <a:r>
              <a:t>be fitted and tested on real pairs instead of simulated ones.</a:t>
            </a:r>
          </a:p>
          <a:p/>
          <a:p>
            <a:r>
              <a:t>Five, validate clinically. Every number in this deck comes from acted</a:t>
            </a:r>
          </a:p>
          <a:p>
            <a:r>
              <a:t>corpora or TV dialogue. The phrase "emotionally intelligent</a:t>
            </a:r>
          </a:p>
          <a:p>
            <a:r>
              <a:t>telemedicine" is not earned until we have agreement against clinician</a:t>
            </a:r>
          </a:p>
          <a:p>
            <a:r>
              <a:t>ratings on real consultations, under ethics approval - with accuracy</a:t>
            </a:r>
          </a:p>
          <a:p>
            <a:r>
              <a:t>reported per skin tone, age and gender, because a face model carries</a:t>
            </a:r>
          </a:p>
          <a:p>
            <a:r>
              <a:t>that fairness risk by default and our training data is not balanced on</a:t>
            </a:r>
          </a:p>
          <a:p>
            <a:r>
              <a:t>any of those axes.</a:t>
            </a:r>
          </a:p>
          <a:p/>
          <a:p>
            <a:r>
              <a:t>Six, privacy by construction. Right now frames cross the wire as Base64</a:t>
            </a:r>
          </a:p>
          <a:p>
            <a:r>
              <a:t>JPEG, which for a medical consultation is the wrong default. Moving the</a:t>
            </a:r>
          </a:p>
          <a:p>
            <a:r>
              <a:t>face leg into the browser with ONNX Runtime Web keeps pixels on the</a:t>
            </a:r>
          </a:p>
          <a:p>
            <a:r>
              <a:t>device and sends only a seven-number probability vector. Federated</a:t>
            </a:r>
          </a:p>
          <a:p>
            <a:r>
              <a:t>fine-tuning is then the route to clinical data that cannot legally be</a:t>
            </a:r>
          </a:p>
          <a:p>
            <a:r>
              <a:t>centralised - which is reference nine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REFERENCES (15s)</a:t>
            </a:r>
          </a:p>
          <a:p/>
          <a:p>
            <a:r>
              <a:t>Do not read these. One sentence:</a:t>
            </a:r>
          </a:p>
          <a:p/>
          <a:p>
            <a:r>
              <a:t>"Ten papers; the ones that shaped the design are four and six on</a:t>
            </a:r>
          </a:p>
          <a:p>
            <a:r>
              <a:t>multimodal fusion, two on real clinical doctor-patient video, and nine</a:t>
            </a:r>
          </a:p>
          <a:p>
            <a:r>
              <a:t>on federated learning, which is where the privacy plan comes from."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(30s)</a:t>
            </a:r>
          </a:p>
          <a:p/>
          <a:p>
            <a:r>
              <a:t>Close on the honest version, not a boast:</a:t>
            </a:r>
          </a:p>
          <a:p/>
          <a:p>
            <a:r>
              <a:t>"Three transformers, one shared label space, one interpretable pool. The</a:t>
            </a:r>
          </a:p>
          <a:p>
            <a:r>
              <a:t>fused system beats every single modality by 3.3 points measured on real</a:t>
            </a:r>
          </a:p>
          <a:p>
            <a:r>
              <a:t>pairs with speaker-disjoint splits, and it tells you which signal drove</a:t>
            </a:r>
          </a:p>
          <a:p>
            <a:r>
              <a:t>each decision. It is also not yet stable enough for a clinician, we know</a:t>
            </a:r>
          </a:p>
          <a:p>
            <a:r>
              <a:t>precisely why, and fixing that is a decision rule rather than a new</a:t>
            </a:r>
          </a:p>
          <a:p>
            <a:r>
              <a:t>model.</a:t>
            </a:r>
          </a:p>
          <a:p/>
          <a:p>
            <a:r>
              <a:t>Thank you - happy to take questions."</a:t>
            </a:r>
          </a:p>
          <a:p/>
          <a:p>
            <a:r>
              <a:t>PREPARED ANSWERS:</a:t>
            </a:r>
          </a:p>
          <a:p>
            <a:r>
              <a:t>- "Why is accuracy so low?" Seven-class, cross-dataset, chance 14.3%,</a:t>
            </a:r>
          </a:p>
          <a:p>
            <a:r>
              <a:t>  published range 40-55%. Same-dataset numbers are not comparable, and</a:t>
            </a:r>
          </a:p>
          <a:p>
            <a:r>
              <a:t>  our own FER2013 split had 7.9% train-test image overlap which we found</a:t>
            </a:r>
          </a:p>
          <a:p>
            <a:r>
              <a:t>  and removed.</a:t>
            </a:r>
          </a:p>
          <a:p>
            <a:r>
              <a:t>- "Why not a single end-to-end multimodal model?" No trimodal corpus in</a:t>
            </a:r>
          </a:p>
          <a:p>
            <a:r>
              <a:t>  this label space, and we would lose the per-modality audit trail.</a:t>
            </a:r>
          </a:p>
          <a:p>
            <a:r>
              <a:t>- "Slide 7 says Combination A, but you built something else." Correct,</a:t>
            </a:r>
          </a:p>
          <a:p>
            <a:r>
              <a:t>  and slide 14 is the reconciliation. WavLM carried over; MentalBERT and</a:t>
            </a:r>
          </a:p>
          <a:p>
            <a:r>
              <a:t>  DINOv2 did not, on label space and CPU budget.</a:t>
            </a:r>
          </a:p>
          <a:p>
            <a:r>
              <a:t>- "What is the single biggest weakness?" Temporal stability, measured by</a:t>
            </a:r>
          </a:p>
          <a:p>
            <a:r>
              <a:t>  nothing today. Slide 22.</a:t>
            </a:r>
          </a:p>
          <a:p>
            <a:r>
              <a:t>- "What would you do with another month?" Items one to three of the</a:t>
            </a:r>
          </a:p>
          <a:p>
            <a:r>
              <a:t>  future scope, in that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jpeg"/><Relationship Id="rId5" Type="http://schemas.openxmlformats.org/officeDocument/2006/relationships/image" Target="../media/image4.png"/><Relationship Id="rId6" Type="http://schemas.openxmlformats.org/officeDocument/2006/relationships/image" Target="../media/image5.svg"/><Relationship Id="rId7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jpeg"/><Relationship Id="rId5" Type="http://schemas.openxmlformats.org/officeDocument/2006/relationships/image" Target="../media/image4.png"/><Relationship Id="rId6" Type="http://schemas.openxmlformats.org/officeDocument/2006/relationships/image" Target="../media/image6.svg"/><Relationship Id="rId7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jpeg"/><Relationship Id="rId5" Type="http://schemas.openxmlformats.org/officeDocument/2006/relationships/image" Target="../media/image4.png"/><Relationship Id="rId6" Type="http://schemas.openxmlformats.org/officeDocument/2006/relationships/image" Target="../media/image7.svg"/><Relationship Id="rId7" Type="http://schemas.openxmlformats.org/officeDocument/2006/relationships/image" Target="../media/image8.svg"/><Relationship Id="rId8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4.png"/><Relationship Id="rId4" Type="http://schemas.openxmlformats.org/officeDocument/2006/relationships/image" Target="../media/image3.jpe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png"/><Relationship Id="rId4" Type="http://schemas.openxmlformats.org/officeDocument/2006/relationships/image" Target="../media/image14.png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png"/><Relationship Id="rId4" Type="http://schemas.openxmlformats.org/officeDocument/2006/relationships/image" Target="../media/image15.png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png"/><Relationship Id="rId4" Type="http://schemas.openxmlformats.org/officeDocument/2006/relationships/image" Target="../media/image16.png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png"/><Relationship Id="rId4" Type="http://schemas.openxmlformats.org/officeDocument/2006/relationships/image" Target="../media/image17.png"/><Relationship Id="rId5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png"/><Relationship Id="rId4" Type="http://schemas.openxmlformats.org/officeDocument/2006/relationships/image" Target="../media/image18.png"/><Relationship Id="rId5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png"/><Relationship Id="rId4" Type="http://schemas.openxmlformats.org/officeDocument/2006/relationships/image" Target="../media/image19.png"/><Relationship Id="rId5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3.jpe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png"/><Relationship Id="rId4" Type="http://schemas.openxmlformats.org/officeDocument/2006/relationships/image" Target="../media/image21.jpeg"/><Relationship Id="rId5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png"/><Relationship Id="rId4" Type="http://schemas.openxmlformats.org/officeDocument/2006/relationships/image" Target="../media/image22.jpeg"/><Relationship Id="rId5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jpe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jpe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8888013" y="859470"/>
            <a:ext cx="578976" cy="18354998"/>
            <a:chOff x="0" y="0"/>
            <a:chExt cx="771968" cy="244733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71906" cy="24473281"/>
            </a:xfrm>
            <a:custGeom>
              <a:avLst/>
              <a:gdLst/>
              <a:ahLst/>
              <a:cxnLst/>
              <a:rect l="l" t="t" r="r" b="b"/>
              <a:pathLst>
                <a:path w="771906" h="24473281">
                  <a:moveTo>
                    <a:pt x="0" y="0"/>
                  </a:moveTo>
                  <a:lnTo>
                    <a:pt x="771906" y="0"/>
                  </a:lnTo>
                  <a:lnTo>
                    <a:pt x="771906" y="24473281"/>
                  </a:lnTo>
                  <a:lnTo>
                    <a:pt x="0" y="244732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494469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5400000">
            <a:off x="6867480" y="2631033"/>
            <a:ext cx="264614" cy="13999572"/>
            <a:chOff x="0" y="0"/>
            <a:chExt cx="352818" cy="1866609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52806" cy="18666079"/>
            </a:xfrm>
            <a:custGeom>
              <a:avLst/>
              <a:gdLst/>
              <a:ahLst/>
              <a:cxnLst/>
              <a:rect l="l" t="t" r="r" b="b"/>
              <a:pathLst>
                <a:path w="352806" h="18666079">
                  <a:moveTo>
                    <a:pt x="0" y="0"/>
                  </a:moveTo>
                  <a:lnTo>
                    <a:pt x="352806" y="0"/>
                  </a:lnTo>
                  <a:lnTo>
                    <a:pt x="352806" y="18666079"/>
                  </a:lnTo>
                  <a:lnTo>
                    <a:pt x="0" y="18666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340183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3798189" y="8819818"/>
            <a:ext cx="4868602" cy="1217151"/>
            <a:chOff x="0" y="0"/>
            <a:chExt cx="6491470" cy="1622868"/>
          </a:xfrm>
        </p:grpSpPr>
        <p:sp>
          <p:nvSpPr>
            <p:cNvPr id="7" name="Freeform 7" descr="A picture containing drawing  Description automatically generated"/>
            <p:cNvSpPr/>
            <p:nvPr/>
          </p:nvSpPr>
          <p:spPr>
            <a:xfrm>
              <a:off x="0" y="0"/>
              <a:ext cx="6491478" cy="1622806"/>
            </a:xfrm>
            <a:custGeom>
              <a:avLst/>
              <a:gdLst/>
              <a:ahLst/>
              <a:cxnLst/>
              <a:rect l="l" t="t" r="r" b="b"/>
              <a:pathLst>
                <a:path w="6491478" h="1622806">
                  <a:moveTo>
                    <a:pt x="0" y="0"/>
                  </a:moveTo>
                  <a:lnTo>
                    <a:pt x="6491478" y="0"/>
                  </a:lnTo>
                  <a:lnTo>
                    <a:pt x="6491478" y="1622806"/>
                  </a:lnTo>
                  <a:lnTo>
                    <a:pt x="0" y="16228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3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6902182" y="0"/>
            <a:ext cx="1452818" cy="968896"/>
            <a:chOff x="0" y="0"/>
            <a:chExt cx="1937090" cy="1291861"/>
          </a:xfrm>
        </p:grpSpPr>
        <p:sp>
          <p:nvSpPr>
            <p:cNvPr id="9" name="Freeform 9" descr="A close up of a sign  Description automatically generated"/>
            <p:cNvSpPr/>
            <p:nvPr/>
          </p:nvSpPr>
          <p:spPr>
            <a:xfrm>
              <a:off x="0" y="0"/>
              <a:ext cx="1937131" cy="1291884"/>
            </a:xfrm>
            <a:custGeom>
              <a:avLst/>
              <a:gdLst/>
              <a:ahLst/>
              <a:cxnLst/>
              <a:rect l="l" t="t" r="r" b="b"/>
              <a:pathLst>
                <a:path w="1937131" h="1291884">
                  <a:moveTo>
                    <a:pt x="0" y="0"/>
                  </a:moveTo>
                  <a:lnTo>
                    <a:pt x="1937131" y="0"/>
                  </a:lnTo>
                  <a:lnTo>
                    <a:pt x="1937131" y="1291884"/>
                  </a:lnTo>
                  <a:lnTo>
                    <a:pt x="0" y="12918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" t="-5884" b="-6094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13230608" y="9707593"/>
            <a:ext cx="3931950" cy="4658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469680" y="1603141"/>
            <a:ext cx="13415641" cy="1420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81"/>
              </a:lnSpc>
            </a:pPr>
            <a:r>
              <a:rPr lang="en-US" sz="4651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Telemedicine: An Emotion Recognition App for Remote Patient Assessment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434465" y="4503482"/>
            <a:ext cx="3419069" cy="4318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44"/>
              </a:lnSpc>
            </a:pPr>
            <a:r>
              <a:rPr lang="en-US" sz="262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Presented By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690085" y="5174066"/>
            <a:ext cx="4907831" cy="1581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9"/>
              </a:lnSpc>
              <a:spcBef>
                <a:spcPct val="0"/>
              </a:spcBef>
            </a:pPr>
            <a:r>
              <a:rPr lang="en-US" sz="25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Muskan Shaikh - 16010123208</a:t>
            </a:r>
          </a:p>
          <a:p>
            <a:pPr algn="ctr">
              <a:lnSpc>
                <a:spcPts val="3119"/>
              </a:lnSpc>
              <a:spcBef>
                <a:spcPct val="0"/>
              </a:spcBef>
            </a:pPr>
            <a:r>
              <a:rPr lang="en-US" sz="25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Piyush Chaudhary - 16010123234  </a:t>
            </a:r>
          </a:p>
          <a:p>
            <a:pPr algn="ctr">
              <a:lnSpc>
                <a:spcPts val="3119"/>
              </a:lnSpc>
              <a:spcBef>
                <a:spcPct val="0"/>
              </a:spcBef>
            </a:pPr>
            <a:r>
              <a:rPr lang="en-US" sz="25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Yashraj Ola - 16010123337 </a:t>
            </a:r>
          </a:p>
          <a:p>
            <a:pPr algn="ctr">
              <a:lnSpc>
                <a:spcPts val="3119"/>
              </a:lnSpc>
              <a:spcBef>
                <a:spcPct val="0"/>
              </a:spcBef>
            </a:pPr>
            <a:r>
              <a:rPr lang="en-US" sz="25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Ankita Kundu - 16010123046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257858" y="6993341"/>
            <a:ext cx="1839285" cy="409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44"/>
              </a:lnSpc>
            </a:pPr>
            <a:r>
              <a:rPr lang="en-US" sz="262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Mentored by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578383" y="7590914"/>
            <a:ext cx="3198236" cy="409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44"/>
              </a:lnSpc>
            </a:pPr>
            <a:r>
              <a:rPr lang="en-US" sz="262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Dr. Girishma Sharma </a:t>
            </a:r>
          </a:p>
        </p:txBody>
      </p:sp>
      <p:sp>
        <p:nvSpPr>
          <p:cNvPr id="16" name="Freeform 16"/>
          <p:cNvSpPr/>
          <p:nvPr/>
        </p:nvSpPr>
        <p:spPr>
          <a:xfrm>
            <a:off x="2" y="812538"/>
            <a:ext cx="8760479" cy="8661923"/>
          </a:xfrm>
          <a:custGeom>
            <a:avLst/>
            <a:gdLst/>
            <a:ahLst/>
            <a:cxnLst/>
            <a:rect l="l" t="t" r="r" b="b"/>
            <a:pathLst>
              <a:path w="8760479" h="8661923">
                <a:moveTo>
                  <a:pt x="0" y="0"/>
                </a:moveTo>
                <a:lnTo>
                  <a:pt x="8760479" y="0"/>
                </a:lnTo>
                <a:lnTo>
                  <a:pt x="8760479" y="8661924"/>
                </a:lnTo>
                <a:lnTo>
                  <a:pt x="0" y="86619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8888013" y="859470"/>
            <a:ext cx="578976" cy="18354998"/>
            <a:chOff x="0" y="0"/>
            <a:chExt cx="771968" cy="244733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71906" cy="24473281"/>
            </a:xfrm>
            <a:custGeom>
              <a:avLst/>
              <a:gdLst/>
              <a:ahLst/>
              <a:cxnLst/>
              <a:rect l="l" t="t" r="r" b="b"/>
              <a:pathLst>
                <a:path w="771906" h="24473281">
                  <a:moveTo>
                    <a:pt x="0" y="0"/>
                  </a:moveTo>
                  <a:lnTo>
                    <a:pt x="771906" y="0"/>
                  </a:lnTo>
                  <a:lnTo>
                    <a:pt x="771906" y="24473281"/>
                  </a:lnTo>
                  <a:lnTo>
                    <a:pt x="0" y="244732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494469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5400000">
            <a:off x="6867480" y="2631033"/>
            <a:ext cx="264614" cy="13999572"/>
            <a:chOff x="0" y="0"/>
            <a:chExt cx="352818" cy="1866609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52806" cy="18666079"/>
            </a:xfrm>
            <a:custGeom>
              <a:avLst/>
              <a:gdLst/>
              <a:ahLst/>
              <a:cxnLst/>
              <a:rect l="l" t="t" r="r" b="b"/>
              <a:pathLst>
                <a:path w="352806" h="18666079">
                  <a:moveTo>
                    <a:pt x="0" y="0"/>
                  </a:moveTo>
                  <a:lnTo>
                    <a:pt x="352806" y="0"/>
                  </a:lnTo>
                  <a:lnTo>
                    <a:pt x="352806" y="18666079"/>
                  </a:lnTo>
                  <a:lnTo>
                    <a:pt x="0" y="18666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340183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3798189" y="8819818"/>
            <a:ext cx="4868602" cy="1217151"/>
            <a:chOff x="0" y="0"/>
            <a:chExt cx="6491470" cy="1622868"/>
          </a:xfrm>
        </p:grpSpPr>
        <p:sp>
          <p:nvSpPr>
            <p:cNvPr id="7" name="Freeform 7" descr="A picture containing drawing  Description automatically generated"/>
            <p:cNvSpPr/>
            <p:nvPr/>
          </p:nvSpPr>
          <p:spPr>
            <a:xfrm>
              <a:off x="0" y="0"/>
              <a:ext cx="6491478" cy="1622806"/>
            </a:xfrm>
            <a:custGeom>
              <a:avLst/>
              <a:gdLst/>
              <a:ahLst/>
              <a:cxnLst/>
              <a:rect l="l" t="t" r="r" b="b"/>
              <a:pathLst>
                <a:path w="6491478" h="1622806">
                  <a:moveTo>
                    <a:pt x="0" y="0"/>
                  </a:moveTo>
                  <a:lnTo>
                    <a:pt x="6491478" y="0"/>
                  </a:lnTo>
                  <a:lnTo>
                    <a:pt x="6491478" y="1622806"/>
                  </a:lnTo>
                  <a:lnTo>
                    <a:pt x="0" y="16228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3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6902182" y="0"/>
            <a:ext cx="1452818" cy="968896"/>
            <a:chOff x="0" y="0"/>
            <a:chExt cx="1937090" cy="1291861"/>
          </a:xfrm>
        </p:grpSpPr>
        <p:sp>
          <p:nvSpPr>
            <p:cNvPr id="9" name="Freeform 9" descr="A close up of a sign  Description automatically generated"/>
            <p:cNvSpPr/>
            <p:nvPr/>
          </p:nvSpPr>
          <p:spPr>
            <a:xfrm>
              <a:off x="0" y="0"/>
              <a:ext cx="1937131" cy="1291884"/>
            </a:xfrm>
            <a:custGeom>
              <a:avLst/>
              <a:gdLst/>
              <a:ahLst/>
              <a:cxnLst/>
              <a:rect l="l" t="t" r="r" b="b"/>
              <a:pathLst>
                <a:path w="1937131" h="1291884">
                  <a:moveTo>
                    <a:pt x="0" y="0"/>
                  </a:moveTo>
                  <a:lnTo>
                    <a:pt x="1937131" y="0"/>
                  </a:lnTo>
                  <a:lnTo>
                    <a:pt x="1937131" y="1291884"/>
                  </a:lnTo>
                  <a:lnTo>
                    <a:pt x="0" y="12918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" t="-5884" b="-6094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849964" y="2685794"/>
            <a:ext cx="14901314" cy="23433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19"/>
              </a:lnSpc>
              <a:spcBef>
                <a:spcPct val="0"/>
              </a:spcBef>
            </a:pPr>
            <a:r>
              <a:rPr lang="en-US" sz="3099" b="1">
                <a:solidFill>
                  <a:srgbClr val="000000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What is Emotion Recognition?</a:t>
            </a:r>
          </a:p>
          <a:p>
            <a:pPr marL="669283" lvl="1" indent="-334641" algn="l">
              <a:lnSpc>
                <a:spcPts val="3719"/>
              </a:lnSpc>
              <a:spcBef>
                <a:spcPct val="0"/>
              </a:spcBef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Computational identification of human emotional states using AI</a:t>
            </a:r>
          </a:p>
          <a:p>
            <a:pPr marL="669283" lvl="1" indent="-334641" algn="l">
              <a:lnSpc>
                <a:spcPts val="3719"/>
              </a:lnSpc>
              <a:spcBef>
                <a:spcPct val="0"/>
              </a:spcBef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Analyzes facial expressions, speech, text &amp; physiological signals</a:t>
            </a:r>
          </a:p>
          <a:p>
            <a:pPr marL="669283" lvl="1" indent="-334641" algn="l">
              <a:lnSpc>
                <a:spcPts val="3719"/>
              </a:lnSpc>
              <a:spcBef>
                <a:spcPct val="0"/>
              </a:spcBef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Evolved from simple rule-based systems → advanced deep learning frameworks</a:t>
            </a:r>
          </a:p>
          <a:p>
            <a:pPr algn="l">
              <a:lnSpc>
                <a:spcPts val="3719"/>
              </a:lnSpc>
              <a:spcBef>
                <a:spcPct val="0"/>
              </a:spcBef>
            </a:pPr>
            <a:endParaRPr lang="en-US" sz="3099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1" name="Freeform 11"/>
          <p:cNvSpPr/>
          <p:nvPr/>
        </p:nvSpPr>
        <p:spPr>
          <a:xfrm>
            <a:off x="13999573" y="5923026"/>
            <a:ext cx="4002476" cy="2896792"/>
          </a:xfrm>
          <a:custGeom>
            <a:avLst/>
            <a:gdLst/>
            <a:ahLst/>
            <a:cxnLst/>
            <a:rect l="l" t="t" r="r" b="b"/>
            <a:pathLst>
              <a:path w="4002476" h="2896792">
                <a:moveTo>
                  <a:pt x="0" y="0"/>
                </a:moveTo>
                <a:lnTo>
                  <a:pt x="4002476" y="0"/>
                </a:lnTo>
                <a:lnTo>
                  <a:pt x="4002476" y="2896792"/>
                </a:lnTo>
                <a:lnTo>
                  <a:pt x="0" y="28967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3230608" y="9707593"/>
            <a:ext cx="3931950" cy="4658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1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400800" y="873646"/>
            <a:ext cx="5334000" cy="9021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dirty="0">
                <a:solidFill>
                  <a:srgbClr val="00932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Introduction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" y="5514902"/>
            <a:ext cx="12201908" cy="2810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19"/>
              </a:lnSpc>
              <a:spcBef>
                <a:spcPct val="0"/>
              </a:spcBef>
            </a:pPr>
            <a:r>
              <a:rPr lang="en-US" sz="3099" b="1" u="none" strike="noStrike">
                <a:solidFill>
                  <a:srgbClr val="000000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Our Application</a:t>
            </a:r>
          </a:p>
          <a:p>
            <a:pPr marL="669283" lvl="1" indent="-334641" algn="l">
              <a:lnSpc>
                <a:spcPts val="3719"/>
              </a:lnSpc>
              <a:spcBef>
                <a:spcPct val="0"/>
              </a:spcBef>
              <a:buFont typeface="Arial"/>
              <a:buChar char="•"/>
            </a:pPr>
            <a:r>
              <a:rPr lang="en-US" sz="3099" u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Building an Emotion Recognition System for Healthcare</a:t>
            </a:r>
          </a:p>
          <a:p>
            <a:pPr marL="669283" lvl="1" indent="-334641" algn="l">
              <a:lnSpc>
                <a:spcPts val="3719"/>
              </a:lnSpc>
              <a:spcBef>
                <a:spcPct val="0"/>
              </a:spcBef>
              <a:buFont typeface="Arial"/>
              <a:buChar char="•"/>
            </a:pPr>
            <a:r>
              <a:rPr lang="en-US" sz="3099" u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Enables remote platforms to detect patient emotional states in real time</a:t>
            </a:r>
          </a:p>
          <a:p>
            <a:pPr marL="669283" lvl="1" indent="-334641" algn="l">
              <a:lnSpc>
                <a:spcPts val="3719"/>
              </a:lnSpc>
              <a:spcBef>
                <a:spcPct val="0"/>
              </a:spcBef>
              <a:buFont typeface="Arial"/>
              <a:buChar char="•"/>
            </a:pPr>
            <a:r>
              <a:rPr lang="en-US" sz="3099" u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Bridges the gap between clinical data and emotional awareness in virtual care</a:t>
            </a:r>
          </a:p>
        </p:txBody>
      </p:sp>
    </p:spTree>
  </p:cSld>
  <p:clrMapOvr>
    <a:masterClrMapping/>
  </p:clrMapOvr>
  <p:transition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8888013" y="859470"/>
            <a:ext cx="578976" cy="18354998"/>
            <a:chOff x="0" y="0"/>
            <a:chExt cx="771968" cy="244733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71906" cy="24473281"/>
            </a:xfrm>
            <a:custGeom>
              <a:avLst/>
              <a:gdLst/>
              <a:ahLst/>
              <a:cxnLst/>
              <a:rect l="l" t="t" r="r" b="b"/>
              <a:pathLst>
                <a:path w="771906" h="24473281">
                  <a:moveTo>
                    <a:pt x="0" y="0"/>
                  </a:moveTo>
                  <a:lnTo>
                    <a:pt x="771906" y="0"/>
                  </a:lnTo>
                  <a:lnTo>
                    <a:pt x="771906" y="24473281"/>
                  </a:lnTo>
                  <a:lnTo>
                    <a:pt x="0" y="244732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494469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5400000">
            <a:off x="6867480" y="2631033"/>
            <a:ext cx="264614" cy="13999572"/>
            <a:chOff x="0" y="0"/>
            <a:chExt cx="352818" cy="1866609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52806" cy="18666079"/>
            </a:xfrm>
            <a:custGeom>
              <a:avLst/>
              <a:gdLst/>
              <a:ahLst/>
              <a:cxnLst/>
              <a:rect l="l" t="t" r="r" b="b"/>
              <a:pathLst>
                <a:path w="352806" h="18666079">
                  <a:moveTo>
                    <a:pt x="0" y="0"/>
                  </a:moveTo>
                  <a:lnTo>
                    <a:pt x="352806" y="0"/>
                  </a:lnTo>
                  <a:lnTo>
                    <a:pt x="352806" y="18666079"/>
                  </a:lnTo>
                  <a:lnTo>
                    <a:pt x="0" y="18666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340183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3798189" y="8819818"/>
            <a:ext cx="4868602" cy="1217151"/>
            <a:chOff x="0" y="0"/>
            <a:chExt cx="6491470" cy="1622868"/>
          </a:xfrm>
        </p:grpSpPr>
        <p:sp>
          <p:nvSpPr>
            <p:cNvPr id="7" name="Freeform 7" descr="A picture containing drawing  Description automatically generated"/>
            <p:cNvSpPr/>
            <p:nvPr/>
          </p:nvSpPr>
          <p:spPr>
            <a:xfrm>
              <a:off x="0" y="0"/>
              <a:ext cx="6491478" cy="1622806"/>
            </a:xfrm>
            <a:custGeom>
              <a:avLst/>
              <a:gdLst/>
              <a:ahLst/>
              <a:cxnLst/>
              <a:rect l="l" t="t" r="r" b="b"/>
              <a:pathLst>
                <a:path w="6491478" h="1622806">
                  <a:moveTo>
                    <a:pt x="0" y="0"/>
                  </a:moveTo>
                  <a:lnTo>
                    <a:pt x="6491478" y="0"/>
                  </a:lnTo>
                  <a:lnTo>
                    <a:pt x="6491478" y="1622806"/>
                  </a:lnTo>
                  <a:lnTo>
                    <a:pt x="0" y="16228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3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6902182" y="0"/>
            <a:ext cx="1452818" cy="968896"/>
            <a:chOff x="0" y="0"/>
            <a:chExt cx="1937090" cy="1291861"/>
          </a:xfrm>
        </p:grpSpPr>
        <p:sp>
          <p:nvSpPr>
            <p:cNvPr id="9" name="Freeform 9" descr="A close up of a sign  Description automatically generated"/>
            <p:cNvSpPr/>
            <p:nvPr/>
          </p:nvSpPr>
          <p:spPr>
            <a:xfrm>
              <a:off x="0" y="0"/>
              <a:ext cx="1937131" cy="1291884"/>
            </a:xfrm>
            <a:custGeom>
              <a:avLst/>
              <a:gdLst/>
              <a:ahLst/>
              <a:cxnLst/>
              <a:rect l="l" t="t" r="r" b="b"/>
              <a:pathLst>
                <a:path w="1937131" h="1291884">
                  <a:moveTo>
                    <a:pt x="0" y="0"/>
                  </a:moveTo>
                  <a:lnTo>
                    <a:pt x="1937131" y="0"/>
                  </a:lnTo>
                  <a:lnTo>
                    <a:pt x="1937131" y="1291884"/>
                  </a:lnTo>
                  <a:lnTo>
                    <a:pt x="0" y="12918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" t="-5884" b="-6094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668019" y="3535952"/>
            <a:ext cx="4094439" cy="5283865"/>
            <a:chOff x="0" y="0"/>
            <a:chExt cx="1078357" cy="139159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78357" cy="1391595"/>
            </a:xfrm>
            <a:custGeom>
              <a:avLst/>
              <a:gdLst/>
              <a:ahLst/>
              <a:cxnLst/>
              <a:rect l="l" t="t" r="r" b="b"/>
              <a:pathLst>
                <a:path w="1078357" h="1391595">
                  <a:moveTo>
                    <a:pt x="1078357" y="45380"/>
                  </a:moveTo>
                  <a:lnTo>
                    <a:pt x="1078357" y="1346215"/>
                  </a:lnTo>
                  <a:cubicBezTo>
                    <a:pt x="1078357" y="1371278"/>
                    <a:pt x="1058040" y="1391595"/>
                    <a:pt x="1032977" y="1391595"/>
                  </a:cubicBezTo>
                  <a:lnTo>
                    <a:pt x="45380" y="1391595"/>
                  </a:lnTo>
                  <a:cubicBezTo>
                    <a:pt x="33345" y="1391595"/>
                    <a:pt x="21802" y="1386814"/>
                    <a:pt x="13292" y="1378303"/>
                  </a:cubicBezTo>
                  <a:cubicBezTo>
                    <a:pt x="4781" y="1369793"/>
                    <a:pt x="0" y="1358250"/>
                    <a:pt x="0" y="1346215"/>
                  </a:cubicBezTo>
                  <a:lnTo>
                    <a:pt x="0" y="45380"/>
                  </a:lnTo>
                  <a:cubicBezTo>
                    <a:pt x="0" y="33345"/>
                    <a:pt x="4781" y="21802"/>
                    <a:pt x="13292" y="13292"/>
                  </a:cubicBezTo>
                  <a:cubicBezTo>
                    <a:pt x="21802" y="4781"/>
                    <a:pt x="33345" y="0"/>
                    <a:pt x="45380" y="0"/>
                  </a:cubicBezTo>
                  <a:lnTo>
                    <a:pt x="1032977" y="0"/>
                  </a:lnTo>
                  <a:cubicBezTo>
                    <a:pt x="1045012" y="0"/>
                    <a:pt x="1056555" y="4781"/>
                    <a:pt x="1065066" y="13292"/>
                  </a:cubicBezTo>
                  <a:cubicBezTo>
                    <a:pt x="1073576" y="21802"/>
                    <a:pt x="1078357" y="33345"/>
                    <a:pt x="1078357" y="45380"/>
                  </a:cubicBezTo>
                  <a:close/>
                </a:path>
              </a:pathLst>
            </a:custGeom>
            <a:solidFill>
              <a:srgbClr val="ECF0AF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1078357" cy="14106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19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314551" y="3029625"/>
            <a:ext cx="4801377" cy="1012654"/>
          </a:xfrm>
          <a:custGeom>
            <a:avLst/>
            <a:gdLst/>
            <a:ahLst/>
            <a:cxnLst/>
            <a:rect l="l" t="t" r="r" b="b"/>
            <a:pathLst>
              <a:path w="4801377" h="1012654">
                <a:moveTo>
                  <a:pt x="0" y="0"/>
                </a:moveTo>
                <a:lnTo>
                  <a:pt x="4801376" y="0"/>
                </a:lnTo>
                <a:lnTo>
                  <a:pt x="4801376" y="1012654"/>
                </a:lnTo>
                <a:lnTo>
                  <a:pt x="0" y="10126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14" name="Group 14"/>
          <p:cNvGrpSpPr/>
          <p:nvPr/>
        </p:nvGrpSpPr>
        <p:grpSpPr>
          <a:xfrm>
            <a:off x="6921167" y="3731196"/>
            <a:ext cx="4416135" cy="5088621"/>
            <a:chOff x="0" y="0"/>
            <a:chExt cx="1163082" cy="134017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163082" cy="1340174"/>
            </a:xfrm>
            <a:custGeom>
              <a:avLst/>
              <a:gdLst/>
              <a:ahLst/>
              <a:cxnLst/>
              <a:rect l="l" t="t" r="r" b="b"/>
              <a:pathLst>
                <a:path w="1163082" h="1340174">
                  <a:moveTo>
                    <a:pt x="1163082" y="42074"/>
                  </a:moveTo>
                  <a:lnTo>
                    <a:pt x="1163082" y="1298100"/>
                  </a:lnTo>
                  <a:cubicBezTo>
                    <a:pt x="1163082" y="1321337"/>
                    <a:pt x="1144245" y="1340174"/>
                    <a:pt x="1121008" y="1340174"/>
                  </a:cubicBezTo>
                  <a:lnTo>
                    <a:pt x="42074" y="1340174"/>
                  </a:lnTo>
                  <a:cubicBezTo>
                    <a:pt x="30916" y="1340174"/>
                    <a:pt x="20214" y="1335741"/>
                    <a:pt x="12323" y="1327851"/>
                  </a:cubicBezTo>
                  <a:cubicBezTo>
                    <a:pt x="4433" y="1319960"/>
                    <a:pt x="0" y="1309259"/>
                    <a:pt x="0" y="1298100"/>
                  </a:cubicBezTo>
                  <a:lnTo>
                    <a:pt x="0" y="42074"/>
                  </a:lnTo>
                  <a:cubicBezTo>
                    <a:pt x="0" y="30916"/>
                    <a:pt x="4433" y="20214"/>
                    <a:pt x="12323" y="12323"/>
                  </a:cubicBezTo>
                  <a:cubicBezTo>
                    <a:pt x="20214" y="4433"/>
                    <a:pt x="30916" y="0"/>
                    <a:pt x="42074" y="0"/>
                  </a:cubicBezTo>
                  <a:lnTo>
                    <a:pt x="1121008" y="0"/>
                  </a:lnTo>
                  <a:cubicBezTo>
                    <a:pt x="1132167" y="0"/>
                    <a:pt x="1142869" y="4433"/>
                    <a:pt x="1150759" y="12323"/>
                  </a:cubicBezTo>
                  <a:cubicBezTo>
                    <a:pt x="1158650" y="20214"/>
                    <a:pt x="1163082" y="30916"/>
                    <a:pt x="1163082" y="42074"/>
                  </a:cubicBezTo>
                  <a:close/>
                </a:path>
              </a:pathLst>
            </a:custGeom>
            <a:solidFill>
              <a:srgbClr val="ECF0AF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19050"/>
              <a:ext cx="1163082" cy="13592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19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7672207" y="-238954"/>
            <a:ext cx="2914053" cy="3747979"/>
          </a:xfrm>
          <a:custGeom>
            <a:avLst/>
            <a:gdLst/>
            <a:ahLst/>
            <a:cxnLst/>
            <a:rect l="l" t="t" r="r" b="b"/>
            <a:pathLst>
              <a:path w="2914053" h="3747979">
                <a:moveTo>
                  <a:pt x="0" y="0"/>
                </a:moveTo>
                <a:lnTo>
                  <a:pt x="2914054" y="0"/>
                </a:lnTo>
                <a:lnTo>
                  <a:pt x="2914054" y="3747978"/>
                </a:lnTo>
                <a:lnTo>
                  <a:pt x="0" y="37479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1999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6743312" y="3029625"/>
            <a:ext cx="4801377" cy="1012654"/>
          </a:xfrm>
          <a:custGeom>
            <a:avLst/>
            <a:gdLst/>
            <a:ahLst/>
            <a:cxnLst/>
            <a:rect l="l" t="t" r="r" b="b"/>
            <a:pathLst>
              <a:path w="4801377" h="1012654">
                <a:moveTo>
                  <a:pt x="0" y="0"/>
                </a:moveTo>
                <a:lnTo>
                  <a:pt x="4801376" y="0"/>
                </a:lnTo>
                <a:lnTo>
                  <a:pt x="4801376" y="1012654"/>
                </a:lnTo>
                <a:lnTo>
                  <a:pt x="0" y="10126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19" name="Group 19"/>
          <p:cNvGrpSpPr/>
          <p:nvPr/>
        </p:nvGrpSpPr>
        <p:grpSpPr>
          <a:xfrm>
            <a:off x="12988515" y="3535952"/>
            <a:ext cx="4416135" cy="5283865"/>
            <a:chOff x="0" y="0"/>
            <a:chExt cx="1163082" cy="1391595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163082" cy="1391595"/>
            </a:xfrm>
            <a:custGeom>
              <a:avLst/>
              <a:gdLst/>
              <a:ahLst/>
              <a:cxnLst/>
              <a:rect l="l" t="t" r="r" b="b"/>
              <a:pathLst>
                <a:path w="1163082" h="1391595">
                  <a:moveTo>
                    <a:pt x="1163082" y="42074"/>
                  </a:moveTo>
                  <a:lnTo>
                    <a:pt x="1163082" y="1349521"/>
                  </a:lnTo>
                  <a:cubicBezTo>
                    <a:pt x="1163082" y="1372758"/>
                    <a:pt x="1144245" y="1391595"/>
                    <a:pt x="1121008" y="1391595"/>
                  </a:cubicBezTo>
                  <a:lnTo>
                    <a:pt x="42074" y="1391595"/>
                  </a:lnTo>
                  <a:cubicBezTo>
                    <a:pt x="30916" y="1391595"/>
                    <a:pt x="20214" y="1387162"/>
                    <a:pt x="12323" y="1379272"/>
                  </a:cubicBezTo>
                  <a:cubicBezTo>
                    <a:pt x="4433" y="1371381"/>
                    <a:pt x="0" y="1360679"/>
                    <a:pt x="0" y="1349521"/>
                  </a:cubicBezTo>
                  <a:lnTo>
                    <a:pt x="0" y="42074"/>
                  </a:lnTo>
                  <a:cubicBezTo>
                    <a:pt x="0" y="30916"/>
                    <a:pt x="4433" y="20214"/>
                    <a:pt x="12323" y="12323"/>
                  </a:cubicBezTo>
                  <a:cubicBezTo>
                    <a:pt x="20214" y="4433"/>
                    <a:pt x="30916" y="0"/>
                    <a:pt x="42074" y="0"/>
                  </a:cubicBezTo>
                  <a:lnTo>
                    <a:pt x="1121008" y="0"/>
                  </a:lnTo>
                  <a:cubicBezTo>
                    <a:pt x="1132167" y="0"/>
                    <a:pt x="1142869" y="4433"/>
                    <a:pt x="1150759" y="12323"/>
                  </a:cubicBezTo>
                  <a:cubicBezTo>
                    <a:pt x="1158650" y="20214"/>
                    <a:pt x="1163082" y="30916"/>
                    <a:pt x="1163082" y="42074"/>
                  </a:cubicBezTo>
                  <a:close/>
                </a:path>
              </a:pathLst>
            </a:custGeom>
            <a:solidFill>
              <a:srgbClr val="ECF0AF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19050"/>
              <a:ext cx="1163082" cy="14106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19"/>
                </a:lnSpc>
              </a:pPr>
              <a:endParaRPr/>
            </a:p>
          </p:txBody>
        </p:sp>
      </p:grpSp>
      <p:sp>
        <p:nvSpPr>
          <p:cNvPr id="22" name="Freeform 22"/>
          <p:cNvSpPr/>
          <p:nvPr/>
        </p:nvSpPr>
        <p:spPr>
          <a:xfrm>
            <a:off x="12795894" y="3029625"/>
            <a:ext cx="4801377" cy="1012654"/>
          </a:xfrm>
          <a:custGeom>
            <a:avLst/>
            <a:gdLst/>
            <a:ahLst/>
            <a:cxnLst/>
            <a:rect l="l" t="t" r="r" b="b"/>
            <a:pathLst>
              <a:path w="4801377" h="1012654">
                <a:moveTo>
                  <a:pt x="0" y="0"/>
                </a:moveTo>
                <a:lnTo>
                  <a:pt x="4801377" y="0"/>
                </a:lnTo>
                <a:lnTo>
                  <a:pt x="4801377" y="1012654"/>
                </a:lnTo>
                <a:lnTo>
                  <a:pt x="0" y="10126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13360795" y="4431390"/>
            <a:ext cx="3671575" cy="3086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6567" lvl="1" indent="-248284" algn="l">
              <a:lnSpc>
                <a:spcPts val="2759"/>
              </a:lnSpc>
              <a:spcBef>
                <a:spcPct val="0"/>
              </a:spcBef>
              <a:buFont typeface="Arial"/>
              <a:buChar char="•"/>
            </a:pPr>
            <a:r>
              <a:rPr lang="en-US" sz="2299" u="none" strike="noStrik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Build a real-time, privacy-aware &amp; clinically validated emotion recognition layer</a:t>
            </a:r>
          </a:p>
          <a:p>
            <a:pPr marL="496567" lvl="1" indent="-248284" algn="l">
              <a:lnSpc>
                <a:spcPts val="2759"/>
              </a:lnSpc>
              <a:spcBef>
                <a:spcPct val="0"/>
              </a:spcBef>
              <a:buFont typeface="Arial"/>
              <a:buChar char="•"/>
            </a:pPr>
            <a:r>
              <a:rPr lang="en-US" sz="2299" u="none" strike="noStrik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Make telemedicine not just clinically capable but emotionally intelligent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230608" y="9707593"/>
            <a:ext cx="3931950" cy="4658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1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743311" y="1143844"/>
            <a:ext cx="4479519" cy="8871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Motivation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356285" y="3321658"/>
            <a:ext cx="2606115" cy="3975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19"/>
              </a:lnSpc>
              <a:spcBef>
                <a:spcPct val="0"/>
              </a:spcBef>
            </a:pPr>
            <a:r>
              <a:rPr lang="en-US" sz="2599" b="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The Problem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65642" y="4218107"/>
            <a:ext cx="3699194" cy="411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6567" lvl="1" indent="-248284" algn="l">
              <a:lnSpc>
                <a:spcPts val="2759"/>
              </a:lnSpc>
              <a:buFont typeface="Arial"/>
              <a:buChar char="•"/>
            </a:pPr>
            <a:r>
              <a:rPr lang="en-US" sz="2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Telemedicine platforms focus only on clinical data &amp; verbal communication</a:t>
            </a:r>
          </a:p>
          <a:p>
            <a:pPr marL="496567" lvl="1" indent="-248284" algn="l">
              <a:lnSpc>
                <a:spcPts val="2759"/>
              </a:lnSpc>
              <a:buFont typeface="Arial"/>
              <a:buChar char="•"/>
            </a:pPr>
            <a:r>
              <a:rPr lang="en-US" sz="2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Patient emotional states go completely unnoticed in remote consultations</a:t>
            </a:r>
          </a:p>
          <a:p>
            <a:pPr marL="496567" lvl="1" indent="-248284" algn="l">
              <a:lnSpc>
                <a:spcPts val="2759"/>
              </a:lnSpc>
              <a:buFont typeface="Arial"/>
              <a:buChar char="•"/>
            </a:pPr>
            <a:r>
              <a:rPr lang="en-US" sz="2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Doctors lose critical non-verbal cues they would naturally observe in person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776813" y="3321658"/>
            <a:ext cx="4801377" cy="4095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119"/>
              </a:lnSpc>
              <a:spcBef>
                <a:spcPct val="0"/>
              </a:spcBef>
            </a:pPr>
            <a:r>
              <a:rPr lang="en-US" sz="2599" b="1" u="none" strike="noStrik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Why It Matters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827214" y="3321658"/>
            <a:ext cx="4801377" cy="4095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119"/>
              </a:lnSpc>
              <a:spcBef>
                <a:spcPct val="0"/>
              </a:spcBef>
            </a:pPr>
            <a:r>
              <a:rPr lang="en-US" sz="2599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Our Goal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065169" y="4431390"/>
            <a:ext cx="4157662" cy="3086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6567" lvl="1" indent="-248284" algn="l">
              <a:lnSpc>
                <a:spcPts val="2759"/>
              </a:lnSpc>
              <a:spcBef>
                <a:spcPct val="0"/>
              </a:spcBef>
              <a:buFont typeface="Arial"/>
              <a:buChar char="•"/>
            </a:pPr>
            <a:r>
              <a:rPr lang="en-US" sz="2299" u="none" strike="noStrik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Emotions directly impact diagnosis accuracy &amp; treatment adherence</a:t>
            </a:r>
          </a:p>
          <a:p>
            <a:pPr marL="496567" lvl="1" indent="-248284" algn="l">
              <a:lnSpc>
                <a:spcPts val="2759"/>
              </a:lnSpc>
              <a:spcBef>
                <a:spcPct val="0"/>
              </a:spcBef>
              <a:buFont typeface="Arial"/>
              <a:buChar char="•"/>
            </a:pPr>
            <a:r>
              <a:rPr lang="en-US" sz="2299" u="none" strike="noStrik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Mental health issues often go undetected in virtual settings</a:t>
            </a:r>
          </a:p>
          <a:p>
            <a:pPr marL="496567" lvl="1" indent="-248284" algn="l">
              <a:lnSpc>
                <a:spcPts val="2759"/>
              </a:lnSpc>
              <a:spcBef>
                <a:spcPct val="0"/>
              </a:spcBef>
              <a:buFont typeface="Arial"/>
              <a:buChar char="•"/>
            </a:pPr>
            <a:r>
              <a:rPr lang="en-US" sz="2299" u="none" strike="noStrik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Early emotional cues can flag deteriorating mental health before it's critical</a:t>
            </a:r>
          </a:p>
        </p:txBody>
      </p:sp>
    </p:spTree>
  </p:cSld>
  <p:clrMapOvr>
    <a:masterClrMapping/>
  </p:clrMapOvr>
  <p:transition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8888013" y="859470"/>
            <a:ext cx="578976" cy="18354998"/>
            <a:chOff x="0" y="0"/>
            <a:chExt cx="771968" cy="244733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71906" cy="24473281"/>
            </a:xfrm>
            <a:custGeom>
              <a:avLst/>
              <a:gdLst/>
              <a:ahLst/>
              <a:cxnLst/>
              <a:rect l="l" t="t" r="r" b="b"/>
              <a:pathLst>
                <a:path w="771906" h="24473281">
                  <a:moveTo>
                    <a:pt x="0" y="0"/>
                  </a:moveTo>
                  <a:lnTo>
                    <a:pt x="771906" y="0"/>
                  </a:lnTo>
                  <a:lnTo>
                    <a:pt x="771906" y="24473281"/>
                  </a:lnTo>
                  <a:lnTo>
                    <a:pt x="0" y="244732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494469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5400000">
            <a:off x="6867480" y="2631033"/>
            <a:ext cx="264614" cy="13999572"/>
            <a:chOff x="0" y="0"/>
            <a:chExt cx="352818" cy="1866609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52806" cy="18666079"/>
            </a:xfrm>
            <a:custGeom>
              <a:avLst/>
              <a:gdLst/>
              <a:ahLst/>
              <a:cxnLst/>
              <a:rect l="l" t="t" r="r" b="b"/>
              <a:pathLst>
                <a:path w="352806" h="18666079">
                  <a:moveTo>
                    <a:pt x="0" y="0"/>
                  </a:moveTo>
                  <a:lnTo>
                    <a:pt x="352806" y="0"/>
                  </a:lnTo>
                  <a:lnTo>
                    <a:pt x="352806" y="18666079"/>
                  </a:lnTo>
                  <a:lnTo>
                    <a:pt x="0" y="18666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340183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6902182" y="0"/>
            <a:ext cx="1452818" cy="968896"/>
            <a:chOff x="0" y="0"/>
            <a:chExt cx="1937090" cy="1291861"/>
          </a:xfrm>
        </p:grpSpPr>
        <p:sp>
          <p:nvSpPr>
            <p:cNvPr id="7" name="Freeform 7" descr="A close up of a sign  Description automatically generated"/>
            <p:cNvSpPr/>
            <p:nvPr/>
          </p:nvSpPr>
          <p:spPr>
            <a:xfrm>
              <a:off x="0" y="0"/>
              <a:ext cx="1937131" cy="1291884"/>
            </a:xfrm>
            <a:custGeom>
              <a:avLst/>
              <a:gdLst/>
              <a:ahLst/>
              <a:cxnLst/>
              <a:rect l="l" t="t" r="r" b="b"/>
              <a:pathLst>
                <a:path w="1937131" h="1291884">
                  <a:moveTo>
                    <a:pt x="0" y="0"/>
                  </a:moveTo>
                  <a:lnTo>
                    <a:pt x="1937131" y="0"/>
                  </a:lnTo>
                  <a:lnTo>
                    <a:pt x="1937131" y="1291884"/>
                  </a:lnTo>
                  <a:lnTo>
                    <a:pt x="0" y="12918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" t="-5884" b="-6094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3999573" y="8856405"/>
            <a:ext cx="4355427" cy="1088857"/>
            <a:chOff x="0" y="0"/>
            <a:chExt cx="6491470" cy="162286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491478" cy="1622806"/>
            </a:xfrm>
            <a:custGeom>
              <a:avLst/>
              <a:gdLst/>
              <a:ahLst/>
              <a:cxnLst/>
              <a:rect l="l" t="t" r="r" b="b"/>
              <a:pathLst>
                <a:path w="6491478" h="1622806">
                  <a:moveTo>
                    <a:pt x="0" y="0"/>
                  </a:moveTo>
                  <a:lnTo>
                    <a:pt x="6491478" y="0"/>
                  </a:lnTo>
                  <a:lnTo>
                    <a:pt x="6491478" y="1622806"/>
                  </a:lnTo>
                  <a:lnTo>
                    <a:pt x="0" y="16228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478" b="-478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597105" y="2390948"/>
            <a:ext cx="3973343" cy="6141052"/>
            <a:chOff x="0" y="0"/>
            <a:chExt cx="1046477" cy="161739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46477" cy="1617396"/>
            </a:xfrm>
            <a:custGeom>
              <a:avLst/>
              <a:gdLst/>
              <a:ahLst/>
              <a:cxnLst/>
              <a:rect l="l" t="t" r="r" b="b"/>
              <a:pathLst>
                <a:path w="1046477" h="1617396">
                  <a:moveTo>
                    <a:pt x="101320" y="0"/>
                  </a:moveTo>
                  <a:lnTo>
                    <a:pt x="945157" y="0"/>
                  </a:lnTo>
                  <a:cubicBezTo>
                    <a:pt x="1001114" y="0"/>
                    <a:pt x="1046477" y="45363"/>
                    <a:pt x="1046477" y="101320"/>
                  </a:cubicBezTo>
                  <a:lnTo>
                    <a:pt x="1046477" y="1516076"/>
                  </a:lnTo>
                  <a:cubicBezTo>
                    <a:pt x="1046477" y="1542948"/>
                    <a:pt x="1035802" y="1568719"/>
                    <a:pt x="1016801" y="1587720"/>
                  </a:cubicBezTo>
                  <a:cubicBezTo>
                    <a:pt x="997800" y="1606722"/>
                    <a:pt x="972029" y="1617396"/>
                    <a:pt x="945157" y="1617396"/>
                  </a:cubicBezTo>
                  <a:lnTo>
                    <a:pt x="101320" y="1617396"/>
                  </a:lnTo>
                  <a:cubicBezTo>
                    <a:pt x="74448" y="1617396"/>
                    <a:pt x="48677" y="1606722"/>
                    <a:pt x="29676" y="1587720"/>
                  </a:cubicBezTo>
                  <a:cubicBezTo>
                    <a:pt x="10675" y="1568719"/>
                    <a:pt x="0" y="1542948"/>
                    <a:pt x="0" y="1516076"/>
                  </a:cubicBezTo>
                  <a:lnTo>
                    <a:pt x="0" y="101320"/>
                  </a:lnTo>
                  <a:cubicBezTo>
                    <a:pt x="0" y="74448"/>
                    <a:pt x="10675" y="48677"/>
                    <a:pt x="29676" y="29676"/>
                  </a:cubicBezTo>
                  <a:cubicBezTo>
                    <a:pt x="48677" y="10675"/>
                    <a:pt x="74448" y="0"/>
                    <a:pt x="101320" y="0"/>
                  </a:cubicBezTo>
                  <a:close/>
                </a:path>
              </a:pathLst>
            </a:custGeom>
            <a:solidFill>
              <a:srgbClr val="99ACFF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9525"/>
              <a:ext cx="1046477" cy="16269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3230608" y="9707593"/>
            <a:ext cx="3931950" cy="4658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037709" y="873646"/>
            <a:ext cx="4316091" cy="8870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u="sng" dirty="0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Objectives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4949819" y="2390948"/>
            <a:ext cx="3973343" cy="6141052"/>
            <a:chOff x="0" y="0"/>
            <a:chExt cx="1046477" cy="161739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046477" cy="1617396"/>
            </a:xfrm>
            <a:custGeom>
              <a:avLst/>
              <a:gdLst/>
              <a:ahLst/>
              <a:cxnLst/>
              <a:rect l="l" t="t" r="r" b="b"/>
              <a:pathLst>
                <a:path w="1046477" h="1617396">
                  <a:moveTo>
                    <a:pt x="101320" y="0"/>
                  </a:moveTo>
                  <a:lnTo>
                    <a:pt x="945157" y="0"/>
                  </a:lnTo>
                  <a:cubicBezTo>
                    <a:pt x="1001114" y="0"/>
                    <a:pt x="1046477" y="45363"/>
                    <a:pt x="1046477" y="101320"/>
                  </a:cubicBezTo>
                  <a:lnTo>
                    <a:pt x="1046477" y="1516076"/>
                  </a:lnTo>
                  <a:cubicBezTo>
                    <a:pt x="1046477" y="1542948"/>
                    <a:pt x="1035802" y="1568719"/>
                    <a:pt x="1016801" y="1587720"/>
                  </a:cubicBezTo>
                  <a:cubicBezTo>
                    <a:pt x="997800" y="1606722"/>
                    <a:pt x="972029" y="1617396"/>
                    <a:pt x="945157" y="1617396"/>
                  </a:cubicBezTo>
                  <a:lnTo>
                    <a:pt x="101320" y="1617396"/>
                  </a:lnTo>
                  <a:cubicBezTo>
                    <a:pt x="74448" y="1617396"/>
                    <a:pt x="48677" y="1606722"/>
                    <a:pt x="29676" y="1587720"/>
                  </a:cubicBezTo>
                  <a:cubicBezTo>
                    <a:pt x="10675" y="1568719"/>
                    <a:pt x="0" y="1542948"/>
                    <a:pt x="0" y="1516076"/>
                  </a:cubicBezTo>
                  <a:lnTo>
                    <a:pt x="0" y="101320"/>
                  </a:lnTo>
                  <a:cubicBezTo>
                    <a:pt x="0" y="74448"/>
                    <a:pt x="10675" y="48677"/>
                    <a:pt x="29676" y="29676"/>
                  </a:cubicBezTo>
                  <a:cubicBezTo>
                    <a:pt x="48677" y="10675"/>
                    <a:pt x="74448" y="0"/>
                    <a:pt x="101320" y="0"/>
                  </a:cubicBezTo>
                  <a:close/>
                </a:path>
              </a:pathLst>
            </a:custGeom>
            <a:solidFill>
              <a:srgbClr val="BEA1F7"/>
            </a:solidFill>
            <a:ln cap="rnd">
              <a:noFill/>
              <a:prstDash val="solid"/>
              <a:round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9525"/>
              <a:ext cx="1046477" cy="16269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1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302534" y="2390948"/>
            <a:ext cx="3973343" cy="6141052"/>
            <a:chOff x="0" y="0"/>
            <a:chExt cx="1046477" cy="161739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046477" cy="1617396"/>
            </a:xfrm>
            <a:custGeom>
              <a:avLst/>
              <a:gdLst/>
              <a:ahLst/>
              <a:cxnLst/>
              <a:rect l="l" t="t" r="r" b="b"/>
              <a:pathLst>
                <a:path w="1046477" h="1617396">
                  <a:moveTo>
                    <a:pt x="101320" y="0"/>
                  </a:moveTo>
                  <a:lnTo>
                    <a:pt x="945157" y="0"/>
                  </a:lnTo>
                  <a:cubicBezTo>
                    <a:pt x="1001114" y="0"/>
                    <a:pt x="1046477" y="45363"/>
                    <a:pt x="1046477" y="101320"/>
                  </a:cubicBezTo>
                  <a:lnTo>
                    <a:pt x="1046477" y="1516076"/>
                  </a:lnTo>
                  <a:cubicBezTo>
                    <a:pt x="1046477" y="1542948"/>
                    <a:pt x="1035802" y="1568719"/>
                    <a:pt x="1016801" y="1587720"/>
                  </a:cubicBezTo>
                  <a:cubicBezTo>
                    <a:pt x="997800" y="1606722"/>
                    <a:pt x="972029" y="1617396"/>
                    <a:pt x="945157" y="1617396"/>
                  </a:cubicBezTo>
                  <a:lnTo>
                    <a:pt x="101320" y="1617396"/>
                  </a:lnTo>
                  <a:cubicBezTo>
                    <a:pt x="74448" y="1617396"/>
                    <a:pt x="48677" y="1606722"/>
                    <a:pt x="29676" y="1587720"/>
                  </a:cubicBezTo>
                  <a:cubicBezTo>
                    <a:pt x="10675" y="1568719"/>
                    <a:pt x="0" y="1542948"/>
                    <a:pt x="0" y="1516076"/>
                  </a:cubicBezTo>
                  <a:lnTo>
                    <a:pt x="0" y="101320"/>
                  </a:lnTo>
                  <a:cubicBezTo>
                    <a:pt x="0" y="74448"/>
                    <a:pt x="10675" y="48677"/>
                    <a:pt x="29676" y="29676"/>
                  </a:cubicBezTo>
                  <a:cubicBezTo>
                    <a:pt x="48677" y="10675"/>
                    <a:pt x="74448" y="0"/>
                    <a:pt x="101320" y="0"/>
                  </a:cubicBezTo>
                  <a:close/>
                </a:path>
              </a:pathLst>
            </a:custGeom>
            <a:solidFill>
              <a:srgbClr val="CEA8F0"/>
            </a:solidFill>
            <a:ln cap="rnd">
              <a:noFill/>
              <a:prstDash val="solid"/>
              <a:round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-9525"/>
              <a:ext cx="1046477" cy="16269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1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3655248" y="2390948"/>
            <a:ext cx="3973343" cy="6141052"/>
            <a:chOff x="0" y="0"/>
            <a:chExt cx="1046477" cy="1617396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046477" cy="1617396"/>
            </a:xfrm>
            <a:custGeom>
              <a:avLst/>
              <a:gdLst/>
              <a:ahLst/>
              <a:cxnLst/>
              <a:rect l="l" t="t" r="r" b="b"/>
              <a:pathLst>
                <a:path w="1046477" h="1617396">
                  <a:moveTo>
                    <a:pt x="101320" y="0"/>
                  </a:moveTo>
                  <a:lnTo>
                    <a:pt x="945157" y="0"/>
                  </a:lnTo>
                  <a:cubicBezTo>
                    <a:pt x="1001114" y="0"/>
                    <a:pt x="1046477" y="45363"/>
                    <a:pt x="1046477" y="101320"/>
                  </a:cubicBezTo>
                  <a:lnTo>
                    <a:pt x="1046477" y="1516076"/>
                  </a:lnTo>
                  <a:cubicBezTo>
                    <a:pt x="1046477" y="1542948"/>
                    <a:pt x="1035802" y="1568719"/>
                    <a:pt x="1016801" y="1587720"/>
                  </a:cubicBezTo>
                  <a:cubicBezTo>
                    <a:pt x="997800" y="1606722"/>
                    <a:pt x="972029" y="1617396"/>
                    <a:pt x="945157" y="1617396"/>
                  </a:cubicBezTo>
                  <a:lnTo>
                    <a:pt x="101320" y="1617396"/>
                  </a:lnTo>
                  <a:cubicBezTo>
                    <a:pt x="74448" y="1617396"/>
                    <a:pt x="48677" y="1606722"/>
                    <a:pt x="29676" y="1587720"/>
                  </a:cubicBezTo>
                  <a:cubicBezTo>
                    <a:pt x="10675" y="1568719"/>
                    <a:pt x="0" y="1542948"/>
                    <a:pt x="0" y="1516076"/>
                  </a:cubicBezTo>
                  <a:lnTo>
                    <a:pt x="0" y="101320"/>
                  </a:lnTo>
                  <a:cubicBezTo>
                    <a:pt x="0" y="74448"/>
                    <a:pt x="10675" y="48677"/>
                    <a:pt x="29676" y="29676"/>
                  </a:cubicBezTo>
                  <a:cubicBezTo>
                    <a:pt x="48677" y="10675"/>
                    <a:pt x="74448" y="0"/>
                    <a:pt x="101320" y="0"/>
                  </a:cubicBezTo>
                  <a:close/>
                </a:path>
              </a:pathLst>
            </a:custGeom>
            <a:solidFill>
              <a:srgbClr val="E1A8F0"/>
            </a:solidFill>
            <a:ln cap="rnd">
              <a:noFill/>
              <a:prstDash val="solid"/>
              <a:round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0" y="-9525"/>
              <a:ext cx="1046477" cy="16269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1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919817" y="3225718"/>
            <a:ext cx="3327918" cy="47507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Establish the Multimodal Baseline: Validate the Python-based architecture designed to extract and fuse data from video, audio, and text inputs. </a:t>
            </a:r>
          </a:p>
          <a:p>
            <a:pPr algn="ctr">
              <a:lnSpc>
                <a:spcPts val="3780"/>
              </a:lnSpc>
            </a:pPr>
            <a:endParaRPr lang="en-US" sz="270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5317390" y="3225718"/>
            <a:ext cx="3327918" cy="4274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Prove Accuracy: Ensure the combined multimodal approach successfully outperforms single-modality emotion recognition. 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666112" y="3225718"/>
            <a:ext cx="3327918" cy="47507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Finalize the Web Platform UI: Complete the intuitive portal designed for therapists to securely upload consultation files and review automated insights. 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3931382" y="2987612"/>
            <a:ext cx="3327918" cy="5226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System Integration: Connect the completed frontend web interface with the Python machine learning backend to enable seamless data routing and secure file processing.</a:t>
            </a:r>
          </a:p>
        </p:txBody>
      </p:sp>
    </p:spTree>
  </p:cSld>
  <p:clrMapOvr>
    <a:masterClrMapping/>
  </p:clrMapOvr>
  <p:transition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121140"/>
            <a:ext cx="1257300" cy="1185739"/>
            <a:chOff x="0" y="0"/>
            <a:chExt cx="1676400" cy="15809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76400" cy="1581023"/>
            </a:xfrm>
            <a:custGeom>
              <a:avLst/>
              <a:gdLst/>
              <a:ahLst/>
              <a:cxnLst/>
              <a:rect l="l" t="t" r="r" b="b"/>
              <a:pathLst>
                <a:path w="1676400" h="1581023">
                  <a:moveTo>
                    <a:pt x="0" y="0"/>
                  </a:moveTo>
                  <a:lnTo>
                    <a:pt x="1676400" y="0"/>
                  </a:lnTo>
                  <a:lnTo>
                    <a:pt x="1676400" y="1581023"/>
                  </a:lnTo>
                  <a:lnTo>
                    <a:pt x="0" y="1581023"/>
                  </a:lnTo>
                  <a:close/>
                </a:path>
              </a:pathLst>
            </a:custGeom>
            <a:solidFill>
              <a:srgbClr val="A4253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5254411" y="9534525"/>
            <a:ext cx="3033589" cy="772354"/>
            <a:chOff x="0" y="0"/>
            <a:chExt cx="4044785" cy="102980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044823" cy="1029843"/>
            </a:xfrm>
            <a:custGeom>
              <a:avLst/>
              <a:gdLst/>
              <a:ahLst/>
              <a:cxnLst/>
              <a:rect l="l" t="t" r="r" b="b"/>
              <a:pathLst>
                <a:path w="4044823" h="1029843">
                  <a:moveTo>
                    <a:pt x="0" y="0"/>
                  </a:moveTo>
                  <a:lnTo>
                    <a:pt x="4044823" y="0"/>
                  </a:lnTo>
                  <a:lnTo>
                    <a:pt x="4044823" y="1029843"/>
                  </a:lnTo>
                  <a:lnTo>
                    <a:pt x="0" y="1029843"/>
                  </a:lnTo>
                  <a:close/>
                </a:path>
              </a:pathLst>
            </a:custGeom>
            <a:solidFill>
              <a:srgbClr val="D9222A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257300" y="9594894"/>
            <a:ext cx="13997121" cy="772354"/>
            <a:chOff x="0" y="0"/>
            <a:chExt cx="18662828" cy="102980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8662777" cy="1029843"/>
            </a:xfrm>
            <a:custGeom>
              <a:avLst/>
              <a:gdLst/>
              <a:ahLst/>
              <a:cxnLst/>
              <a:rect l="l" t="t" r="r" b="b"/>
              <a:pathLst>
                <a:path w="18662777" h="1029843">
                  <a:moveTo>
                    <a:pt x="0" y="0"/>
                  </a:moveTo>
                  <a:lnTo>
                    <a:pt x="18662777" y="0"/>
                  </a:lnTo>
                  <a:lnTo>
                    <a:pt x="18662777" y="1029843"/>
                  </a:lnTo>
                  <a:lnTo>
                    <a:pt x="0" y="1029843"/>
                  </a:lnTo>
                  <a:close/>
                </a:path>
              </a:pathLst>
            </a:custGeom>
            <a:solidFill>
              <a:srgbClr val="A42530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8142813" y="812740"/>
            <a:ext cx="4658986" cy="6883384"/>
            <a:chOff x="0" y="0"/>
            <a:chExt cx="5904662" cy="872379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904611" cy="8723810"/>
            </a:xfrm>
            <a:custGeom>
              <a:avLst/>
              <a:gdLst/>
              <a:ahLst/>
              <a:cxnLst/>
              <a:rect l="l" t="t" r="r" b="b"/>
              <a:pathLst>
                <a:path w="5904611" h="8723810">
                  <a:moveTo>
                    <a:pt x="0" y="0"/>
                  </a:moveTo>
                  <a:lnTo>
                    <a:pt x="5904611" y="0"/>
                  </a:lnTo>
                  <a:lnTo>
                    <a:pt x="5904611" y="8723810"/>
                  </a:lnTo>
                  <a:lnTo>
                    <a:pt x="0" y="87238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651" r="-9096" b="-11413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11391736" y="336490"/>
            <a:ext cx="2176422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39"/>
              </a:lnSpc>
            </a:pPr>
            <a:r>
              <a:rPr lang="en-US" sz="26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Transformer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806210" y="326965"/>
            <a:ext cx="4677661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Methodology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6902182" y="0"/>
            <a:ext cx="1452818" cy="968896"/>
            <a:chOff x="0" y="0"/>
            <a:chExt cx="1937090" cy="1291861"/>
          </a:xfrm>
        </p:grpSpPr>
        <p:sp>
          <p:nvSpPr>
            <p:cNvPr id="13" name="Freeform 13" descr="A close up of a sign  Description automatically generated"/>
            <p:cNvSpPr/>
            <p:nvPr/>
          </p:nvSpPr>
          <p:spPr>
            <a:xfrm>
              <a:off x="0" y="0"/>
              <a:ext cx="1937131" cy="1291884"/>
            </a:xfrm>
            <a:custGeom>
              <a:avLst/>
              <a:gdLst/>
              <a:ahLst/>
              <a:cxnLst/>
              <a:rect l="l" t="t" r="r" b="b"/>
              <a:pathLst>
                <a:path w="1937131" h="1291884">
                  <a:moveTo>
                    <a:pt x="0" y="0"/>
                  </a:moveTo>
                  <a:lnTo>
                    <a:pt x="1937131" y="0"/>
                  </a:lnTo>
                  <a:lnTo>
                    <a:pt x="1937131" y="1291884"/>
                  </a:lnTo>
                  <a:lnTo>
                    <a:pt x="0" y="12918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" t="-5884" b="-6094"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13773708" y="9150097"/>
            <a:ext cx="4868602" cy="1217151"/>
            <a:chOff x="0" y="0"/>
            <a:chExt cx="6491470" cy="1622868"/>
          </a:xfrm>
        </p:grpSpPr>
        <p:sp>
          <p:nvSpPr>
            <p:cNvPr id="15" name="Freeform 15" descr="A picture containing drawing  Description automatically generated"/>
            <p:cNvSpPr/>
            <p:nvPr/>
          </p:nvSpPr>
          <p:spPr>
            <a:xfrm>
              <a:off x="0" y="0"/>
              <a:ext cx="6491478" cy="1622806"/>
            </a:xfrm>
            <a:custGeom>
              <a:avLst/>
              <a:gdLst/>
              <a:ahLst/>
              <a:cxnLst/>
              <a:rect l="l" t="t" r="r" b="b"/>
              <a:pathLst>
                <a:path w="6491478" h="1622806">
                  <a:moveTo>
                    <a:pt x="0" y="0"/>
                  </a:moveTo>
                  <a:lnTo>
                    <a:pt x="6491478" y="0"/>
                  </a:lnTo>
                  <a:lnTo>
                    <a:pt x="6491478" y="1622806"/>
                  </a:lnTo>
                  <a:lnTo>
                    <a:pt x="0" y="16228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3"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>
            <a:off x="258291" y="933822"/>
            <a:ext cx="7430599" cy="8066236"/>
            <a:chOff x="0" y="0"/>
            <a:chExt cx="11134725" cy="12087225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1134725" cy="12087225"/>
            </a:xfrm>
            <a:custGeom>
              <a:avLst/>
              <a:gdLst/>
              <a:ahLst/>
              <a:cxnLst/>
              <a:rect l="l" t="t" r="r" b="b"/>
              <a:pathLst>
                <a:path w="11134725" h="12087225">
                  <a:moveTo>
                    <a:pt x="0" y="0"/>
                  </a:moveTo>
                  <a:lnTo>
                    <a:pt x="11134725" y="0"/>
                  </a:lnTo>
                  <a:lnTo>
                    <a:pt x="11134725" y="12087225"/>
                  </a:lnTo>
                  <a:lnTo>
                    <a:pt x="0" y="120872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9399" t="-6292" r="-36766" b="-8511"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>
            <a:off x="14677761" y="4781664"/>
            <a:ext cx="2052228" cy="3369554"/>
            <a:chOff x="0" y="0"/>
            <a:chExt cx="2736304" cy="449273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736342" cy="4492752"/>
            </a:xfrm>
            <a:custGeom>
              <a:avLst/>
              <a:gdLst/>
              <a:ahLst/>
              <a:cxnLst/>
              <a:rect l="l" t="t" r="r" b="b"/>
              <a:pathLst>
                <a:path w="2736342" h="4492752">
                  <a:moveTo>
                    <a:pt x="0" y="0"/>
                  </a:moveTo>
                  <a:lnTo>
                    <a:pt x="2736342" y="0"/>
                  </a:lnTo>
                  <a:lnTo>
                    <a:pt x="2736342" y="4492752"/>
                  </a:lnTo>
                  <a:lnTo>
                    <a:pt x="0" y="449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6246" t="-2376" r="-172123"/>
              </a:stretch>
            </a:blipFill>
          </p:spPr>
        </p:sp>
      </p:grpSp>
      <p:sp>
        <p:nvSpPr>
          <p:cNvPr id="21" name="Freeform 21"/>
          <p:cNvSpPr/>
          <p:nvPr/>
        </p:nvSpPr>
        <p:spPr>
          <a:xfrm>
            <a:off x="14591665" y="1135885"/>
            <a:ext cx="2224374" cy="3369564"/>
          </a:xfrm>
          <a:custGeom>
            <a:avLst/>
            <a:gdLst/>
            <a:ahLst/>
            <a:cxnLst/>
            <a:rect l="l" t="t" r="r" b="b"/>
            <a:pathLst>
              <a:path w="2965831" h="4492752">
                <a:moveTo>
                  <a:pt x="0" y="0"/>
                </a:moveTo>
                <a:lnTo>
                  <a:pt x="2965831" y="0"/>
                </a:lnTo>
                <a:lnTo>
                  <a:pt x="2965831" y="4492752"/>
                </a:lnTo>
                <a:lnTo>
                  <a:pt x="0" y="449275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63156" t="-2376" r="-2900"/>
            </a:stretch>
          </a:blipFill>
        </p:spPr>
      </p:sp>
      <p:grpSp>
        <p:nvGrpSpPr>
          <p:cNvPr id="22" name="Group 22"/>
          <p:cNvGrpSpPr/>
          <p:nvPr/>
        </p:nvGrpSpPr>
        <p:grpSpPr>
          <a:xfrm>
            <a:off x="12211710" y="7044138"/>
            <a:ext cx="4203821" cy="2214162"/>
            <a:chOff x="0" y="0"/>
            <a:chExt cx="5605094" cy="2952217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5605145" cy="2952242"/>
            </a:xfrm>
            <a:custGeom>
              <a:avLst/>
              <a:gdLst/>
              <a:ahLst/>
              <a:cxnLst/>
              <a:rect l="l" t="t" r="r" b="b"/>
              <a:pathLst>
                <a:path w="5605145" h="2952242">
                  <a:moveTo>
                    <a:pt x="0" y="0"/>
                  </a:moveTo>
                  <a:lnTo>
                    <a:pt x="5605145" y="0"/>
                  </a:lnTo>
                  <a:lnTo>
                    <a:pt x="5605145" y="2952242"/>
                  </a:lnTo>
                  <a:lnTo>
                    <a:pt x="0" y="29522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</p:spTree>
  </p:cSld>
  <p:clrMapOvr>
    <a:masterClrMapping/>
  </p:clrMapOvr>
  <p:transition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121140"/>
            <a:ext cx="1257300" cy="1185739"/>
            <a:chOff x="0" y="0"/>
            <a:chExt cx="1676400" cy="15809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76400" cy="1581023"/>
            </a:xfrm>
            <a:custGeom>
              <a:avLst/>
              <a:gdLst/>
              <a:ahLst/>
              <a:cxnLst/>
              <a:rect l="l" t="t" r="r" b="b"/>
              <a:pathLst>
                <a:path w="1676400" h="1581023">
                  <a:moveTo>
                    <a:pt x="0" y="0"/>
                  </a:moveTo>
                  <a:lnTo>
                    <a:pt x="1676400" y="0"/>
                  </a:lnTo>
                  <a:lnTo>
                    <a:pt x="1676400" y="1581023"/>
                  </a:lnTo>
                  <a:lnTo>
                    <a:pt x="0" y="1581023"/>
                  </a:lnTo>
                  <a:close/>
                </a:path>
              </a:pathLst>
            </a:custGeom>
            <a:solidFill>
              <a:srgbClr val="A4253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257300" y="9534525"/>
            <a:ext cx="13997121" cy="772354"/>
            <a:chOff x="0" y="0"/>
            <a:chExt cx="18662828" cy="102980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662777" cy="1029843"/>
            </a:xfrm>
            <a:custGeom>
              <a:avLst/>
              <a:gdLst/>
              <a:ahLst/>
              <a:cxnLst/>
              <a:rect l="l" t="t" r="r" b="b"/>
              <a:pathLst>
                <a:path w="18662777" h="1029843">
                  <a:moveTo>
                    <a:pt x="0" y="0"/>
                  </a:moveTo>
                  <a:lnTo>
                    <a:pt x="18662777" y="0"/>
                  </a:lnTo>
                  <a:lnTo>
                    <a:pt x="18662777" y="1029843"/>
                  </a:lnTo>
                  <a:lnTo>
                    <a:pt x="0" y="1029843"/>
                  </a:lnTo>
                  <a:close/>
                </a:path>
              </a:pathLst>
            </a:custGeom>
            <a:solidFill>
              <a:srgbClr val="A42530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4370827" y="9341517"/>
            <a:ext cx="3917173" cy="979293"/>
            <a:chOff x="0" y="0"/>
            <a:chExt cx="6491470" cy="1622868"/>
          </a:xfrm>
        </p:grpSpPr>
        <p:sp>
          <p:nvSpPr>
            <p:cNvPr id="7" name="Freeform 7" descr="A picture containing drawing  Description automatically generated"/>
            <p:cNvSpPr/>
            <p:nvPr/>
          </p:nvSpPr>
          <p:spPr>
            <a:xfrm>
              <a:off x="0" y="0"/>
              <a:ext cx="6491478" cy="1622806"/>
            </a:xfrm>
            <a:custGeom>
              <a:avLst/>
              <a:gdLst/>
              <a:ahLst/>
              <a:cxnLst/>
              <a:rect l="l" t="t" r="r" b="b"/>
              <a:pathLst>
                <a:path w="6491478" h="1622806">
                  <a:moveTo>
                    <a:pt x="0" y="0"/>
                  </a:moveTo>
                  <a:lnTo>
                    <a:pt x="6491478" y="0"/>
                  </a:lnTo>
                  <a:lnTo>
                    <a:pt x="6491478" y="1622806"/>
                  </a:lnTo>
                  <a:lnTo>
                    <a:pt x="0" y="16228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3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6902182" y="0"/>
            <a:ext cx="1452818" cy="968896"/>
            <a:chOff x="0" y="0"/>
            <a:chExt cx="1937090" cy="1291861"/>
          </a:xfrm>
        </p:grpSpPr>
        <p:sp>
          <p:nvSpPr>
            <p:cNvPr id="9" name="Freeform 9" descr="A close up of a sign  Description automatically generated"/>
            <p:cNvSpPr/>
            <p:nvPr/>
          </p:nvSpPr>
          <p:spPr>
            <a:xfrm>
              <a:off x="0" y="0"/>
              <a:ext cx="1937131" cy="1291884"/>
            </a:xfrm>
            <a:custGeom>
              <a:avLst/>
              <a:gdLst/>
              <a:ahLst/>
              <a:cxnLst/>
              <a:rect l="l" t="t" r="r" b="b"/>
              <a:pathLst>
                <a:path w="1937131" h="1291884">
                  <a:moveTo>
                    <a:pt x="0" y="0"/>
                  </a:moveTo>
                  <a:lnTo>
                    <a:pt x="1937131" y="0"/>
                  </a:lnTo>
                  <a:lnTo>
                    <a:pt x="1937131" y="1291884"/>
                  </a:lnTo>
                  <a:lnTo>
                    <a:pt x="0" y="12918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" t="-5884" b="-6094"/>
              </a:stretch>
            </a:blipFill>
          </p:spPr>
        </p:sp>
      </p:grpSp>
      <p:sp>
        <p:nvSpPr>
          <p:cNvPr id="10" name="Freeform 10"/>
          <p:cNvSpPr/>
          <p:nvPr/>
        </p:nvSpPr>
        <p:spPr>
          <a:xfrm>
            <a:off x="1475133" y="1197438"/>
            <a:ext cx="15337733" cy="6949910"/>
          </a:xfrm>
          <a:custGeom>
            <a:avLst/>
            <a:gdLst/>
            <a:ahLst/>
            <a:cxnLst/>
            <a:rect l="l" t="t" r="r" b="b"/>
            <a:pathLst>
              <a:path w="15337733" h="6949910">
                <a:moveTo>
                  <a:pt x="0" y="0"/>
                </a:moveTo>
                <a:lnTo>
                  <a:pt x="15337734" y="0"/>
                </a:lnTo>
                <a:lnTo>
                  <a:pt x="15337734" y="6949911"/>
                </a:lnTo>
                <a:lnTo>
                  <a:pt x="0" y="69499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  <p:transition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342351"/>
            <a:ext cx="1257300" cy="964528"/>
            <a:chOff x="0" y="0"/>
            <a:chExt cx="1676400" cy="128603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76400" cy="1286075"/>
            </a:xfrm>
            <a:custGeom>
              <a:avLst/>
              <a:gdLst/>
              <a:ahLst/>
              <a:cxnLst/>
              <a:rect l="l" t="t" r="r" b="b"/>
              <a:pathLst>
                <a:path w="1676400" h="1286075">
                  <a:moveTo>
                    <a:pt x="0" y="0"/>
                  </a:moveTo>
                  <a:lnTo>
                    <a:pt x="1676400" y="0"/>
                  </a:lnTo>
                  <a:lnTo>
                    <a:pt x="1676400" y="1286075"/>
                  </a:lnTo>
                  <a:lnTo>
                    <a:pt x="0" y="1286075"/>
                  </a:lnTo>
                  <a:close/>
                </a:path>
              </a:pathLst>
            </a:custGeom>
            <a:solidFill>
              <a:srgbClr val="A4253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257300" y="9534525"/>
            <a:ext cx="13997121" cy="772354"/>
            <a:chOff x="0" y="0"/>
            <a:chExt cx="18662828" cy="102980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662777" cy="1029843"/>
            </a:xfrm>
            <a:custGeom>
              <a:avLst/>
              <a:gdLst/>
              <a:ahLst/>
              <a:cxnLst/>
              <a:rect l="l" t="t" r="r" b="b"/>
              <a:pathLst>
                <a:path w="18662777" h="1029843">
                  <a:moveTo>
                    <a:pt x="0" y="0"/>
                  </a:moveTo>
                  <a:lnTo>
                    <a:pt x="18662777" y="0"/>
                  </a:lnTo>
                  <a:lnTo>
                    <a:pt x="18662777" y="1029843"/>
                  </a:lnTo>
                  <a:lnTo>
                    <a:pt x="0" y="1029843"/>
                  </a:lnTo>
                  <a:close/>
                </a:path>
              </a:pathLst>
            </a:custGeom>
            <a:solidFill>
              <a:srgbClr val="A42530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4429891" y="9342351"/>
            <a:ext cx="3858109" cy="964528"/>
            <a:chOff x="0" y="0"/>
            <a:chExt cx="6491470" cy="1622868"/>
          </a:xfrm>
        </p:grpSpPr>
        <p:sp>
          <p:nvSpPr>
            <p:cNvPr id="7" name="Freeform 7" descr="A picture containing drawing  Description automatically generated"/>
            <p:cNvSpPr/>
            <p:nvPr/>
          </p:nvSpPr>
          <p:spPr>
            <a:xfrm>
              <a:off x="0" y="0"/>
              <a:ext cx="6491478" cy="1622806"/>
            </a:xfrm>
            <a:custGeom>
              <a:avLst/>
              <a:gdLst/>
              <a:ahLst/>
              <a:cxnLst/>
              <a:rect l="l" t="t" r="r" b="b"/>
              <a:pathLst>
                <a:path w="6491478" h="1622806">
                  <a:moveTo>
                    <a:pt x="0" y="0"/>
                  </a:moveTo>
                  <a:lnTo>
                    <a:pt x="6491478" y="0"/>
                  </a:lnTo>
                  <a:lnTo>
                    <a:pt x="6491478" y="1622806"/>
                  </a:lnTo>
                  <a:lnTo>
                    <a:pt x="0" y="16228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3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6902182" y="0"/>
            <a:ext cx="1452818" cy="968896"/>
            <a:chOff x="0" y="0"/>
            <a:chExt cx="1937090" cy="1291861"/>
          </a:xfrm>
        </p:grpSpPr>
        <p:sp>
          <p:nvSpPr>
            <p:cNvPr id="9" name="Freeform 9" descr="A close up of a sign  Description automatically generated"/>
            <p:cNvSpPr/>
            <p:nvPr/>
          </p:nvSpPr>
          <p:spPr>
            <a:xfrm>
              <a:off x="0" y="0"/>
              <a:ext cx="1937131" cy="1291884"/>
            </a:xfrm>
            <a:custGeom>
              <a:avLst/>
              <a:gdLst/>
              <a:ahLst/>
              <a:cxnLst/>
              <a:rect l="l" t="t" r="r" b="b"/>
              <a:pathLst>
                <a:path w="1937131" h="1291884">
                  <a:moveTo>
                    <a:pt x="0" y="0"/>
                  </a:moveTo>
                  <a:lnTo>
                    <a:pt x="1937131" y="0"/>
                  </a:lnTo>
                  <a:lnTo>
                    <a:pt x="1937131" y="1291884"/>
                  </a:lnTo>
                  <a:lnTo>
                    <a:pt x="0" y="12918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" t="-5884" b="-6094"/>
              </a:stretch>
            </a:blipFill>
          </p:spPr>
        </p:sp>
      </p:grpSp>
      <p:sp>
        <p:nvSpPr>
          <p:cNvPr id="10" name="Freeform 10"/>
          <p:cNvSpPr/>
          <p:nvPr/>
        </p:nvSpPr>
        <p:spPr>
          <a:xfrm>
            <a:off x="1129501" y="1028700"/>
            <a:ext cx="16028999" cy="7533629"/>
          </a:xfrm>
          <a:custGeom>
            <a:avLst/>
            <a:gdLst/>
            <a:ahLst/>
            <a:cxnLst/>
            <a:rect l="l" t="t" r="r" b="b"/>
            <a:pathLst>
              <a:path w="16028999" h="7533629">
                <a:moveTo>
                  <a:pt x="0" y="0"/>
                </a:moveTo>
                <a:lnTo>
                  <a:pt x="16028998" y="0"/>
                </a:lnTo>
                <a:lnTo>
                  <a:pt x="16028998" y="7533629"/>
                </a:lnTo>
                <a:lnTo>
                  <a:pt x="0" y="753362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  <p:transition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342351"/>
            <a:ext cx="1257300" cy="964528"/>
            <a:chOff x="0" y="0"/>
            <a:chExt cx="1676400" cy="128603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76400" cy="1286075"/>
            </a:xfrm>
            <a:custGeom>
              <a:avLst/>
              <a:gdLst/>
              <a:ahLst/>
              <a:cxnLst/>
              <a:rect l="l" t="t" r="r" b="b"/>
              <a:pathLst>
                <a:path w="1676400" h="1286075">
                  <a:moveTo>
                    <a:pt x="0" y="0"/>
                  </a:moveTo>
                  <a:lnTo>
                    <a:pt x="1676400" y="0"/>
                  </a:lnTo>
                  <a:lnTo>
                    <a:pt x="1676400" y="1286075"/>
                  </a:lnTo>
                  <a:lnTo>
                    <a:pt x="0" y="1286075"/>
                  </a:lnTo>
                  <a:close/>
                </a:path>
              </a:pathLst>
            </a:custGeom>
            <a:solidFill>
              <a:srgbClr val="A4253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257300" y="9534525"/>
            <a:ext cx="13997121" cy="772354"/>
            <a:chOff x="0" y="0"/>
            <a:chExt cx="18662828" cy="102980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662777" cy="1029843"/>
            </a:xfrm>
            <a:custGeom>
              <a:avLst/>
              <a:gdLst/>
              <a:ahLst/>
              <a:cxnLst/>
              <a:rect l="l" t="t" r="r" b="b"/>
              <a:pathLst>
                <a:path w="18662777" h="1029843">
                  <a:moveTo>
                    <a:pt x="0" y="0"/>
                  </a:moveTo>
                  <a:lnTo>
                    <a:pt x="18662777" y="0"/>
                  </a:lnTo>
                  <a:lnTo>
                    <a:pt x="18662777" y="1029843"/>
                  </a:lnTo>
                  <a:lnTo>
                    <a:pt x="0" y="1029843"/>
                  </a:lnTo>
                  <a:close/>
                </a:path>
              </a:pathLst>
            </a:custGeom>
            <a:solidFill>
              <a:srgbClr val="A42530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4429891" y="9342351"/>
            <a:ext cx="3858109" cy="964528"/>
            <a:chOff x="0" y="0"/>
            <a:chExt cx="6491470" cy="1622868"/>
          </a:xfrm>
        </p:grpSpPr>
        <p:sp>
          <p:nvSpPr>
            <p:cNvPr id="7" name="Freeform 7" descr="A picture containing drawing  Description automatically generated"/>
            <p:cNvSpPr/>
            <p:nvPr/>
          </p:nvSpPr>
          <p:spPr>
            <a:xfrm>
              <a:off x="0" y="0"/>
              <a:ext cx="6491478" cy="1622806"/>
            </a:xfrm>
            <a:custGeom>
              <a:avLst/>
              <a:gdLst/>
              <a:ahLst/>
              <a:cxnLst/>
              <a:rect l="l" t="t" r="r" b="b"/>
              <a:pathLst>
                <a:path w="6491478" h="1622806">
                  <a:moveTo>
                    <a:pt x="0" y="0"/>
                  </a:moveTo>
                  <a:lnTo>
                    <a:pt x="6491478" y="0"/>
                  </a:lnTo>
                  <a:lnTo>
                    <a:pt x="6491478" y="1622806"/>
                  </a:lnTo>
                  <a:lnTo>
                    <a:pt x="0" y="16228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3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6902182" y="0"/>
            <a:ext cx="1452818" cy="968896"/>
            <a:chOff x="0" y="0"/>
            <a:chExt cx="1937090" cy="1291861"/>
          </a:xfrm>
        </p:grpSpPr>
        <p:sp>
          <p:nvSpPr>
            <p:cNvPr id="9" name="Freeform 9" descr="A close up of a sign  Description automatically generated"/>
            <p:cNvSpPr/>
            <p:nvPr/>
          </p:nvSpPr>
          <p:spPr>
            <a:xfrm>
              <a:off x="0" y="0"/>
              <a:ext cx="1937131" cy="1291884"/>
            </a:xfrm>
            <a:custGeom>
              <a:avLst/>
              <a:gdLst/>
              <a:ahLst/>
              <a:cxnLst/>
              <a:rect l="l" t="t" r="r" b="b"/>
              <a:pathLst>
                <a:path w="1937131" h="1291884">
                  <a:moveTo>
                    <a:pt x="0" y="0"/>
                  </a:moveTo>
                  <a:lnTo>
                    <a:pt x="1937131" y="0"/>
                  </a:lnTo>
                  <a:lnTo>
                    <a:pt x="1937131" y="1291884"/>
                  </a:lnTo>
                  <a:lnTo>
                    <a:pt x="0" y="12918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" t="-5884" b="-6094"/>
              </a:stretch>
            </a:blipFill>
          </p:spPr>
        </p:sp>
      </p:grpSp>
      <p:sp>
        <p:nvSpPr>
          <p:cNvPr id="10" name="TextBox 9"/>
          <p:cNvSpPr txBox="1"/>
          <p:nvPr/>
        </p:nvSpPr>
        <p:spPr>
          <a:xfrm>
            <a:off x="6312741" y="545515"/>
            <a:ext cx="3886200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4000" b="1" dirty="0">
                <a:solidFill>
                  <a:srgbClr val="004AAD"/>
                </a:solidFill>
                <a:latin typeface="Canva Sans Bold"/>
              </a:rPr>
              <a:t>Methodology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8082272"/>
            <a:ext cx="15910559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000" b="0" dirty="0">
                <a:solidFill>
                  <a:schemeClr val="tx2"/>
                </a:solidFill>
                <a:latin typeface="Canva Sans"/>
              </a:rPr>
              <a:t>Three encoders read three signals; one pool decides. Every stage is measured on its own before anything is combined.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2514600"/>
            <a:ext cx="4892040" cy="50292"/>
          </a:xfrm>
          <a:prstGeom prst="rect">
            <a:avLst/>
          </a:prstGeom>
          <a:solidFill>
            <a:srgbClr val="004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43000" y="2715768"/>
            <a:ext cx="4892040" cy="387798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300" b="1" dirty="0">
                <a:solidFill>
                  <a:srgbClr val="004AAD"/>
                </a:solidFill>
                <a:latin typeface="Canva Sans Bold"/>
              </a:rPr>
              <a:t>1 · Read each signal</a:t>
            </a:r>
            <a:endParaRPr lang="en-US" sz="2300" b="1" dirty="0">
              <a:solidFill>
                <a:srgbClr val="004AAD"/>
              </a:solidFill>
              <a:latin typeface="Canva Sans Bold"/>
            </a:endParaRPr>
          </a:p>
          <a:p>
            <a:pPr algn="l">
              <a:spcBef>
                <a:spcPts val="0"/>
              </a:spcBef>
            </a:pPr>
            <a:endParaRPr sz="2300" b="1" dirty="0">
              <a:solidFill>
                <a:srgbClr val="004AAD"/>
              </a:solidFill>
              <a:latin typeface="Canva Sans Bold"/>
            </a:endParaRPr>
          </a:p>
          <a:p>
            <a:pPr>
              <a:spcBef>
                <a:spcPts val="900"/>
              </a:spcBef>
            </a:pPr>
            <a:r>
              <a:rPr sz="1700" b="0" dirty="0">
                <a:solidFill>
                  <a:srgbClr val="1E2936"/>
                </a:solidFill>
                <a:latin typeface="Canva Sans"/>
              </a:rPr>
              <a:t>A Vision Transformer reads the face from the webcam. A </a:t>
            </a:r>
            <a:r>
              <a:rPr sz="1700" b="0" dirty="0" err="1">
                <a:solidFill>
                  <a:srgbClr val="1E2936"/>
                </a:solidFill>
                <a:latin typeface="Canva Sans"/>
              </a:rPr>
              <a:t>WavLM</a:t>
            </a:r>
            <a:r>
              <a:rPr sz="1700" b="0" dirty="0">
                <a:solidFill>
                  <a:srgbClr val="1E2936"/>
                </a:solidFill>
                <a:latin typeface="Canva Sans"/>
              </a:rPr>
              <a:t> speech encoder reads tone of voice from the microphone. A compact BERT reads the words that are typed.
Each is trained and evaluated independently, so a weak modality is visible before it ever reaches the fusion.</a:t>
            </a:r>
            <a:endParaRPr lang="en-US" sz="1700" b="0" dirty="0">
              <a:solidFill>
                <a:srgbClr val="1E2936"/>
              </a:solidFill>
              <a:latin typeface="Canva Sans"/>
            </a:endParaRPr>
          </a:p>
          <a:p>
            <a:pPr>
              <a:spcBef>
                <a:spcPts val="900"/>
              </a:spcBef>
            </a:pPr>
            <a:endParaRPr sz="1700" b="0" dirty="0">
              <a:solidFill>
                <a:srgbClr val="1E2936"/>
              </a:solidFill>
              <a:latin typeface="Canva San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675120" y="2514600"/>
            <a:ext cx="4892040" cy="50292"/>
          </a:xfrm>
          <a:prstGeom prst="rect">
            <a:avLst/>
          </a:prstGeom>
          <a:solidFill>
            <a:srgbClr val="004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75120" y="2715768"/>
            <a:ext cx="4892040" cy="384720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300" b="1" dirty="0">
                <a:solidFill>
                  <a:srgbClr val="004AAD"/>
                </a:solidFill>
                <a:latin typeface="Canva Sans Bold"/>
              </a:rPr>
              <a:t>2 · Speak one language</a:t>
            </a:r>
            <a:endParaRPr lang="en-US" sz="2300" b="1" dirty="0">
              <a:solidFill>
                <a:srgbClr val="004AAD"/>
              </a:solidFill>
              <a:latin typeface="Canva Sans Bold"/>
            </a:endParaRPr>
          </a:p>
          <a:p>
            <a:pPr algn="l">
              <a:spcBef>
                <a:spcPts val="0"/>
              </a:spcBef>
            </a:pPr>
            <a:endParaRPr sz="2300" b="1" dirty="0">
              <a:solidFill>
                <a:srgbClr val="004AAD"/>
              </a:solidFill>
              <a:latin typeface="Canva Sans Bold"/>
            </a:endParaRPr>
          </a:p>
          <a:p>
            <a:pPr>
              <a:spcBef>
                <a:spcPts val="900"/>
              </a:spcBef>
            </a:pPr>
            <a:r>
              <a:rPr sz="1700" b="0" dirty="0">
                <a:solidFill>
                  <a:srgbClr val="1E2936"/>
                </a:solidFill>
                <a:latin typeface="Canva Sans"/>
              </a:rPr>
              <a:t>All three emit a probability over the SAME seven emotions, in the same order.
That shared label space is what makes fusion arithmetic rather than translation - vector positions already mean the same thing.</a:t>
            </a:r>
            <a:endParaRPr lang="en-US" sz="1700" b="0" dirty="0">
              <a:solidFill>
                <a:srgbClr val="1E2936"/>
              </a:solidFill>
              <a:latin typeface="Canva Sans"/>
            </a:endParaRPr>
          </a:p>
          <a:p>
            <a:pPr>
              <a:spcBef>
                <a:spcPts val="900"/>
              </a:spcBef>
            </a:pPr>
            <a:endParaRPr lang="en-IN" sz="1700" dirty="0">
              <a:solidFill>
                <a:srgbClr val="1E2936"/>
              </a:solidFill>
              <a:latin typeface="Canva Sans"/>
            </a:endParaRPr>
          </a:p>
          <a:p>
            <a:pPr>
              <a:spcBef>
                <a:spcPts val="900"/>
              </a:spcBef>
            </a:pPr>
            <a:endParaRPr lang="en-IN" sz="1700" b="0" dirty="0">
              <a:solidFill>
                <a:srgbClr val="1E2936"/>
              </a:solidFill>
              <a:latin typeface="Canva Sans"/>
            </a:endParaRPr>
          </a:p>
          <a:p>
            <a:pPr>
              <a:spcBef>
                <a:spcPts val="900"/>
              </a:spcBef>
            </a:pPr>
            <a:endParaRPr lang="en-IN" sz="1700" dirty="0">
              <a:solidFill>
                <a:srgbClr val="1E2936"/>
              </a:solidFill>
              <a:latin typeface="Canva San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2207240" y="2514600"/>
            <a:ext cx="4892040" cy="50292"/>
          </a:xfrm>
          <a:prstGeom prst="rect">
            <a:avLst/>
          </a:prstGeom>
          <a:solidFill>
            <a:srgbClr val="004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2207240" y="2715768"/>
            <a:ext cx="4892040" cy="399340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lang="en-IN" sz="2300" b="1" dirty="0">
                <a:solidFill>
                  <a:srgbClr val="004AAD"/>
                </a:solidFill>
                <a:latin typeface="Canva Sans Bold"/>
              </a:rPr>
              <a:t>3 · Weigh, then decide</a:t>
            </a:r>
          </a:p>
          <a:p>
            <a:pPr algn="l">
              <a:spcBef>
                <a:spcPts val="0"/>
              </a:spcBef>
            </a:pPr>
            <a:endParaRPr lang="en-IN" sz="2300" b="1" dirty="0">
              <a:solidFill>
                <a:srgbClr val="004AAD"/>
              </a:solidFill>
              <a:latin typeface="Canva Sans Bold"/>
            </a:endParaRPr>
          </a:p>
          <a:p>
            <a:pPr>
              <a:spcBef>
                <a:spcPts val="900"/>
              </a:spcBef>
            </a:pPr>
            <a:r>
              <a:rPr sz="1700" b="0" dirty="0">
                <a:solidFill>
                  <a:srgbClr val="1E2936"/>
                </a:solidFill>
                <a:latin typeface="Canva Sans"/>
              </a:rPr>
              <a:t>A weighted logarithmic opinion pool combines them. The weight on each modality is not fixed</a:t>
            </a:r>
            <a:endParaRPr lang="en-US" sz="1700" b="0" dirty="0">
              <a:solidFill>
                <a:srgbClr val="1E2936"/>
              </a:solidFill>
              <a:latin typeface="Canva Sans"/>
            </a:endParaRPr>
          </a:p>
          <a:p>
            <a:pPr>
              <a:spcBef>
                <a:spcPts val="900"/>
              </a:spcBef>
            </a:pPr>
            <a:endParaRPr lang="en-IN" sz="1700" dirty="0">
              <a:solidFill>
                <a:srgbClr val="1E2936"/>
              </a:solidFill>
              <a:latin typeface="Canva Sans"/>
            </a:endParaRPr>
          </a:p>
          <a:p>
            <a:pPr>
              <a:spcBef>
                <a:spcPts val="900"/>
              </a:spcBef>
            </a:pPr>
            <a:r>
              <a:rPr sz="1700" b="0" dirty="0">
                <a:solidFill>
                  <a:srgbClr val="1E2936"/>
                </a:solidFill>
                <a:latin typeface="Canva Sans"/>
              </a:rPr>
              <a:t> it tracks how much THIS observation deserves to be trusted - image quality, how recently the voice was heard, how long the message was.</a:t>
            </a:r>
            <a:endParaRPr lang="en-US" sz="1700" b="0" dirty="0">
              <a:solidFill>
                <a:srgbClr val="1E2936"/>
              </a:solidFill>
              <a:latin typeface="Canva Sans"/>
            </a:endParaRPr>
          </a:p>
          <a:p>
            <a:pPr>
              <a:spcBef>
                <a:spcPts val="900"/>
              </a:spcBef>
            </a:pPr>
            <a:endParaRPr lang="en-IN" sz="1700" b="0" dirty="0">
              <a:solidFill>
                <a:srgbClr val="1E2936"/>
              </a:solidFill>
              <a:latin typeface="Canva Sans"/>
            </a:endParaRPr>
          </a:p>
          <a:p>
            <a:pPr>
              <a:spcBef>
                <a:spcPts val="900"/>
              </a:spcBef>
            </a:pPr>
            <a:endParaRPr sz="1700" b="0" dirty="0">
              <a:solidFill>
                <a:srgbClr val="1E2936"/>
              </a:solidFill>
              <a:latin typeface="Canva San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06837" y="6743983"/>
            <a:ext cx="4892040" cy="9541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900" b="1" dirty="0">
                <a:solidFill>
                  <a:srgbClr val="1F8A4C"/>
                </a:solidFill>
                <a:latin typeface="Canva Sans Bold"/>
              </a:rPr>
              <a:t>face 52% · voice 50% · text 33%</a:t>
            </a:r>
          </a:p>
          <a:p>
            <a:pPr>
              <a:spcBef>
                <a:spcPts val="600"/>
              </a:spcBef>
            </a:pPr>
            <a:r>
              <a:rPr sz="1600" b="0" dirty="0">
                <a:solidFill>
                  <a:srgbClr val="5A6472"/>
                </a:solidFill>
                <a:latin typeface="Canva Sans"/>
              </a:rPr>
              <a:t>each measured alone, on data it was never trained 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6743974"/>
            <a:ext cx="4892040" cy="9541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900" b="1" dirty="0">
                <a:solidFill>
                  <a:srgbClr val="1F8A4C"/>
                </a:solidFill>
                <a:latin typeface="Canva Sans Bold"/>
              </a:rPr>
              <a:t>7 classes, one order</a:t>
            </a:r>
          </a:p>
          <a:p>
            <a:pPr>
              <a:spcBef>
                <a:spcPts val="600"/>
              </a:spcBef>
            </a:pPr>
            <a:r>
              <a:rPr sz="1600" b="0" dirty="0">
                <a:solidFill>
                  <a:srgbClr val="5A6472"/>
                </a:solidFill>
                <a:latin typeface="Canva Sans"/>
              </a:rPr>
              <a:t>angry · disgust · fear · happy · neutral · sad · surprise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243403" y="6867084"/>
            <a:ext cx="4892040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900" b="1" dirty="0">
                <a:solidFill>
                  <a:srgbClr val="1F8A4C"/>
                </a:solidFill>
                <a:latin typeface="Canva Sans Bold"/>
              </a:rPr>
              <a:t>55.4% fused</a:t>
            </a:r>
          </a:p>
          <a:p>
            <a:pPr>
              <a:spcBef>
                <a:spcPts val="600"/>
              </a:spcBef>
            </a:pPr>
            <a:r>
              <a:rPr sz="1600" b="0" dirty="0">
                <a:solidFill>
                  <a:srgbClr val="5A6472"/>
                </a:solidFill>
                <a:latin typeface="Canva Sans"/>
              </a:rPr>
              <a:t>+3.3 accuracy over</a:t>
            </a:r>
            <a:r>
              <a:rPr lang="en-IN" sz="1600" dirty="0">
                <a:solidFill>
                  <a:srgbClr val="5A6472"/>
                </a:solidFill>
                <a:latin typeface="Canva Sans"/>
              </a:rPr>
              <a:t>the</a:t>
            </a:r>
            <a:r>
              <a:rPr sz="1600" b="0" dirty="0">
                <a:solidFill>
                  <a:srgbClr val="5A6472"/>
                </a:solidFill>
                <a:latin typeface="Canva Sans"/>
              </a:rPr>
              <a:t> best single modality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8366760"/>
            <a:ext cx="1600200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000" b="0" dirty="0">
                <a:solidFill>
                  <a:srgbClr val="5A6472"/>
                </a:solidFill>
                <a:latin typeface="Canva Sans"/>
              </a:rPr>
              <a:t>Design rule throughout: a modality that is uncertain should lose influence automatically, not be switched off by hand.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342351"/>
            <a:ext cx="1257300" cy="964528"/>
            <a:chOff x="0" y="0"/>
            <a:chExt cx="1676400" cy="128603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76400" cy="1286075"/>
            </a:xfrm>
            <a:custGeom>
              <a:avLst/>
              <a:gdLst/>
              <a:ahLst/>
              <a:cxnLst/>
              <a:rect l="l" t="t" r="r" b="b"/>
              <a:pathLst>
                <a:path w="1676400" h="1286075">
                  <a:moveTo>
                    <a:pt x="0" y="0"/>
                  </a:moveTo>
                  <a:lnTo>
                    <a:pt x="1676400" y="0"/>
                  </a:lnTo>
                  <a:lnTo>
                    <a:pt x="1676400" y="1286075"/>
                  </a:lnTo>
                  <a:lnTo>
                    <a:pt x="0" y="1286075"/>
                  </a:lnTo>
                  <a:close/>
                </a:path>
              </a:pathLst>
            </a:custGeom>
            <a:solidFill>
              <a:srgbClr val="A4253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257300" y="9534525"/>
            <a:ext cx="13997121" cy="772354"/>
            <a:chOff x="0" y="0"/>
            <a:chExt cx="18662828" cy="102980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662777" cy="1029843"/>
            </a:xfrm>
            <a:custGeom>
              <a:avLst/>
              <a:gdLst/>
              <a:ahLst/>
              <a:cxnLst/>
              <a:rect l="l" t="t" r="r" b="b"/>
              <a:pathLst>
                <a:path w="18662777" h="1029843">
                  <a:moveTo>
                    <a:pt x="0" y="0"/>
                  </a:moveTo>
                  <a:lnTo>
                    <a:pt x="18662777" y="0"/>
                  </a:lnTo>
                  <a:lnTo>
                    <a:pt x="18662777" y="1029843"/>
                  </a:lnTo>
                  <a:lnTo>
                    <a:pt x="0" y="1029843"/>
                  </a:lnTo>
                  <a:close/>
                </a:path>
              </a:pathLst>
            </a:custGeom>
            <a:solidFill>
              <a:srgbClr val="A42530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4429891" y="9342351"/>
            <a:ext cx="3858109" cy="964528"/>
            <a:chOff x="0" y="0"/>
            <a:chExt cx="6491470" cy="1622868"/>
          </a:xfrm>
        </p:grpSpPr>
        <p:sp>
          <p:nvSpPr>
            <p:cNvPr id="7" name="Freeform 7" descr="A picture containing drawing  Description automatically generated"/>
            <p:cNvSpPr/>
            <p:nvPr/>
          </p:nvSpPr>
          <p:spPr>
            <a:xfrm>
              <a:off x="0" y="0"/>
              <a:ext cx="6491478" cy="1622806"/>
            </a:xfrm>
            <a:custGeom>
              <a:avLst/>
              <a:gdLst/>
              <a:ahLst/>
              <a:cxnLst/>
              <a:rect l="l" t="t" r="r" b="b"/>
              <a:pathLst>
                <a:path w="6491478" h="1622806">
                  <a:moveTo>
                    <a:pt x="0" y="0"/>
                  </a:moveTo>
                  <a:lnTo>
                    <a:pt x="6491478" y="0"/>
                  </a:lnTo>
                  <a:lnTo>
                    <a:pt x="6491478" y="1622806"/>
                  </a:lnTo>
                  <a:lnTo>
                    <a:pt x="0" y="16228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3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6902182" y="0"/>
            <a:ext cx="1452818" cy="968896"/>
            <a:chOff x="0" y="0"/>
            <a:chExt cx="1937090" cy="1291861"/>
          </a:xfrm>
        </p:grpSpPr>
        <p:sp>
          <p:nvSpPr>
            <p:cNvPr id="9" name="Freeform 9" descr="A close up of a sign  Description automatically generated"/>
            <p:cNvSpPr/>
            <p:nvPr/>
          </p:nvSpPr>
          <p:spPr>
            <a:xfrm>
              <a:off x="0" y="0"/>
              <a:ext cx="1937131" cy="1291884"/>
            </a:xfrm>
            <a:custGeom>
              <a:avLst/>
              <a:gdLst/>
              <a:ahLst/>
              <a:cxnLst/>
              <a:rect l="l" t="t" r="r" b="b"/>
              <a:pathLst>
                <a:path w="1937131" h="1291884">
                  <a:moveTo>
                    <a:pt x="0" y="0"/>
                  </a:moveTo>
                  <a:lnTo>
                    <a:pt x="1937131" y="0"/>
                  </a:lnTo>
                  <a:lnTo>
                    <a:pt x="1937131" y="1291884"/>
                  </a:lnTo>
                  <a:lnTo>
                    <a:pt x="0" y="12918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" t="-5884" b="-6094"/>
              </a:stretch>
            </a:blipFill>
          </p:spPr>
        </p:sp>
      </p:grpSp>
      <p:sp>
        <p:nvSpPr>
          <p:cNvPr id="10" name="TextBox 9"/>
          <p:cNvSpPr txBox="1"/>
          <p:nvPr/>
        </p:nvSpPr>
        <p:spPr>
          <a:xfrm>
            <a:off x="1143000" y="475488"/>
            <a:ext cx="160020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4000" b="1">
                <a:solidFill>
                  <a:srgbClr val="004AAD"/>
                </a:solidFill>
                <a:latin typeface="Canva Sans Bold"/>
              </a:rPr>
              <a:t>System 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0432" y="1389888"/>
            <a:ext cx="1591055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700" b="0">
                <a:solidFill>
                  <a:srgbClr val="5A6472"/>
                </a:solidFill>
                <a:latin typeface="Canva Sans"/>
              </a:rPr>
              <a:t>Three independent encoders, one shared label space, one reliability-weighted pool.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7F8992A-96D1-A430-0173-97E3D72B05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7300" y="2311602"/>
            <a:ext cx="15283129" cy="658551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342351"/>
            <a:ext cx="1257300" cy="964528"/>
            <a:chOff x="0" y="0"/>
            <a:chExt cx="1676400" cy="128603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76400" cy="1286075"/>
            </a:xfrm>
            <a:custGeom>
              <a:avLst/>
              <a:gdLst/>
              <a:ahLst/>
              <a:cxnLst/>
              <a:rect l="l" t="t" r="r" b="b"/>
              <a:pathLst>
                <a:path w="1676400" h="1286075">
                  <a:moveTo>
                    <a:pt x="0" y="0"/>
                  </a:moveTo>
                  <a:lnTo>
                    <a:pt x="1676400" y="0"/>
                  </a:lnTo>
                  <a:lnTo>
                    <a:pt x="1676400" y="1286075"/>
                  </a:lnTo>
                  <a:lnTo>
                    <a:pt x="0" y="1286075"/>
                  </a:lnTo>
                  <a:close/>
                </a:path>
              </a:pathLst>
            </a:custGeom>
            <a:solidFill>
              <a:srgbClr val="A4253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257300" y="9534525"/>
            <a:ext cx="13997121" cy="772354"/>
            <a:chOff x="0" y="0"/>
            <a:chExt cx="18662828" cy="102980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662777" cy="1029843"/>
            </a:xfrm>
            <a:custGeom>
              <a:avLst/>
              <a:gdLst/>
              <a:ahLst/>
              <a:cxnLst/>
              <a:rect l="l" t="t" r="r" b="b"/>
              <a:pathLst>
                <a:path w="18662777" h="1029843">
                  <a:moveTo>
                    <a:pt x="0" y="0"/>
                  </a:moveTo>
                  <a:lnTo>
                    <a:pt x="18662777" y="0"/>
                  </a:lnTo>
                  <a:lnTo>
                    <a:pt x="18662777" y="1029843"/>
                  </a:lnTo>
                  <a:lnTo>
                    <a:pt x="0" y="1029843"/>
                  </a:lnTo>
                  <a:close/>
                </a:path>
              </a:pathLst>
            </a:custGeom>
            <a:solidFill>
              <a:srgbClr val="A42530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4429891" y="9342351"/>
            <a:ext cx="3858109" cy="964528"/>
            <a:chOff x="0" y="0"/>
            <a:chExt cx="6491470" cy="1622868"/>
          </a:xfrm>
        </p:grpSpPr>
        <p:sp>
          <p:nvSpPr>
            <p:cNvPr id="7" name="Freeform 7" descr="A picture containing drawing  Description automatically generated"/>
            <p:cNvSpPr/>
            <p:nvPr/>
          </p:nvSpPr>
          <p:spPr>
            <a:xfrm>
              <a:off x="0" y="0"/>
              <a:ext cx="6491478" cy="1622806"/>
            </a:xfrm>
            <a:custGeom>
              <a:avLst/>
              <a:gdLst/>
              <a:ahLst/>
              <a:cxnLst/>
              <a:rect l="l" t="t" r="r" b="b"/>
              <a:pathLst>
                <a:path w="6491478" h="1622806">
                  <a:moveTo>
                    <a:pt x="0" y="0"/>
                  </a:moveTo>
                  <a:lnTo>
                    <a:pt x="6491478" y="0"/>
                  </a:lnTo>
                  <a:lnTo>
                    <a:pt x="6491478" y="1622806"/>
                  </a:lnTo>
                  <a:lnTo>
                    <a:pt x="0" y="16228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3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6902182" y="0"/>
            <a:ext cx="1452818" cy="968896"/>
            <a:chOff x="0" y="0"/>
            <a:chExt cx="1937090" cy="1291861"/>
          </a:xfrm>
        </p:grpSpPr>
        <p:sp>
          <p:nvSpPr>
            <p:cNvPr id="9" name="Freeform 9" descr="A close up of a sign  Description automatically generated"/>
            <p:cNvSpPr/>
            <p:nvPr/>
          </p:nvSpPr>
          <p:spPr>
            <a:xfrm>
              <a:off x="0" y="0"/>
              <a:ext cx="1937131" cy="1291884"/>
            </a:xfrm>
            <a:custGeom>
              <a:avLst/>
              <a:gdLst/>
              <a:ahLst/>
              <a:cxnLst/>
              <a:rect l="l" t="t" r="r" b="b"/>
              <a:pathLst>
                <a:path w="1937131" h="1291884">
                  <a:moveTo>
                    <a:pt x="0" y="0"/>
                  </a:moveTo>
                  <a:lnTo>
                    <a:pt x="1937131" y="0"/>
                  </a:lnTo>
                  <a:lnTo>
                    <a:pt x="1937131" y="1291884"/>
                  </a:lnTo>
                  <a:lnTo>
                    <a:pt x="0" y="12918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" t="-5884" b="-6094"/>
              </a:stretch>
            </a:blipFill>
          </p:spPr>
        </p:sp>
      </p:grpSp>
      <p:sp>
        <p:nvSpPr>
          <p:cNvPr id="10" name="TextBox 9"/>
          <p:cNvSpPr txBox="1"/>
          <p:nvPr/>
        </p:nvSpPr>
        <p:spPr>
          <a:xfrm>
            <a:off x="1143000" y="475488"/>
            <a:ext cx="160020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4000" b="1">
                <a:solidFill>
                  <a:srgbClr val="004AAD"/>
                </a:solidFill>
                <a:latin typeface="Canva Sans Bold"/>
              </a:rPr>
              <a:t>User Flow</a:t>
            </a:r>
          </a:p>
        </p:txBody>
      </p:sp>
      <p:pic>
        <p:nvPicPr>
          <p:cNvPr id="12" name="Picture 11" descr="diagram_userfl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1896" y="1200730"/>
            <a:ext cx="13904208" cy="812690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342351"/>
            <a:ext cx="1257300" cy="964528"/>
            <a:chOff x="0" y="0"/>
            <a:chExt cx="1676400" cy="128603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76400" cy="1286075"/>
            </a:xfrm>
            <a:custGeom>
              <a:avLst/>
              <a:gdLst/>
              <a:ahLst/>
              <a:cxnLst/>
              <a:rect l="l" t="t" r="r" b="b"/>
              <a:pathLst>
                <a:path w="1676400" h="1286075">
                  <a:moveTo>
                    <a:pt x="0" y="0"/>
                  </a:moveTo>
                  <a:lnTo>
                    <a:pt x="1676400" y="0"/>
                  </a:lnTo>
                  <a:lnTo>
                    <a:pt x="1676400" y="1286075"/>
                  </a:lnTo>
                  <a:lnTo>
                    <a:pt x="0" y="1286075"/>
                  </a:lnTo>
                  <a:close/>
                </a:path>
              </a:pathLst>
            </a:custGeom>
            <a:solidFill>
              <a:srgbClr val="A4253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257300" y="9534525"/>
            <a:ext cx="13997121" cy="772354"/>
            <a:chOff x="0" y="0"/>
            <a:chExt cx="18662828" cy="102980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662777" cy="1029843"/>
            </a:xfrm>
            <a:custGeom>
              <a:avLst/>
              <a:gdLst/>
              <a:ahLst/>
              <a:cxnLst/>
              <a:rect l="l" t="t" r="r" b="b"/>
              <a:pathLst>
                <a:path w="18662777" h="1029843">
                  <a:moveTo>
                    <a:pt x="0" y="0"/>
                  </a:moveTo>
                  <a:lnTo>
                    <a:pt x="18662777" y="0"/>
                  </a:lnTo>
                  <a:lnTo>
                    <a:pt x="18662777" y="1029843"/>
                  </a:lnTo>
                  <a:lnTo>
                    <a:pt x="0" y="1029843"/>
                  </a:lnTo>
                  <a:close/>
                </a:path>
              </a:pathLst>
            </a:custGeom>
            <a:solidFill>
              <a:srgbClr val="A42530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4429891" y="9342351"/>
            <a:ext cx="3858109" cy="964528"/>
            <a:chOff x="0" y="0"/>
            <a:chExt cx="6491470" cy="1622868"/>
          </a:xfrm>
        </p:grpSpPr>
        <p:sp>
          <p:nvSpPr>
            <p:cNvPr id="7" name="Freeform 7" descr="A picture containing drawing  Description automatically generated"/>
            <p:cNvSpPr/>
            <p:nvPr/>
          </p:nvSpPr>
          <p:spPr>
            <a:xfrm>
              <a:off x="0" y="0"/>
              <a:ext cx="6491478" cy="1622806"/>
            </a:xfrm>
            <a:custGeom>
              <a:avLst/>
              <a:gdLst/>
              <a:ahLst/>
              <a:cxnLst/>
              <a:rect l="l" t="t" r="r" b="b"/>
              <a:pathLst>
                <a:path w="6491478" h="1622806">
                  <a:moveTo>
                    <a:pt x="0" y="0"/>
                  </a:moveTo>
                  <a:lnTo>
                    <a:pt x="6491478" y="0"/>
                  </a:lnTo>
                  <a:lnTo>
                    <a:pt x="6491478" y="1622806"/>
                  </a:lnTo>
                  <a:lnTo>
                    <a:pt x="0" y="16228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3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6902182" y="0"/>
            <a:ext cx="1452818" cy="968896"/>
            <a:chOff x="0" y="0"/>
            <a:chExt cx="1937090" cy="1291861"/>
          </a:xfrm>
        </p:grpSpPr>
        <p:sp>
          <p:nvSpPr>
            <p:cNvPr id="9" name="Freeform 9" descr="A close up of a sign  Description automatically generated"/>
            <p:cNvSpPr/>
            <p:nvPr/>
          </p:nvSpPr>
          <p:spPr>
            <a:xfrm>
              <a:off x="0" y="0"/>
              <a:ext cx="1937131" cy="1291884"/>
            </a:xfrm>
            <a:custGeom>
              <a:avLst/>
              <a:gdLst/>
              <a:ahLst/>
              <a:cxnLst/>
              <a:rect l="l" t="t" r="r" b="b"/>
              <a:pathLst>
                <a:path w="1937131" h="1291884">
                  <a:moveTo>
                    <a:pt x="0" y="0"/>
                  </a:moveTo>
                  <a:lnTo>
                    <a:pt x="1937131" y="0"/>
                  </a:lnTo>
                  <a:lnTo>
                    <a:pt x="1937131" y="1291884"/>
                  </a:lnTo>
                  <a:lnTo>
                    <a:pt x="0" y="12918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" t="-5884" b="-6094"/>
              </a:stretch>
            </a:blipFill>
          </p:spPr>
        </p:sp>
      </p:grpSp>
      <p:sp>
        <p:nvSpPr>
          <p:cNvPr id="10" name="TextBox Title"/>
          <p:cNvSpPr txBox="1"/>
          <p:nvPr/>
        </p:nvSpPr>
        <p:spPr>
          <a:xfrm>
            <a:off x="1143000" y="475488"/>
            <a:ext cx="160020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4000" b="1" dirty="0">
                <a:solidFill>
                  <a:srgbClr val="004AAD"/>
                </a:solidFill>
                <a:latin typeface="Canva Sans Bold"/>
              </a:rPr>
              <a:t>Technology Stack</a:t>
            </a:r>
            <a:endParaRPr lang="en-US" sz="4000" b="1" dirty="0">
              <a:solidFill>
                <a:srgbClr val="004AAD"/>
              </a:solidFill>
              <a:latin typeface="Canva Sans Bold"/>
            </a:endParaRPr>
          </a:p>
        </p:txBody>
      </p:sp>
      <p:sp>
        <p:nvSpPr>
          <p:cNvPr id="11" name="TextBox Subtitle"/>
          <p:cNvSpPr txBox="1"/>
          <p:nvPr/>
        </p:nvSpPr>
        <p:spPr>
          <a:xfrm>
            <a:off x="1170432" y="1389888"/>
            <a:ext cx="15910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700" b="0" dirty="0">
                <a:solidFill>
                  <a:srgbClr val="1E2936"/>
                </a:solidFill>
                <a:latin typeface="Canva Sans"/>
              </a:rPr>
              <a:t>Three models, one Python process, no framework on the client - every choice sized to run on a single machine.</a:t>
            </a:r>
            <a:endParaRPr lang="en-US" sz="1700" b="0" dirty="0">
              <a:solidFill>
                <a:srgbClr val="1E2936"/>
              </a:solidFill>
              <a:latin typeface="Canva Sans"/>
            </a:endParaRPr>
          </a:p>
        </p:txBody>
      </p:sp>
      <p:sp>
        <p:nvSpPr>
          <p:cNvPr id="100" name="Rule 100"/>
          <p:cNvSpPr/>
          <p:nvPr/>
        </p:nvSpPr>
        <p:spPr>
          <a:xfrm>
            <a:off x="1143000" y="2697480"/>
            <a:ext cx="4892040" cy="50292"/>
          </a:xfrm>
          <a:prstGeom prst="rect">
            <a:avLst/>
          </a:prstGeom>
          <a:solidFill>
            <a:srgbClr val="1C9CC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Card 101"/>
          <p:cNvSpPr txBox="1"/>
          <p:nvPr/>
        </p:nvSpPr>
        <p:spPr>
          <a:xfrm>
            <a:off x="1143000" y="2880360"/>
            <a:ext cx="4892040" cy="323748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lang="en-US" sz="2400" b="1" dirty="0">
                <a:solidFill>
                  <a:srgbClr val="1C9CC0"/>
                </a:solidFill>
                <a:latin typeface="Canva Sans Bold"/>
              </a:rPr>
              <a:t>Train</a:t>
            </a:r>
            <a:endParaRPr lang="en-US" sz="2400" b="1" dirty="0">
              <a:solidFill>
                <a:srgbClr val="1C9CC0"/>
              </a:solidFill>
              <a:latin typeface="Canva Sans Bold"/>
            </a:endParaRPr>
          </a:p>
          <a:p>
            <a:pPr algn="l">
              <a:spcBef>
                <a:spcPts val="900"/>
              </a:spcBef>
            </a:pPr>
            <a:r>
              <a:rPr lang="en-US" sz="1500" b="1" dirty="0">
                <a:solidFill>
                  <a:srgbClr val="1C9CC0"/>
                </a:solidFill>
                <a:latin typeface="Canva Sans Bold"/>
              </a:rPr>
              <a:t>Framework  </a:t>
            </a:r>
            <a:r>
              <a:rPr lang="en-US" sz="1500" b="0" dirty="0">
                <a:solidFill>
                  <a:srgbClr val="1E2936"/>
                </a:solidFill>
                <a:latin typeface="Canva Sans"/>
              </a:rPr>
              <a:t>PyTorch 2.x + HuggingFace Transformers</a:t>
            </a:r>
            <a:endParaRPr lang="en-US" sz="1500" b="0" dirty="0">
              <a:solidFill>
                <a:srgbClr val="1E2936"/>
              </a:solidFill>
              <a:latin typeface="Canva Sans"/>
            </a:endParaRPr>
          </a:p>
          <a:p>
            <a:pPr algn="l">
              <a:spcBef>
                <a:spcPts val="500"/>
              </a:spcBef>
            </a:pPr>
            <a:r>
              <a:rPr lang="en-US" sz="1500" b="1" dirty="0">
                <a:solidFill>
                  <a:srgbClr val="1C9CC0"/>
                </a:solidFill>
                <a:latin typeface="Canva Sans Bold"/>
              </a:rPr>
              <a:t>Face  </a:t>
            </a:r>
            <a:r>
              <a:rPr lang="en-US" sz="1500" b="0" dirty="0">
                <a:solidFill>
                  <a:srgbClr val="1E2936"/>
                </a:solidFill>
                <a:latin typeface="Canva Sans"/>
              </a:rPr>
              <a:t>ViT-Base/16, fine-tuned on four merged face corpora</a:t>
            </a:r>
            <a:endParaRPr lang="en-US" sz="1500" b="0" dirty="0">
              <a:solidFill>
                <a:srgbClr val="1E2936"/>
              </a:solidFill>
              <a:latin typeface="Canva Sans"/>
            </a:endParaRPr>
          </a:p>
          <a:p>
            <a:pPr algn="l">
              <a:spcBef>
                <a:spcPts val="500"/>
              </a:spcBef>
            </a:pPr>
            <a:r>
              <a:rPr lang="en-US" sz="1500" b="1" dirty="0">
                <a:solidFill>
                  <a:srgbClr val="1C9CC0"/>
                </a:solidFill>
                <a:latin typeface="Canva Sans Bold"/>
              </a:rPr>
              <a:t>Voice  </a:t>
            </a:r>
            <a:r>
              <a:rPr lang="en-US" sz="1500" b="0" dirty="0">
                <a:solidFill>
                  <a:srgbClr val="1E2936"/>
                </a:solidFill>
                <a:latin typeface="Canva Sans"/>
              </a:rPr>
              <a:t>WavLM-base+, 23k clips, speaker-disjoint splits</a:t>
            </a:r>
            <a:endParaRPr lang="en-US" sz="1500" b="0" dirty="0">
              <a:solidFill>
                <a:srgbClr val="1E2936"/>
              </a:solidFill>
              <a:latin typeface="Canva Sans"/>
            </a:endParaRPr>
          </a:p>
          <a:p>
            <a:pPr algn="l">
              <a:spcBef>
                <a:spcPts val="500"/>
              </a:spcBef>
            </a:pPr>
            <a:r>
              <a:rPr lang="en-US" sz="1500" b="1" dirty="0">
                <a:solidFill>
                  <a:srgbClr val="1C9CC0"/>
                </a:solidFill>
                <a:latin typeface="Canva Sans Bold"/>
              </a:rPr>
              <a:t>Text  </a:t>
            </a:r>
            <a:r>
              <a:rPr lang="en-US" sz="1500" b="0" dirty="0">
                <a:solidFill>
                  <a:srgbClr val="1E2936"/>
                </a:solidFill>
                <a:latin typeface="Canva Sans"/>
              </a:rPr>
              <a:t>TinyBERT, fine-tuned on GoEmotions</a:t>
            </a:r>
            <a:endParaRPr lang="en-US" sz="1500" b="0" dirty="0">
              <a:solidFill>
                <a:srgbClr val="1E2936"/>
              </a:solidFill>
              <a:latin typeface="Canva Sans"/>
            </a:endParaRPr>
          </a:p>
          <a:p>
            <a:pPr algn="l">
              <a:spcBef>
                <a:spcPts val="500"/>
              </a:spcBef>
            </a:pPr>
            <a:r>
              <a:rPr lang="en-US" sz="1500" b="1" dirty="0">
                <a:solidFill>
                  <a:srgbClr val="1C9CC0"/>
                </a:solidFill>
                <a:latin typeface="Canva Sans Bold"/>
              </a:rPr>
              <a:t>Metrics  </a:t>
            </a:r>
            <a:r>
              <a:rPr lang="en-US" sz="1500" b="0" dirty="0">
                <a:solidFill>
                  <a:srgbClr val="1E2936"/>
                </a:solidFill>
                <a:latin typeface="Canva Sans"/>
              </a:rPr>
              <a:t>scikit-learn; librosa + soundfile condition audio</a:t>
            </a:r>
            <a:endParaRPr lang="en-US" sz="1500" b="0" dirty="0">
              <a:solidFill>
                <a:srgbClr val="1E2936"/>
              </a:solidFill>
              <a:latin typeface="Canva Sans"/>
            </a:endParaRPr>
          </a:p>
          <a:p>
            <a:pPr algn="l">
              <a:spcBef>
                <a:spcPts val="500"/>
              </a:spcBef>
            </a:pPr>
            <a:r>
              <a:rPr lang="en-US" sz="1500" b="1" dirty="0">
                <a:solidFill>
                  <a:srgbClr val="1C9CC0"/>
                </a:solidFill>
                <a:latin typeface="Canva Sans Bold"/>
              </a:rPr>
              <a:t>Hardware  </a:t>
            </a:r>
            <a:r>
              <a:rPr lang="en-US" sz="1500" b="0" dirty="0">
                <a:solidFill>
                  <a:srgbClr val="1E2936"/>
                </a:solidFill>
                <a:latin typeface="Canva Sans"/>
              </a:rPr>
              <a:t>one RTX 4060. No cluster, no cloud.</a:t>
            </a:r>
            <a:endParaRPr lang="en-US" sz="1500" b="0" dirty="0">
              <a:solidFill>
                <a:srgbClr val="1E2936"/>
              </a:solidFill>
              <a:latin typeface="Canva Sans"/>
            </a:endParaRPr>
          </a:p>
        </p:txBody>
      </p:sp>
      <p:sp>
        <p:nvSpPr>
          <p:cNvPr id="102" name="Rule 102"/>
          <p:cNvSpPr/>
          <p:nvPr/>
        </p:nvSpPr>
        <p:spPr>
          <a:xfrm>
            <a:off x="6675120" y="2697480"/>
            <a:ext cx="4892040" cy="50292"/>
          </a:xfrm>
          <a:prstGeom prst="rect">
            <a:avLst/>
          </a:prstGeom>
          <a:solidFill>
            <a:srgbClr val="B06E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Card 103"/>
          <p:cNvSpPr txBox="1"/>
          <p:nvPr/>
        </p:nvSpPr>
        <p:spPr>
          <a:xfrm>
            <a:off x="6675120" y="2880360"/>
            <a:ext cx="4892040" cy="323748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lang="en-US" sz="2400" b="1" dirty="0">
                <a:solidFill>
                  <a:srgbClr val="B06E00"/>
                </a:solidFill>
                <a:latin typeface="Canva Sans Bold"/>
              </a:rPr>
              <a:t>Serve</a:t>
            </a:r>
            <a:endParaRPr lang="en-US" sz="2400" b="1" dirty="0">
              <a:solidFill>
                <a:srgbClr val="B06E00"/>
              </a:solidFill>
              <a:latin typeface="Canva Sans Bold"/>
            </a:endParaRPr>
          </a:p>
          <a:p>
            <a:pPr algn="l">
              <a:spcBef>
                <a:spcPts val="900"/>
              </a:spcBef>
            </a:pPr>
            <a:r>
              <a:rPr lang="en-US" sz="1500" b="1" dirty="0">
                <a:solidFill>
                  <a:srgbClr val="B06E00"/>
                </a:solidFill>
                <a:latin typeface="Canva Sans Bold"/>
              </a:rPr>
              <a:t>API  </a:t>
            </a:r>
            <a:r>
              <a:rPr lang="en-US" sz="1500" b="0" dirty="0">
                <a:solidFill>
                  <a:srgbClr val="1E2936"/>
                </a:solidFill>
                <a:latin typeface="Canva Sans"/>
              </a:rPr>
              <a:t>FastAPI + Uvicorn</a:t>
            </a:r>
            <a:endParaRPr lang="en-US" sz="1500" b="0" dirty="0">
              <a:solidFill>
                <a:srgbClr val="1E2936"/>
              </a:solidFill>
              <a:latin typeface="Canva Sans"/>
            </a:endParaRPr>
          </a:p>
          <a:p>
            <a:pPr algn="l">
              <a:spcBef>
                <a:spcPts val="500"/>
              </a:spcBef>
            </a:pPr>
            <a:r>
              <a:rPr lang="en-US" sz="1500" b="1" dirty="0">
                <a:solidFill>
                  <a:srgbClr val="B06E00"/>
                </a:solidFill>
                <a:latin typeface="Canva Sans Bold"/>
              </a:rPr>
              <a:t>Transport  </a:t>
            </a:r>
            <a:r>
              <a:rPr lang="en-US" sz="1500" b="0" dirty="0">
                <a:solidFill>
                  <a:srgbClr val="1E2936"/>
                </a:solidFill>
                <a:latin typeface="Canva Sans"/>
              </a:rPr>
              <a:t>ONE WebSocket carries frames, 16 kHz PCM and text</a:t>
            </a:r>
            <a:endParaRPr lang="en-US" sz="1500" b="0" dirty="0">
              <a:solidFill>
                <a:srgbClr val="1E2936"/>
              </a:solidFill>
              <a:latin typeface="Canva Sans"/>
            </a:endParaRPr>
          </a:p>
          <a:p>
            <a:pPr algn="l">
              <a:spcBef>
                <a:spcPts val="500"/>
              </a:spcBef>
            </a:pPr>
            <a:r>
              <a:rPr lang="en-US" sz="1500" b="1" dirty="0">
                <a:solidFill>
                  <a:srgbClr val="B06E00"/>
                </a:solidFill>
                <a:latin typeface="Canva Sans Bold"/>
              </a:rPr>
              <a:t>Face  </a:t>
            </a:r>
            <a:r>
              <a:rPr lang="en-US" sz="1500" b="0" dirty="0">
                <a:solidFill>
                  <a:srgbClr val="1E2936"/>
                </a:solidFill>
                <a:latin typeface="Canva Sans"/>
              </a:rPr>
              <a:t>ONNX Runtime, CUDA provider, CPU fallback</a:t>
            </a:r>
            <a:endParaRPr lang="en-US" sz="1500" b="0" dirty="0">
              <a:solidFill>
                <a:srgbClr val="1E2936"/>
              </a:solidFill>
              <a:latin typeface="Canva Sans"/>
            </a:endParaRPr>
          </a:p>
          <a:p>
            <a:pPr algn="l">
              <a:spcBef>
                <a:spcPts val="500"/>
              </a:spcBef>
            </a:pPr>
            <a:r>
              <a:rPr lang="en-US" sz="1500" b="1" dirty="0">
                <a:solidFill>
                  <a:srgbClr val="B06E00"/>
                </a:solidFill>
                <a:latin typeface="Canva Sans Bold"/>
              </a:rPr>
              <a:t>Voice / Text  </a:t>
            </a:r>
            <a:r>
              <a:rPr lang="en-US" sz="1500" b="0" dirty="0">
                <a:solidFill>
                  <a:srgbClr val="1E2936"/>
                </a:solidFill>
                <a:latin typeface="Canva Sans"/>
              </a:rPr>
              <a:t>PyTorch; the 380 MB voice model loads only if asked</a:t>
            </a:r>
            <a:endParaRPr lang="en-US" sz="1500" b="0" dirty="0">
              <a:solidFill>
                <a:srgbClr val="1E2936"/>
              </a:solidFill>
              <a:latin typeface="Canva Sans"/>
            </a:endParaRPr>
          </a:p>
          <a:p>
            <a:pPr algn="l">
              <a:spcBef>
                <a:spcPts val="500"/>
              </a:spcBef>
            </a:pPr>
            <a:r>
              <a:rPr lang="en-US" sz="1500" b="1" dirty="0">
                <a:solidFill>
                  <a:srgbClr val="B06E00"/>
                </a:solidFill>
                <a:latin typeface="Canva Sans Bold"/>
              </a:rPr>
              <a:t>Detection  </a:t>
            </a:r>
            <a:r>
              <a:rPr lang="en-US" sz="1500" b="0" dirty="0">
                <a:solidFill>
                  <a:srgbClr val="1E2936"/>
                </a:solidFill>
                <a:latin typeface="Canva Sans"/>
              </a:rPr>
              <a:t>OpenCV YuNet + five-point eye-line alignment</a:t>
            </a:r>
            <a:endParaRPr lang="en-US" sz="1500" b="0" dirty="0">
              <a:solidFill>
                <a:srgbClr val="1E2936"/>
              </a:solidFill>
              <a:latin typeface="Canva Sans"/>
            </a:endParaRPr>
          </a:p>
          <a:p>
            <a:pPr algn="l">
              <a:spcBef>
                <a:spcPts val="500"/>
              </a:spcBef>
            </a:pPr>
            <a:r>
              <a:rPr lang="en-US" sz="1500" b="1" dirty="0">
                <a:solidFill>
                  <a:srgbClr val="B06E00"/>
                </a:solidFill>
                <a:latin typeface="Canva Sans Bold"/>
              </a:rPr>
              <a:t>Fusion  </a:t>
            </a:r>
            <a:r>
              <a:rPr lang="en-US" sz="1500" b="0" dirty="0">
                <a:solidFill>
                  <a:srgbClr val="1E2936"/>
                </a:solidFill>
                <a:latin typeface="Canva Sans"/>
              </a:rPr>
              <a:t>~40 lines of NumPy; constants live in reliability.json</a:t>
            </a:r>
            <a:endParaRPr lang="en-US" sz="1500" b="0" dirty="0">
              <a:solidFill>
                <a:srgbClr val="1E2936"/>
              </a:solidFill>
              <a:latin typeface="Canva Sans"/>
            </a:endParaRPr>
          </a:p>
        </p:txBody>
      </p:sp>
      <p:sp>
        <p:nvSpPr>
          <p:cNvPr id="104" name="Rule 104"/>
          <p:cNvSpPr/>
          <p:nvPr/>
        </p:nvSpPr>
        <p:spPr>
          <a:xfrm>
            <a:off x="12207240" y="2697480"/>
            <a:ext cx="4892040" cy="50292"/>
          </a:xfrm>
          <a:prstGeom prst="rect">
            <a:avLst/>
          </a:prstGeom>
          <a:solidFill>
            <a:srgbClr val="7A5EA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Card 105"/>
          <p:cNvSpPr txBox="1"/>
          <p:nvPr/>
        </p:nvSpPr>
        <p:spPr>
          <a:xfrm>
            <a:off x="12207240" y="2880360"/>
            <a:ext cx="4892040" cy="323748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lang="en-US" sz="2400" b="1" dirty="0">
                <a:solidFill>
                  <a:srgbClr val="7A5EA6"/>
                </a:solidFill>
                <a:latin typeface="Canva Sans Bold"/>
              </a:rPr>
              <a:t>Show</a:t>
            </a:r>
            <a:endParaRPr lang="en-US" sz="2400" b="1" dirty="0">
              <a:solidFill>
                <a:srgbClr val="7A5EA6"/>
              </a:solidFill>
              <a:latin typeface="Canva Sans Bold"/>
            </a:endParaRPr>
          </a:p>
          <a:p>
            <a:pPr algn="l">
              <a:spcBef>
                <a:spcPts val="900"/>
              </a:spcBef>
            </a:pPr>
            <a:r>
              <a:rPr lang="en-US" sz="1500" b="1" dirty="0">
                <a:solidFill>
                  <a:srgbClr val="7A5EA6"/>
                </a:solidFill>
                <a:latin typeface="Canva Sans Bold"/>
              </a:rPr>
              <a:t>Client  </a:t>
            </a:r>
            <a:r>
              <a:rPr lang="en-US" sz="1500" b="0" dirty="0">
                <a:solidFill>
                  <a:srgbClr val="1E2936"/>
                </a:solidFill>
                <a:latin typeface="Canva Sans"/>
              </a:rPr>
              <a:t>one HTML file. No React, no build step.</a:t>
            </a:r>
            <a:endParaRPr lang="en-US" sz="1500" b="0" dirty="0">
              <a:solidFill>
                <a:srgbClr val="1E2936"/>
              </a:solidFill>
              <a:latin typeface="Canva Sans"/>
            </a:endParaRPr>
          </a:p>
          <a:p>
            <a:pPr algn="l">
              <a:spcBef>
                <a:spcPts val="500"/>
              </a:spcBef>
            </a:pPr>
            <a:r>
              <a:rPr lang="en-US" sz="1500" b="1" dirty="0">
                <a:solidFill>
                  <a:srgbClr val="7A5EA6"/>
                </a:solidFill>
                <a:latin typeface="Canva Sans Bold"/>
              </a:rPr>
              <a:t>Video  </a:t>
            </a:r>
            <a:r>
              <a:rPr lang="en-US" sz="1500" b="0" dirty="0">
                <a:solidFill>
                  <a:srgbClr val="1E2936"/>
                </a:solidFill>
                <a:latin typeface="Canva Sans"/>
              </a:rPr>
              <a:t>getUserMedia to canvas to Base64 JPEG</a:t>
            </a:r>
            <a:endParaRPr lang="en-US" sz="1500" b="0" dirty="0">
              <a:solidFill>
                <a:srgbClr val="1E2936"/>
              </a:solidFill>
              <a:latin typeface="Canva Sans"/>
            </a:endParaRPr>
          </a:p>
          <a:p>
            <a:pPr algn="l">
              <a:spcBef>
                <a:spcPts val="500"/>
              </a:spcBef>
            </a:pPr>
            <a:r>
              <a:rPr lang="en-US" sz="1500" b="1" dirty="0">
                <a:solidFill>
                  <a:srgbClr val="7A5EA6"/>
                </a:solidFill>
                <a:latin typeface="Canva Sans Bold"/>
              </a:rPr>
              <a:t>Audio  </a:t>
            </a:r>
            <a:r>
              <a:rPr lang="en-US" sz="1500" b="0" dirty="0">
                <a:solidFill>
                  <a:srgbClr val="1E2936"/>
                </a:solidFill>
                <a:latin typeface="Canva Sans"/>
              </a:rPr>
              <a:t>AudioWorklet, mono 16 kHz windows</a:t>
            </a:r>
            <a:endParaRPr lang="en-US" sz="1500" b="0" dirty="0">
              <a:solidFill>
                <a:srgbClr val="1E2936"/>
              </a:solidFill>
              <a:latin typeface="Canva Sans"/>
            </a:endParaRPr>
          </a:p>
          <a:p>
            <a:pPr algn="l">
              <a:spcBef>
                <a:spcPts val="500"/>
              </a:spcBef>
            </a:pPr>
            <a:r>
              <a:rPr lang="en-US" sz="1500" b="1" dirty="0">
                <a:solidFill>
                  <a:srgbClr val="7A5EA6"/>
                </a:solidFill>
                <a:latin typeface="Canva Sans Bold"/>
              </a:rPr>
              <a:t>Pacing  </a:t>
            </a:r>
            <a:r>
              <a:rPr lang="en-US" sz="1500" b="0" dirty="0">
                <a:solidFill>
                  <a:srgbClr val="1E2936"/>
                </a:solidFill>
                <a:latin typeface="Canva Sans"/>
              </a:rPr>
              <a:t>next frame only when the server acknowledges the last</a:t>
            </a:r>
            <a:endParaRPr lang="en-US" sz="1500" b="0" dirty="0">
              <a:solidFill>
                <a:srgbClr val="1E2936"/>
              </a:solidFill>
              <a:latin typeface="Canva Sans"/>
            </a:endParaRPr>
          </a:p>
          <a:p>
            <a:pPr algn="l">
              <a:spcBef>
                <a:spcPts val="500"/>
              </a:spcBef>
            </a:pPr>
            <a:r>
              <a:rPr lang="en-US" sz="1500" b="1" dirty="0">
                <a:solidFill>
                  <a:srgbClr val="7A5EA6"/>
                </a:solidFill>
                <a:latin typeface="Canva Sans Bold"/>
              </a:rPr>
              <a:t>Output  </a:t>
            </a:r>
            <a:r>
              <a:rPr lang="en-US" sz="1500" b="0" dirty="0">
                <a:solidFill>
                  <a:srgbClr val="1E2936"/>
                </a:solidFill>
                <a:latin typeface="Canva Sans"/>
              </a:rPr>
              <a:t>label, three opinions, three weights, conflict flag</a:t>
            </a:r>
            <a:endParaRPr lang="en-US" sz="1500" b="0" dirty="0">
              <a:solidFill>
                <a:srgbClr val="1E2936"/>
              </a:solidFill>
              <a:latin typeface="Canva Sans"/>
            </a:endParaRPr>
          </a:p>
          <a:p>
            <a:pPr algn="l">
              <a:spcBef>
                <a:spcPts val="500"/>
              </a:spcBef>
            </a:pPr>
            <a:r>
              <a:rPr lang="en-US" sz="1500" b="1" dirty="0">
                <a:solidFill>
                  <a:srgbClr val="7A5EA6"/>
                </a:solidFill>
                <a:latin typeface="Canva Sans Bold"/>
              </a:rPr>
              <a:t>Cost  </a:t>
            </a:r>
            <a:r>
              <a:rPr lang="en-US" sz="1500" b="0" dirty="0">
                <a:solidFill>
                  <a:srgbClr val="1E2936"/>
                </a:solidFill>
                <a:latin typeface="Canva Sans"/>
              </a:rPr>
              <a:t>32 FPS face, ~16 ms a voice window, ~3 ms a message</a:t>
            </a:r>
            <a:endParaRPr lang="en-US" sz="1500" b="0" dirty="0">
              <a:solidFill>
                <a:srgbClr val="1E2936"/>
              </a:solidFill>
              <a:latin typeface="Canva Sans"/>
            </a:endParaRPr>
          </a:p>
        </p:txBody>
      </p:sp>
      <p:sp>
        <p:nvSpPr>
          <p:cNvPr id="106" name="Footer 106"/>
          <p:cNvSpPr txBox="1"/>
          <p:nvPr/>
        </p:nvSpPr>
        <p:spPr>
          <a:xfrm>
            <a:off x="1143000" y="6392164"/>
            <a:ext cx="16002000" cy="978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2000" b="1" dirty="0">
                <a:solidFill>
                  <a:srgbClr val="1E2936"/>
                </a:solidFill>
                <a:latin typeface="Canva Sans Bold"/>
              </a:rPr>
              <a:t>Why it is deliberately boring</a:t>
            </a:r>
            <a:endParaRPr lang="en-US" sz="2000" b="1" dirty="0">
              <a:solidFill>
                <a:srgbClr val="1E2936"/>
              </a:solidFill>
              <a:latin typeface="Canva Sans Bold"/>
            </a:endParaRPr>
          </a:p>
          <a:p>
            <a:pPr algn="l">
              <a:spcBef>
                <a:spcPts val="500"/>
              </a:spcBef>
            </a:pPr>
            <a:r>
              <a:rPr lang="en-US" sz="1600" b="0" dirty="0">
                <a:solidFill>
                  <a:srgbClr val="1E2936"/>
                </a:solidFill>
                <a:latin typeface="Canva Sans"/>
              </a:rPr>
              <a:t>A telemedicine deployment cannot assume a datacentre. Every piece here degrades to CPU on one machine, and the heaviest piece is opt-in - a session that never uses the microphone never loads it.</a:t>
            </a:r>
            <a:endParaRPr lang="en-US" sz="1600" b="0" dirty="0">
              <a:solidFill>
                <a:srgbClr val="1E2936"/>
              </a:solidFill>
              <a:latin typeface="Canva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342351"/>
            <a:ext cx="1257300" cy="964528"/>
            <a:chOff x="0" y="0"/>
            <a:chExt cx="1676400" cy="128603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76400" cy="1286075"/>
            </a:xfrm>
            <a:custGeom>
              <a:avLst/>
              <a:gdLst/>
              <a:ahLst/>
              <a:cxnLst/>
              <a:rect l="l" t="t" r="r" b="b"/>
              <a:pathLst>
                <a:path w="1676400" h="1286075">
                  <a:moveTo>
                    <a:pt x="0" y="0"/>
                  </a:moveTo>
                  <a:lnTo>
                    <a:pt x="1676400" y="0"/>
                  </a:lnTo>
                  <a:lnTo>
                    <a:pt x="1676400" y="1286075"/>
                  </a:lnTo>
                  <a:lnTo>
                    <a:pt x="0" y="1286075"/>
                  </a:lnTo>
                  <a:close/>
                </a:path>
              </a:pathLst>
            </a:custGeom>
            <a:solidFill>
              <a:srgbClr val="A4253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257300" y="9534525"/>
            <a:ext cx="13997121" cy="772354"/>
            <a:chOff x="0" y="0"/>
            <a:chExt cx="18662828" cy="102980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662777" cy="1029843"/>
            </a:xfrm>
            <a:custGeom>
              <a:avLst/>
              <a:gdLst/>
              <a:ahLst/>
              <a:cxnLst/>
              <a:rect l="l" t="t" r="r" b="b"/>
              <a:pathLst>
                <a:path w="18662777" h="1029843">
                  <a:moveTo>
                    <a:pt x="0" y="0"/>
                  </a:moveTo>
                  <a:lnTo>
                    <a:pt x="18662777" y="0"/>
                  </a:lnTo>
                  <a:lnTo>
                    <a:pt x="18662777" y="1029843"/>
                  </a:lnTo>
                  <a:lnTo>
                    <a:pt x="0" y="1029843"/>
                  </a:lnTo>
                  <a:close/>
                </a:path>
              </a:pathLst>
            </a:custGeom>
            <a:solidFill>
              <a:srgbClr val="A42530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4429891" y="9342351"/>
            <a:ext cx="3858109" cy="964528"/>
            <a:chOff x="0" y="0"/>
            <a:chExt cx="6491470" cy="1622868"/>
          </a:xfrm>
        </p:grpSpPr>
        <p:sp>
          <p:nvSpPr>
            <p:cNvPr id="7" name="Freeform 7" descr="A picture containing drawing  Description automatically generated"/>
            <p:cNvSpPr/>
            <p:nvPr/>
          </p:nvSpPr>
          <p:spPr>
            <a:xfrm>
              <a:off x="0" y="0"/>
              <a:ext cx="6491478" cy="1622806"/>
            </a:xfrm>
            <a:custGeom>
              <a:avLst/>
              <a:gdLst/>
              <a:ahLst/>
              <a:cxnLst/>
              <a:rect l="l" t="t" r="r" b="b"/>
              <a:pathLst>
                <a:path w="6491478" h="1622806">
                  <a:moveTo>
                    <a:pt x="0" y="0"/>
                  </a:moveTo>
                  <a:lnTo>
                    <a:pt x="6491478" y="0"/>
                  </a:lnTo>
                  <a:lnTo>
                    <a:pt x="6491478" y="1622806"/>
                  </a:lnTo>
                  <a:lnTo>
                    <a:pt x="0" y="16228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3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6902182" y="0"/>
            <a:ext cx="1452818" cy="968896"/>
            <a:chOff x="0" y="0"/>
            <a:chExt cx="1937090" cy="1291861"/>
          </a:xfrm>
        </p:grpSpPr>
        <p:sp>
          <p:nvSpPr>
            <p:cNvPr id="9" name="Freeform 9" descr="A close up of a sign  Description automatically generated"/>
            <p:cNvSpPr/>
            <p:nvPr/>
          </p:nvSpPr>
          <p:spPr>
            <a:xfrm>
              <a:off x="0" y="0"/>
              <a:ext cx="1937131" cy="1291884"/>
            </a:xfrm>
            <a:custGeom>
              <a:avLst/>
              <a:gdLst/>
              <a:ahLst/>
              <a:cxnLst/>
              <a:rect l="l" t="t" r="r" b="b"/>
              <a:pathLst>
                <a:path w="1937131" h="1291884">
                  <a:moveTo>
                    <a:pt x="0" y="0"/>
                  </a:moveTo>
                  <a:lnTo>
                    <a:pt x="1937131" y="0"/>
                  </a:lnTo>
                  <a:lnTo>
                    <a:pt x="1937131" y="1291884"/>
                  </a:lnTo>
                  <a:lnTo>
                    <a:pt x="0" y="12918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" t="-5884" b="-6094"/>
              </a:stretch>
            </a:blipFill>
          </p:spPr>
        </p:sp>
      </p:grpSp>
      <p:sp>
        <p:nvSpPr>
          <p:cNvPr id="10" name="TextBox 9"/>
          <p:cNvSpPr txBox="1"/>
          <p:nvPr/>
        </p:nvSpPr>
        <p:spPr>
          <a:xfrm>
            <a:off x="6248400" y="968913"/>
            <a:ext cx="6172200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4000" b="1" dirty="0">
                <a:solidFill>
                  <a:srgbClr val="004AAD"/>
                </a:solidFill>
                <a:latin typeface="Canva Sans Bold"/>
              </a:rPr>
              <a:t>Why Three Modalities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2697480"/>
            <a:ext cx="4892040" cy="50292"/>
          </a:xfrm>
          <a:prstGeom prst="rect">
            <a:avLst/>
          </a:prstGeom>
          <a:solidFill>
            <a:srgbClr val="1C9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43000" y="2898648"/>
            <a:ext cx="4892040" cy="363945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2800" b="1" dirty="0">
                <a:solidFill>
                  <a:srgbClr val="1C9CC0"/>
                </a:solidFill>
                <a:latin typeface="Canva Sans Bold"/>
              </a:rPr>
              <a:t>Face</a:t>
            </a:r>
            <a:endParaRPr lang="en-US" sz="2800" b="1" dirty="0">
              <a:solidFill>
                <a:srgbClr val="1C9CC0"/>
              </a:solidFill>
              <a:latin typeface="Canva Sans Bold"/>
            </a:endParaRPr>
          </a:p>
          <a:p>
            <a:pPr algn="l">
              <a:spcBef>
                <a:spcPts val="0"/>
              </a:spcBef>
            </a:pPr>
            <a:endParaRPr lang="en-IN" sz="2000" b="1" dirty="0">
              <a:solidFill>
                <a:srgbClr val="1C9CC0"/>
              </a:solidFill>
              <a:latin typeface="Canva Sans Bold"/>
            </a:endParaRPr>
          </a:p>
          <a:p>
            <a:pPr algn="l">
              <a:spcBef>
                <a:spcPts val="0"/>
              </a:spcBef>
            </a:pPr>
            <a:endParaRPr sz="2000" b="1" dirty="0">
              <a:solidFill>
                <a:srgbClr val="1C9CC0"/>
              </a:solidFill>
              <a:latin typeface="Canva Sans Bold"/>
            </a:endParaRPr>
          </a:p>
          <a:p>
            <a:pPr>
              <a:spcBef>
                <a:spcPts val="900"/>
              </a:spcBef>
            </a:pPr>
            <a:r>
              <a:rPr sz="2000" b="0" dirty="0">
                <a:solidFill>
                  <a:srgbClr val="1E2936"/>
                </a:solidFill>
                <a:latin typeface="Canva Sans"/>
              </a:rPr>
              <a:t>Always present and always current, but it is the weakest signal cross-dataset: 74% on its own test set, 52% on faces it has never seen. A still face is also genuinely ambiguous.</a:t>
            </a:r>
            <a:endParaRPr lang="en-US" sz="2000" b="0" dirty="0">
              <a:solidFill>
                <a:srgbClr val="1E2936"/>
              </a:solidFill>
              <a:latin typeface="Canva Sans"/>
            </a:endParaRPr>
          </a:p>
          <a:p>
            <a:pPr>
              <a:spcBef>
                <a:spcPts val="900"/>
              </a:spcBef>
            </a:pPr>
            <a:endParaRPr lang="en-IN" sz="2000" dirty="0">
              <a:solidFill>
                <a:srgbClr val="1E2936"/>
              </a:solidFill>
              <a:latin typeface="Canva Sans"/>
            </a:endParaRPr>
          </a:p>
          <a:p>
            <a:pPr>
              <a:spcBef>
                <a:spcPts val="900"/>
              </a:spcBef>
            </a:pPr>
            <a:endParaRPr sz="2000" b="0" dirty="0">
              <a:solidFill>
                <a:srgbClr val="1E2936"/>
              </a:solidFill>
              <a:latin typeface="Canva San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675120" y="2697480"/>
            <a:ext cx="4892040" cy="50292"/>
          </a:xfrm>
          <a:prstGeom prst="rect">
            <a:avLst/>
          </a:prstGeom>
          <a:solidFill>
            <a:srgbClr val="B0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75120" y="2898648"/>
            <a:ext cx="4892040" cy="363945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2800" b="1" dirty="0">
                <a:solidFill>
                  <a:srgbClr val="B06E00"/>
                </a:solidFill>
                <a:latin typeface="Canva Sans Bold"/>
              </a:rPr>
              <a:t>Voice</a:t>
            </a:r>
            <a:endParaRPr lang="en-US" sz="2800" b="1" dirty="0">
              <a:solidFill>
                <a:srgbClr val="B06E00"/>
              </a:solidFill>
              <a:latin typeface="Canva Sans Bold"/>
            </a:endParaRPr>
          </a:p>
          <a:p>
            <a:pPr algn="l">
              <a:spcBef>
                <a:spcPts val="0"/>
              </a:spcBef>
            </a:pPr>
            <a:endParaRPr lang="en-IN" sz="2000" b="1" dirty="0">
              <a:solidFill>
                <a:srgbClr val="B06E00"/>
              </a:solidFill>
              <a:latin typeface="Canva Sans Bold"/>
            </a:endParaRPr>
          </a:p>
          <a:p>
            <a:pPr algn="l">
              <a:spcBef>
                <a:spcPts val="0"/>
              </a:spcBef>
            </a:pPr>
            <a:endParaRPr sz="2000" b="1" dirty="0">
              <a:solidFill>
                <a:srgbClr val="B06E00"/>
              </a:solidFill>
              <a:latin typeface="Canva Sans Bold"/>
            </a:endParaRPr>
          </a:p>
          <a:p>
            <a:pPr>
              <a:spcBef>
                <a:spcPts val="900"/>
              </a:spcBef>
            </a:pPr>
            <a:r>
              <a:rPr sz="2000" dirty="0">
                <a:solidFill>
                  <a:srgbClr val="1E2936"/>
                </a:solidFill>
                <a:latin typeface="Canva Sans"/>
              </a:rPr>
              <a:t>Carries intensity the face hides - a flat expression with a sharp voice is still distress. Strong on clear speech (69%), much weaker in a noisy room (36%), and silent when nobody talks.</a:t>
            </a:r>
            <a:endParaRPr lang="en-US" sz="2000" dirty="0">
              <a:solidFill>
                <a:srgbClr val="1E2936"/>
              </a:solidFill>
              <a:latin typeface="Canva Sans"/>
            </a:endParaRPr>
          </a:p>
          <a:p>
            <a:pPr>
              <a:spcBef>
                <a:spcPts val="900"/>
              </a:spcBef>
            </a:pPr>
            <a:endParaRPr lang="en-IN" sz="2000" dirty="0">
              <a:solidFill>
                <a:srgbClr val="1E2936"/>
              </a:solidFill>
              <a:latin typeface="Canva Sans"/>
            </a:endParaRPr>
          </a:p>
          <a:p>
            <a:pPr>
              <a:spcBef>
                <a:spcPts val="900"/>
              </a:spcBef>
            </a:pPr>
            <a:endParaRPr sz="2000" dirty="0">
              <a:solidFill>
                <a:srgbClr val="1E2936"/>
              </a:solidFill>
              <a:latin typeface="Canva San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2207240" y="2697480"/>
            <a:ext cx="4892040" cy="50292"/>
          </a:xfrm>
          <a:prstGeom prst="rect">
            <a:avLst/>
          </a:prstGeom>
          <a:solidFill>
            <a:srgbClr val="7A5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2207240" y="2898648"/>
            <a:ext cx="4892040" cy="351634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2800" b="1" dirty="0">
                <a:solidFill>
                  <a:srgbClr val="7A5EA6"/>
                </a:solidFill>
                <a:latin typeface="Canva Sans Bold"/>
              </a:rPr>
              <a:t>Text</a:t>
            </a:r>
            <a:endParaRPr lang="en-US" sz="2800" b="1" dirty="0">
              <a:solidFill>
                <a:srgbClr val="7A5EA6"/>
              </a:solidFill>
              <a:latin typeface="Canva Sans Bold"/>
            </a:endParaRPr>
          </a:p>
          <a:p>
            <a:pPr algn="l">
              <a:spcBef>
                <a:spcPts val="0"/>
              </a:spcBef>
            </a:pPr>
            <a:endParaRPr lang="en-IN" sz="2000" b="1" dirty="0">
              <a:solidFill>
                <a:srgbClr val="7A5EA6"/>
              </a:solidFill>
              <a:latin typeface="Canva Sans Bold"/>
            </a:endParaRPr>
          </a:p>
          <a:p>
            <a:pPr algn="l">
              <a:spcBef>
                <a:spcPts val="0"/>
              </a:spcBef>
            </a:pPr>
            <a:endParaRPr sz="2000" b="1" dirty="0">
              <a:solidFill>
                <a:srgbClr val="7A5EA6"/>
              </a:solidFill>
              <a:latin typeface="Canva Sans Bold"/>
            </a:endParaRPr>
          </a:p>
          <a:p>
            <a:pPr>
              <a:spcBef>
                <a:spcPts val="900"/>
              </a:spcBef>
            </a:pPr>
            <a:r>
              <a:rPr sz="2000" dirty="0">
                <a:solidFill>
                  <a:srgbClr val="1E2936"/>
                </a:solidFill>
                <a:latin typeface="Canva Sans"/>
              </a:rPr>
              <a:t>The most explicit signal when it exists, but it arrives in bursts and goes stale. A message from two minutes ago says little about how someone feels now</a:t>
            </a:r>
            <a:r>
              <a:rPr sz="2400" dirty="0">
                <a:solidFill>
                  <a:srgbClr val="1E2936"/>
                </a:solidFill>
                <a:latin typeface="Canva Sans"/>
              </a:rPr>
              <a:t>.</a:t>
            </a:r>
            <a:endParaRPr lang="en-US" sz="2400" dirty="0">
              <a:solidFill>
                <a:srgbClr val="1E2936"/>
              </a:solidFill>
              <a:latin typeface="Canva Sans"/>
            </a:endParaRPr>
          </a:p>
          <a:p>
            <a:pPr>
              <a:spcBef>
                <a:spcPts val="900"/>
              </a:spcBef>
            </a:pPr>
            <a:endParaRPr lang="en-IN" sz="2400" dirty="0">
              <a:solidFill>
                <a:srgbClr val="1E2936"/>
              </a:solidFill>
              <a:latin typeface="Canva Sans"/>
            </a:endParaRPr>
          </a:p>
          <a:p>
            <a:pPr>
              <a:spcBef>
                <a:spcPts val="900"/>
              </a:spcBef>
            </a:pPr>
            <a:endParaRPr sz="2400" dirty="0">
              <a:solidFill>
                <a:srgbClr val="1E2936"/>
              </a:solidFill>
              <a:latin typeface="Canva San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43000" y="7086600"/>
            <a:ext cx="160020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000" b="1" dirty="0">
                <a:solidFill>
                  <a:srgbClr val="1F8A4C"/>
                </a:solidFill>
                <a:latin typeface="Canva Sans Bold"/>
              </a:rPr>
              <a:t>The consequence</a:t>
            </a:r>
          </a:p>
          <a:p>
            <a:pPr>
              <a:spcBef>
                <a:spcPts val="900"/>
              </a:spcBef>
            </a:pPr>
            <a:r>
              <a:rPr sz="1600" b="0" dirty="0">
                <a:solidFill>
                  <a:srgbClr val="1E2936"/>
                </a:solidFill>
                <a:latin typeface="Canva Sans"/>
              </a:rPr>
              <a:t>Because the three fail independently, the pool can recover when any one of them is wrong - and because each carries a confidence, the fusion knows when to stop trusting it. The system reports the weights alongside the answer, so a clinician can see which signal drove the call.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342351"/>
            <a:ext cx="1257300" cy="964528"/>
            <a:chOff x="0" y="0"/>
            <a:chExt cx="1676400" cy="128603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76400" cy="1286075"/>
            </a:xfrm>
            <a:custGeom>
              <a:avLst/>
              <a:gdLst/>
              <a:ahLst/>
              <a:cxnLst/>
              <a:rect l="l" t="t" r="r" b="b"/>
              <a:pathLst>
                <a:path w="1676400" h="1286075">
                  <a:moveTo>
                    <a:pt x="0" y="0"/>
                  </a:moveTo>
                  <a:lnTo>
                    <a:pt x="1676400" y="0"/>
                  </a:lnTo>
                  <a:lnTo>
                    <a:pt x="1676400" y="1286075"/>
                  </a:lnTo>
                  <a:lnTo>
                    <a:pt x="0" y="1286075"/>
                  </a:lnTo>
                  <a:close/>
                </a:path>
              </a:pathLst>
            </a:custGeom>
            <a:solidFill>
              <a:srgbClr val="A4253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257300" y="9534525"/>
            <a:ext cx="13997121" cy="772354"/>
            <a:chOff x="0" y="0"/>
            <a:chExt cx="18662828" cy="102980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662777" cy="1029843"/>
            </a:xfrm>
            <a:custGeom>
              <a:avLst/>
              <a:gdLst/>
              <a:ahLst/>
              <a:cxnLst/>
              <a:rect l="l" t="t" r="r" b="b"/>
              <a:pathLst>
                <a:path w="18662777" h="1029843">
                  <a:moveTo>
                    <a:pt x="0" y="0"/>
                  </a:moveTo>
                  <a:lnTo>
                    <a:pt x="18662777" y="0"/>
                  </a:lnTo>
                  <a:lnTo>
                    <a:pt x="18662777" y="1029843"/>
                  </a:lnTo>
                  <a:lnTo>
                    <a:pt x="0" y="1029843"/>
                  </a:lnTo>
                  <a:close/>
                </a:path>
              </a:pathLst>
            </a:custGeom>
            <a:solidFill>
              <a:srgbClr val="A42530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4429891" y="9342351"/>
            <a:ext cx="3858109" cy="964528"/>
            <a:chOff x="0" y="0"/>
            <a:chExt cx="6491470" cy="1622868"/>
          </a:xfrm>
        </p:grpSpPr>
        <p:sp>
          <p:nvSpPr>
            <p:cNvPr id="7" name="Freeform 7" descr="A picture containing drawing  Description automatically generated"/>
            <p:cNvSpPr/>
            <p:nvPr/>
          </p:nvSpPr>
          <p:spPr>
            <a:xfrm>
              <a:off x="0" y="0"/>
              <a:ext cx="6491478" cy="1622806"/>
            </a:xfrm>
            <a:custGeom>
              <a:avLst/>
              <a:gdLst/>
              <a:ahLst/>
              <a:cxnLst/>
              <a:rect l="l" t="t" r="r" b="b"/>
              <a:pathLst>
                <a:path w="6491478" h="1622806">
                  <a:moveTo>
                    <a:pt x="0" y="0"/>
                  </a:moveTo>
                  <a:lnTo>
                    <a:pt x="6491478" y="0"/>
                  </a:lnTo>
                  <a:lnTo>
                    <a:pt x="6491478" y="1622806"/>
                  </a:lnTo>
                  <a:lnTo>
                    <a:pt x="0" y="16228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3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6902182" y="0"/>
            <a:ext cx="1452818" cy="968896"/>
            <a:chOff x="0" y="0"/>
            <a:chExt cx="1937090" cy="1291861"/>
          </a:xfrm>
        </p:grpSpPr>
        <p:sp>
          <p:nvSpPr>
            <p:cNvPr id="9" name="Freeform 9" descr="A close up of a sign  Description automatically generated"/>
            <p:cNvSpPr/>
            <p:nvPr/>
          </p:nvSpPr>
          <p:spPr>
            <a:xfrm>
              <a:off x="0" y="0"/>
              <a:ext cx="1937131" cy="1291884"/>
            </a:xfrm>
            <a:custGeom>
              <a:avLst/>
              <a:gdLst/>
              <a:ahLst/>
              <a:cxnLst/>
              <a:rect l="l" t="t" r="r" b="b"/>
              <a:pathLst>
                <a:path w="1937131" h="1291884">
                  <a:moveTo>
                    <a:pt x="0" y="0"/>
                  </a:moveTo>
                  <a:lnTo>
                    <a:pt x="1937131" y="0"/>
                  </a:lnTo>
                  <a:lnTo>
                    <a:pt x="1937131" y="1291884"/>
                  </a:lnTo>
                  <a:lnTo>
                    <a:pt x="0" y="12918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" t="-5884" b="-6094"/>
              </a:stretch>
            </a:blipFill>
          </p:spPr>
        </p:sp>
      </p:grpSp>
      <p:sp>
        <p:nvSpPr>
          <p:cNvPr id="10" name="TextBox Title"/>
          <p:cNvSpPr txBox="1"/>
          <p:nvPr/>
        </p:nvSpPr>
        <p:spPr>
          <a:xfrm>
            <a:off x="1143000" y="475488"/>
            <a:ext cx="160020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4000" b="1" dirty="0">
                <a:solidFill>
                  <a:srgbClr val="004AAD"/>
                </a:solidFill>
                <a:latin typeface="Canva Sans Bold"/>
              </a:rPr>
              <a:t>Meet the Three Encoders</a:t>
            </a:r>
            <a:endParaRPr lang="en-US" sz="4000" b="1" dirty="0">
              <a:solidFill>
                <a:srgbClr val="004AAD"/>
              </a:solidFill>
              <a:latin typeface="Canva Sans Bold"/>
            </a:endParaRPr>
          </a:p>
        </p:txBody>
      </p:sp>
      <p:sp>
        <p:nvSpPr>
          <p:cNvPr id="11" name="TextBox Subtitle"/>
          <p:cNvSpPr txBox="1"/>
          <p:nvPr/>
        </p:nvSpPr>
        <p:spPr>
          <a:xfrm>
            <a:off x="1170432" y="1389888"/>
            <a:ext cx="15910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700" b="0" dirty="0">
                <a:solidFill>
                  <a:srgbClr val="1E2936"/>
                </a:solidFill>
                <a:latin typeface="Canva Sans"/>
              </a:rPr>
              <a:t>What each model actually is, and the one property that makes it right for its signal.</a:t>
            </a:r>
            <a:endParaRPr lang="en-US" sz="1700" b="0" dirty="0">
              <a:solidFill>
                <a:srgbClr val="1E2936"/>
              </a:solidFill>
              <a:latin typeface="Canva Sans"/>
            </a:endParaRPr>
          </a:p>
        </p:txBody>
      </p:sp>
      <p:sp>
        <p:nvSpPr>
          <p:cNvPr id="100" name="Rule 100"/>
          <p:cNvSpPr/>
          <p:nvPr/>
        </p:nvSpPr>
        <p:spPr>
          <a:xfrm>
            <a:off x="1143000" y="2697480"/>
            <a:ext cx="4892040" cy="50292"/>
          </a:xfrm>
          <a:prstGeom prst="rect">
            <a:avLst/>
          </a:prstGeom>
          <a:solidFill>
            <a:srgbClr val="1C9CC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Card 101"/>
          <p:cNvSpPr txBox="1"/>
          <p:nvPr/>
        </p:nvSpPr>
        <p:spPr>
          <a:xfrm>
            <a:off x="1143000" y="2880360"/>
            <a:ext cx="4892040" cy="304698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lang="en-US" sz="2400" b="1" dirty="0">
                <a:solidFill>
                  <a:srgbClr val="1C9CC0"/>
                </a:solidFill>
                <a:latin typeface="Canva Sans Bold"/>
              </a:rPr>
              <a:t>ViT-Base/16  ·  the face</a:t>
            </a:r>
            <a:endParaRPr lang="en-US" sz="2400" b="1" dirty="0">
              <a:solidFill>
                <a:srgbClr val="1C9CC0"/>
              </a:solidFill>
              <a:latin typeface="Canva Sans Bold"/>
            </a:endParaRPr>
          </a:p>
          <a:p>
            <a:pPr algn="l">
              <a:spcBef>
                <a:spcPts val="900"/>
              </a:spcBef>
            </a:pPr>
            <a:r>
              <a:rPr lang="en-US" sz="1500" b="1" dirty="0">
                <a:solidFill>
                  <a:srgbClr val="1C9CC0"/>
                </a:solidFill>
                <a:latin typeface="Canva Sans Bold"/>
              </a:rPr>
              <a:t>What it is  </a:t>
            </a:r>
            <a:r>
              <a:rPr lang="en-US" sz="1500" b="0" dirty="0">
                <a:solidFill>
                  <a:srgbClr val="1E2936"/>
                </a:solidFill>
                <a:latin typeface="Canva Sans"/>
              </a:rPr>
              <a:t>A transformer that cuts the face into 16x16 patches and lets every patch look at every other patch at once.</a:t>
            </a:r>
            <a:endParaRPr lang="en-US" sz="1500" b="0" dirty="0">
              <a:solidFill>
                <a:srgbClr val="1E2936"/>
              </a:solidFill>
              <a:latin typeface="Canva Sans"/>
            </a:endParaRPr>
          </a:p>
          <a:p>
            <a:pPr algn="l">
              <a:spcBef>
                <a:spcPts val="500"/>
              </a:spcBef>
            </a:pPr>
            <a:r>
              <a:rPr lang="en-US" sz="1500" b="1" dirty="0">
                <a:solidFill>
                  <a:srgbClr val="1C9CC0"/>
                </a:solidFill>
                <a:latin typeface="Canva Sans Bold"/>
              </a:rPr>
              <a:t>Why that fits  </a:t>
            </a:r>
            <a:r>
              <a:rPr lang="en-US" sz="1500" b="0" dirty="0">
                <a:solidFill>
                  <a:srgbClr val="1E2936"/>
                </a:solidFill>
                <a:latin typeface="Canva Sans"/>
              </a:rPr>
              <a:t>Angry and sad differ in how the brow and the mouth move TOGETHER. Attention links two distant regions in one step; a small-kernel CNN needs depth to reach across the face.</a:t>
            </a:r>
            <a:endParaRPr lang="en-US" sz="1500" b="0" dirty="0">
              <a:solidFill>
                <a:srgbClr val="1E2936"/>
              </a:solidFill>
              <a:latin typeface="Canva Sans"/>
            </a:endParaRPr>
          </a:p>
          <a:p>
            <a:pPr algn="l">
              <a:spcBef>
                <a:spcPts val="500"/>
              </a:spcBef>
            </a:pPr>
            <a:r>
              <a:rPr lang="en-US" sz="1500" b="1" dirty="0">
                <a:solidFill>
                  <a:srgbClr val="1C9CC0"/>
                </a:solidFill>
                <a:latin typeface="Canva Sans Bold"/>
              </a:rPr>
              <a:t>In our system  </a:t>
            </a:r>
            <a:r>
              <a:rPr lang="en-US" sz="1500" b="0" dirty="0">
                <a:solidFill>
                  <a:srgbClr val="1E2936"/>
                </a:solidFill>
                <a:latin typeface="Canva Sans"/>
              </a:rPr>
              <a:t>86M parameters, fine-tuned on four face datasets, exported to ONNX. 6.6 ms a frame.</a:t>
            </a:r>
            <a:endParaRPr lang="en-US" sz="1500" b="0" dirty="0">
              <a:solidFill>
                <a:srgbClr val="1E2936"/>
              </a:solidFill>
              <a:latin typeface="Canva Sans"/>
            </a:endParaRPr>
          </a:p>
        </p:txBody>
      </p:sp>
      <p:sp>
        <p:nvSpPr>
          <p:cNvPr id="102" name="Rule 102"/>
          <p:cNvSpPr/>
          <p:nvPr/>
        </p:nvSpPr>
        <p:spPr>
          <a:xfrm>
            <a:off x="6675120" y="2697480"/>
            <a:ext cx="4892040" cy="50292"/>
          </a:xfrm>
          <a:prstGeom prst="rect">
            <a:avLst/>
          </a:prstGeom>
          <a:solidFill>
            <a:srgbClr val="B06E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Card 103"/>
          <p:cNvSpPr txBox="1"/>
          <p:nvPr/>
        </p:nvSpPr>
        <p:spPr>
          <a:xfrm>
            <a:off x="6675120" y="2880360"/>
            <a:ext cx="4892040" cy="304698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lang="en-US" sz="2400" b="1" dirty="0">
                <a:solidFill>
                  <a:srgbClr val="B06E00"/>
                </a:solidFill>
                <a:latin typeface="Canva Sans Bold"/>
              </a:rPr>
              <a:t>WavLM-base+  ·  the voice</a:t>
            </a:r>
            <a:endParaRPr lang="en-US" sz="2400" b="1" dirty="0">
              <a:solidFill>
                <a:srgbClr val="B06E00"/>
              </a:solidFill>
              <a:latin typeface="Canva Sans Bold"/>
            </a:endParaRPr>
          </a:p>
          <a:p>
            <a:pPr algn="l">
              <a:spcBef>
                <a:spcPts val="900"/>
              </a:spcBef>
            </a:pPr>
            <a:r>
              <a:rPr lang="en-US" sz="1500" b="1" dirty="0">
                <a:solidFill>
                  <a:srgbClr val="B06E00"/>
                </a:solidFill>
                <a:latin typeface="Canva Sans Bold"/>
              </a:rPr>
              <a:t>What it is  </a:t>
            </a:r>
            <a:r>
              <a:rPr lang="en-US" sz="1500" b="0" dirty="0">
                <a:solidFill>
                  <a:srgbClr val="1E2936"/>
                </a:solidFill>
                <a:latin typeface="Canva Sans"/>
              </a:rPr>
              <a:t>A speech model pre-trained by listening to ~94,000 hours of unlabelled speech and learning to fill in masked-out audio. It saw no emotion labels at that stage.</a:t>
            </a:r>
            <a:endParaRPr lang="en-US" sz="1500" b="0" dirty="0">
              <a:solidFill>
                <a:srgbClr val="1E2936"/>
              </a:solidFill>
              <a:latin typeface="Canva Sans"/>
            </a:endParaRPr>
          </a:p>
          <a:p>
            <a:pPr algn="l">
              <a:spcBef>
                <a:spcPts val="500"/>
              </a:spcBef>
            </a:pPr>
            <a:r>
              <a:rPr lang="en-US" sz="1500" b="1" dirty="0">
                <a:solidFill>
                  <a:srgbClr val="B06E00"/>
                </a:solidFill>
                <a:latin typeface="Canva Sans Bold"/>
              </a:rPr>
              <a:t>Why that fits  </a:t>
            </a:r>
            <a:r>
              <a:rPr lang="en-US" sz="1500" b="0" dirty="0">
                <a:solidFill>
                  <a:srgbClr val="1E2936"/>
                </a:solidFill>
                <a:latin typeface="Canva Sans"/>
              </a:rPr>
              <a:t>That pre-training teaches it what voices DO - pitch, timing, strain. Our 4,179 labelled clips could never teach that from scratch.</a:t>
            </a:r>
            <a:endParaRPr lang="en-US" sz="1500" b="0" dirty="0">
              <a:solidFill>
                <a:srgbClr val="1E2936"/>
              </a:solidFill>
              <a:latin typeface="Canva Sans"/>
            </a:endParaRPr>
          </a:p>
          <a:p>
            <a:pPr algn="l">
              <a:spcBef>
                <a:spcPts val="500"/>
              </a:spcBef>
            </a:pPr>
            <a:r>
              <a:rPr lang="en-US" sz="1500" b="1" dirty="0">
                <a:solidFill>
                  <a:srgbClr val="B06E00"/>
                </a:solidFill>
                <a:latin typeface="Canva Sans Bold"/>
              </a:rPr>
              <a:t>In our system  </a:t>
            </a:r>
            <a:r>
              <a:rPr lang="en-US" sz="1500" b="0" dirty="0">
                <a:solidFill>
                  <a:srgbClr val="1E2936"/>
                </a:solidFill>
                <a:latin typeface="Canva Sans"/>
              </a:rPr>
              <a:t>95M parameters. Scores a 4-second window about once a second, in 16 ms.</a:t>
            </a:r>
            <a:endParaRPr lang="en-US" sz="1500" b="0" dirty="0">
              <a:solidFill>
                <a:srgbClr val="1E2936"/>
              </a:solidFill>
              <a:latin typeface="Canva Sans"/>
            </a:endParaRPr>
          </a:p>
        </p:txBody>
      </p:sp>
      <p:sp>
        <p:nvSpPr>
          <p:cNvPr id="104" name="Rule 104"/>
          <p:cNvSpPr/>
          <p:nvPr/>
        </p:nvSpPr>
        <p:spPr>
          <a:xfrm>
            <a:off x="12207240" y="2697480"/>
            <a:ext cx="4892040" cy="50292"/>
          </a:xfrm>
          <a:prstGeom prst="rect">
            <a:avLst/>
          </a:prstGeom>
          <a:solidFill>
            <a:srgbClr val="7A5EA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Card 105"/>
          <p:cNvSpPr txBox="1"/>
          <p:nvPr/>
        </p:nvSpPr>
        <p:spPr>
          <a:xfrm>
            <a:off x="12207240" y="2880360"/>
            <a:ext cx="4892040" cy="304698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lang="en-US" sz="2400" b="1" dirty="0">
                <a:solidFill>
                  <a:srgbClr val="7A5EA6"/>
                </a:solidFill>
                <a:latin typeface="Canva Sans Bold"/>
              </a:rPr>
              <a:t>TinyBERT 4L  ·  the words</a:t>
            </a:r>
            <a:endParaRPr lang="en-US" sz="2400" b="1" dirty="0">
              <a:solidFill>
                <a:srgbClr val="7A5EA6"/>
              </a:solidFill>
              <a:latin typeface="Canva Sans Bold"/>
            </a:endParaRPr>
          </a:p>
          <a:p>
            <a:pPr algn="l">
              <a:spcBef>
                <a:spcPts val="900"/>
              </a:spcBef>
            </a:pPr>
            <a:r>
              <a:rPr lang="en-US" sz="1500" b="1" dirty="0">
                <a:solidFill>
                  <a:srgbClr val="7A5EA6"/>
                </a:solidFill>
                <a:latin typeface="Canva Sans Bold"/>
              </a:rPr>
              <a:t>What it is  </a:t>
            </a:r>
            <a:r>
              <a:rPr lang="en-US" sz="1500" b="0" dirty="0">
                <a:solidFill>
                  <a:srgbClr val="1E2936"/>
                </a:solidFill>
                <a:latin typeface="Canva Sans"/>
              </a:rPr>
              <a:t>A BERT shrunk by distillation: a full size model teaches a four-layer student to copy its answers. 14.4M parameters, about an eighth of BERT-base.</a:t>
            </a:r>
            <a:endParaRPr lang="en-US" sz="1500" b="0" dirty="0">
              <a:solidFill>
                <a:srgbClr val="1E2936"/>
              </a:solidFill>
              <a:latin typeface="Canva Sans"/>
            </a:endParaRPr>
          </a:p>
          <a:p>
            <a:pPr algn="l">
              <a:spcBef>
                <a:spcPts val="500"/>
              </a:spcBef>
            </a:pPr>
            <a:r>
              <a:rPr lang="en-US" sz="1500" b="1" dirty="0">
                <a:solidFill>
                  <a:srgbClr val="7A5EA6"/>
                </a:solidFill>
                <a:latin typeface="Canva Sans Bold"/>
              </a:rPr>
              <a:t>Why that fits  </a:t>
            </a:r>
            <a:r>
              <a:rPr lang="en-US" sz="1500" b="0" dirty="0">
                <a:solidFill>
                  <a:srgbClr val="1E2936"/>
                </a:solidFill>
                <a:latin typeface="Canva Sans"/>
              </a:rPr>
              <a:t>Text is the lightest signal and must not take the budget. At 2.8 ms a message it runs on CPU beside two other models.</a:t>
            </a:r>
            <a:endParaRPr lang="en-US" sz="1500" b="0" dirty="0">
              <a:solidFill>
                <a:srgbClr val="1E2936"/>
              </a:solidFill>
              <a:latin typeface="Canva Sans"/>
            </a:endParaRPr>
          </a:p>
          <a:p>
            <a:pPr algn="l">
              <a:spcBef>
                <a:spcPts val="500"/>
              </a:spcBef>
            </a:pPr>
            <a:r>
              <a:rPr lang="en-US" sz="1500" b="1" dirty="0">
                <a:solidFill>
                  <a:srgbClr val="7A5EA6"/>
                </a:solidFill>
                <a:latin typeface="Canva Sans Bold"/>
              </a:rPr>
              <a:t>In our system  </a:t>
            </a:r>
            <a:r>
              <a:rPr lang="en-US" sz="1500" b="0" dirty="0">
                <a:solidFill>
                  <a:srgbClr val="1E2936"/>
                </a:solidFill>
                <a:latin typeface="Canva Sans"/>
              </a:rPr>
              <a:t>The GoEmotions checkpoint, because it predicts our seven classes directly.</a:t>
            </a:r>
            <a:endParaRPr lang="en-US" sz="1500" b="0" dirty="0">
              <a:solidFill>
                <a:srgbClr val="1E2936"/>
              </a:solidFill>
              <a:latin typeface="Canva Sans"/>
            </a:endParaRPr>
          </a:p>
        </p:txBody>
      </p:sp>
      <p:sp>
        <p:nvSpPr>
          <p:cNvPr id="106" name="Footer 106"/>
          <p:cNvSpPr txBox="1"/>
          <p:nvPr/>
        </p:nvSpPr>
        <p:spPr>
          <a:xfrm>
            <a:off x="1143000" y="6201664"/>
            <a:ext cx="16002000" cy="978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2000" b="1" dirty="0">
                <a:solidFill>
                  <a:srgbClr val="1E2936"/>
                </a:solidFill>
                <a:latin typeface="Canva Sans Bold"/>
              </a:rPr>
              <a:t>The one rule they all obey</a:t>
            </a:r>
            <a:endParaRPr lang="en-US" sz="2000" b="1" dirty="0">
              <a:solidFill>
                <a:srgbClr val="1E2936"/>
              </a:solidFill>
              <a:latin typeface="Canva Sans Bold"/>
            </a:endParaRPr>
          </a:p>
          <a:p>
            <a:pPr algn="l">
              <a:spcBef>
                <a:spcPts val="500"/>
              </a:spcBef>
            </a:pPr>
            <a:r>
              <a:rPr lang="en-US" sz="1600" b="0" dirty="0">
                <a:solidFill>
                  <a:srgbClr val="1E2936"/>
                </a:solidFill>
                <a:latin typeface="Canva Sans"/>
              </a:rPr>
              <a:t>Each outputs a probability over the SAME seven emotions in the same order, so fusing them is arithmetic rather than translation. That constraint - not accuracy - is what ruled several otherwise better models out.</a:t>
            </a:r>
            <a:endParaRPr lang="en-US" sz="1600" b="0" dirty="0">
              <a:solidFill>
                <a:srgbClr val="1E2936"/>
              </a:solidFill>
              <a:latin typeface="Canva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342351"/>
            <a:ext cx="1257300" cy="964528"/>
            <a:chOff x="0" y="0"/>
            <a:chExt cx="1676400" cy="128603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76400" cy="1286075"/>
            </a:xfrm>
            <a:custGeom>
              <a:avLst/>
              <a:gdLst/>
              <a:ahLst/>
              <a:cxnLst/>
              <a:rect l="l" t="t" r="r" b="b"/>
              <a:pathLst>
                <a:path w="1676400" h="1286075">
                  <a:moveTo>
                    <a:pt x="0" y="0"/>
                  </a:moveTo>
                  <a:lnTo>
                    <a:pt x="1676400" y="0"/>
                  </a:lnTo>
                  <a:lnTo>
                    <a:pt x="1676400" y="1286075"/>
                  </a:lnTo>
                  <a:lnTo>
                    <a:pt x="0" y="1286075"/>
                  </a:lnTo>
                  <a:close/>
                </a:path>
              </a:pathLst>
            </a:custGeom>
            <a:solidFill>
              <a:srgbClr val="A4253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257300" y="9534525"/>
            <a:ext cx="13997121" cy="772354"/>
            <a:chOff x="0" y="0"/>
            <a:chExt cx="18662828" cy="102980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662777" cy="1029843"/>
            </a:xfrm>
            <a:custGeom>
              <a:avLst/>
              <a:gdLst/>
              <a:ahLst/>
              <a:cxnLst/>
              <a:rect l="l" t="t" r="r" b="b"/>
              <a:pathLst>
                <a:path w="18662777" h="1029843">
                  <a:moveTo>
                    <a:pt x="0" y="0"/>
                  </a:moveTo>
                  <a:lnTo>
                    <a:pt x="18662777" y="0"/>
                  </a:lnTo>
                  <a:lnTo>
                    <a:pt x="18662777" y="1029843"/>
                  </a:lnTo>
                  <a:lnTo>
                    <a:pt x="0" y="1029843"/>
                  </a:lnTo>
                  <a:close/>
                </a:path>
              </a:pathLst>
            </a:custGeom>
            <a:solidFill>
              <a:srgbClr val="A42530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4429891" y="9342351"/>
            <a:ext cx="3858109" cy="964528"/>
            <a:chOff x="0" y="0"/>
            <a:chExt cx="6491470" cy="1622868"/>
          </a:xfrm>
        </p:grpSpPr>
        <p:sp>
          <p:nvSpPr>
            <p:cNvPr id="7" name="Freeform 7" descr="A picture containing drawing  Description automatically generated"/>
            <p:cNvSpPr/>
            <p:nvPr/>
          </p:nvSpPr>
          <p:spPr>
            <a:xfrm>
              <a:off x="0" y="0"/>
              <a:ext cx="6491478" cy="1622806"/>
            </a:xfrm>
            <a:custGeom>
              <a:avLst/>
              <a:gdLst/>
              <a:ahLst/>
              <a:cxnLst/>
              <a:rect l="l" t="t" r="r" b="b"/>
              <a:pathLst>
                <a:path w="6491478" h="1622806">
                  <a:moveTo>
                    <a:pt x="0" y="0"/>
                  </a:moveTo>
                  <a:lnTo>
                    <a:pt x="6491478" y="0"/>
                  </a:lnTo>
                  <a:lnTo>
                    <a:pt x="6491478" y="1622806"/>
                  </a:lnTo>
                  <a:lnTo>
                    <a:pt x="0" y="16228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3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6902182" y="0"/>
            <a:ext cx="1452818" cy="968896"/>
            <a:chOff x="0" y="0"/>
            <a:chExt cx="1937090" cy="1291861"/>
          </a:xfrm>
        </p:grpSpPr>
        <p:sp>
          <p:nvSpPr>
            <p:cNvPr id="9" name="Freeform 9" descr="A close up of a sign  Description automatically generated"/>
            <p:cNvSpPr/>
            <p:nvPr/>
          </p:nvSpPr>
          <p:spPr>
            <a:xfrm>
              <a:off x="0" y="0"/>
              <a:ext cx="1937131" cy="1291884"/>
            </a:xfrm>
            <a:custGeom>
              <a:avLst/>
              <a:gdLst/>
              <a:ahLst/>
              <a:cxnLst/>
              <a:rect l="l" t="t" r="r" b="b"/>
              <a:pathLst>
                <a:path w="1937131" h="1291884">
                  <a:moveTo>
                    <a:pt x="0" y="0"/>
                  </a:moveTo>
                  <a:lnTo>
                    <a:pt x="1937131" y="0"/>
                  </a:lnTo>
                  <a:lnTo>
                    <a:pt x="1937131" y="1291884"/>
                  </a:lnTo>
                  <a:lnTo>
                    <a:pt x="0" y="12918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" t="-5884" b="-6094"/>
              </a:stretch>
            </a:blipFill>
          </p:spPr>
        </p:sp>
      </p:grpSp>
      <p:sp>
        <p:nvSpPr>
          <p:cNvPr id="10" name="TextBox Title"/>
          <p:cNvSpPr txBox="1"/>
          <p:nvPr/>
        </p:nvSpPr>
        <p:spPr>
          <a:xfrm>
            <a:off x="1143000" y="475488"/>
            <a:ext cx="160020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4000" b="1" dirty="0">
                <a:solidFill>
                  <a:srgbClr val="004AAD"/>
                </a:solidFill>
                <a:latin typeface="Canva Sans Bold"/>
              </a:rPr>
              <a:t>Why These, Not the Alternatives</a:t>
            </a:r>
            <a:endParaRPr lang="en-US" sz="4000" b="1" dirty="0">
              <a:solidFill>
                <a:srgbClr val="004AAD"/>
              </a:solidFill>
              <a:latin typeface="Canva Sans Bold"/>
            </a:endParaRPr>
          </a:p>
        </p:txBody>
      </p:sp>
      <p:sp>
        <p:nvSpPr>
          <p:cNvPr id="11" name="TextBox Subtitle"/>
          <p:cNvSpPr txBox="1"/>
          <p:nvPr/>
        </p:nvSpPr>
        <p:spPr>
          <a:xfrm>
            <a:off x="1170432" y="1389888"/>
            <a:ext cx="15910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700" b="0" dirty="0">
                <a:solidFill>
                  <a:srgbClr val="1E2936"/>
                </a:solidFill>
                <a:latin typeface="Canva Sans"/>
              </a:rPr>
              <a:t>Each choice was measured against a named competitor on the same data. Nothing here came off a leaderboard.</a:t>
            </a:r>
            <a:endParaRPr lang="en-US" sz="1700" b="0" dirty="0">
              <a:solidFill>
                <a:srgbClr val="1E2936"/>
              </a:solidFill>
              <a:latin typeface="Canva Sans"/>
            </a:endParaRPr>
          </a:p>
        </p:txBody>
      </p:sp>
      <p:sp>
        <p:nvSpPr>
          <p:cNvPr id="100" name="Cell 100"/>
          <p:cNvSpPr txBox="1"/>
          <p:nvPr/>
        </p:nvSpPr>
        <p:spPr>
          <a:xfrm>
            <a:off x="1143000" y="2468880"/>
            <a:ext cx="2103120" cy="3266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400" b="1" dirty="0">
                <a:solidFill>
                  <a:srgbClr val="004AAD"/>
                </a:solidFill>
                <a:latin typeface="Canva Sans Bold"/>
              </a:rPr>
              <a:t>WHAT</a:t>
            </a:r>
            <a:endParaRPr lang="en-US" sz="1400" b="1" dirty="0">
              <a:solidFill>
                <a:srgbClr val="004AAD"/>
              </a:solidFill>
              <a:latin typeface="Canva Sans Bold"/>
            </a:endParaRPr>
          </a:p>
        </p:txBody>
      </p:sp>
      <p:sp>
        <p:nvSpPr>
          <p:cNvPr id="101" name="Cell 101"/>
          <p:cNvSpPr txBox="1"/>
          <p:nvPr/>
        </p:nvSpPr>
        <p:spPr>
          <a:xfrm>
            <a:off x="3429000" y="2468880"/>
            <a:ext cx="3017520" cy="3266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400" b="1" dirty="0">
                <a:solidFill>
                  <a:srgbClr val="004AAD"/>
                </a:solidFill>
                <a:latin typeface="Canva Sans Bold"/>
              </a:rPr>
              <a:t>WE CHOSE</a:t>
            </a:r>
            <a:endParaRPr lang="en-US" sz="1400" b="1" dirty="0">
              <a:solidFill>
                <a:srgbClr val="004AAD"/>
              </a:solidFill>
              <a:latin typeface="Canva Sans Bold"/>
            </a:endParaRPr>
          </a:p>
        </p:txBody>
      </p:sp>
      <p:sp>
        <p:nvSpPr>
          <p:cNvPr id="102" name="Cell 102"/>
          <p:cNvSpPr txBox="1"/>
          <p:nvPr/>
        </p:nvSpPr>
        <p:spPr>
          <a:xfrm>
            <a:off x="6720840" y="2468880"/>
            <a:ext cx="4663440" cy="3266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400" b="1" dirty="0">
                <a:solidFill>
                  <a:srgbClr val="004AAD"/>
                </a:solidFill>
                <a:latin typeface="Canva Sans Bold"/>
              </a:rPr>
              <a:t>MEASURED AGAINST</a:t>
            </a:r>
            <a:endParaRPr lang="en-US" sz="1400" b="1" dirty="0">
              <a:solidFill>
                <a:srgbClr val="004AAD"/>
              </a:solidFill>
              <a:latin typeface="Canva Sans Bold"/>
            </a:endParaRPr>
          </a:p>
        </p:txBody>
      </p:sp>
      <p:sp>
        <p:nvSpPr>
          <p:cNvPr id="103" name="Cell 103"/>
          <p:cNvSpPr txBox="1"/>
          <p:nvPr/>
        </p:nvSpPr>
        <p:spPr>
          <a:xfrm>
            <a:off x="11658600" y="2468880"/>
            <a:ext cx="5486400" cy="3266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400" b="1" dirty="0">
                <a:solidFill>
                  <a:srgbClr val="004AAD"/>
                </a:solidFill>
                <a:latin typeface="Canva Sans Bold"/>
              </a:rPr>
              <a:t>WHAT THE MEASUREMENT SAID</a:t>
            </a:r>
            <a:endParaRPr lang="en-US" sz="1400" b="1" dirty="0">
              <a:solidFill>
                <a:srgbClr val="004AAD"/>
              </a:solidFill>
              <a:latin typeface="Canva Sans Bold"/>
            </a:endParaRPr>
          </a:p>
        </p:txBody>
      </p:sp>
      <p:sp>
        <p:nvSpPr>
          <p:cNvPr id="104" name="Cell 104"/>
          <p:cNvSpPr txBox="1"/>
          <p:nvPr/>
        </p:nvSpPr>
        <p:spPr>
          <a:xfrm>
            <a:off x="1143000" y="3033268"/>
            <a:ext cx="2103120" cy="357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600" b="1" dirty="0">
                <a:solidFill>
                  <a:srgbClr val="1E2936"/>
                </a:solidFill>
                <a:latin typeface="Canva Sans Bold"/>
              </a:rPr>
              <a:t>Face</a:t>
            </a:r>
            <a:endParaRPr lang="en-US" sz="1600" b="1" dirty="0">
              <a:solidFill>
                <a:srgbClr val="1E2936"/>
              </a:solidFill>
              <a:latin typeface="Canva Sans Bold"/>
            </a:endParaRPr>
          </a:p>
        </p:txBody>
      </p:sp>
      <p:sp>
        <p:nvSpPr>
          <p:cNvPr id="105" name="Cell 105"/>
          <p:cNvSpPr txBox="1"/>
          <p:nvPr/>
        </p:nvSpPr>
        <p:spPr>
          <a:xfrm>
            <a:off x="3429000" y="3033268"/>
            <a:ext cx="3017520" cy="3421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500" b="1" dirty="0">
                <a:solidFill>
                  <a:srgbClr val="A42530"/>
                </a:solidFill>
                <a:latin typeface="Canva Sans Bold"/>
              </a:rPr>
              <a:t>ViT-Base/16 (v4)</a:t>
            </a:r>
            <a:endParaRPr lang="en-US" sz="1500" b="1" dirty="0">
              <a:solidFill>
                <a:srgbClr val="A42530"/>
              </a:solidFill>
              <a:latin typeface="Canva Sans Bold"/>
            </a:endParaRPr>
          </a:p>
        </p:txBody>
      </p:sp>
      <p:sp>
        <p:nvSpPr>
          <p:cNvPr id="106" name="Cell 106"/>
          <p:cNvSpPr txBox="1"/>
          <p:nvPr/>
        </p:nvSpPr>
        <p:spPr>
          <a:xfrm>
            <a:off x="6720840" y="3033268"/>
            <a:ext cx="4663440" cy="5745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500" b="0" dirty="0">
                <a:solidFill>
                  <a:srgbClr val="1E2936"/>
                </a:solidFill>
                <a:latin typeface="Canva Sans"/>
              </a:rPr>
              <a:t>Our own v5 (balanced sampling), v6 (label cleaning) and a v3+v4 ensemble</a:t>
            </a:r>
            <a:endParaRPr lang="en-US" sz="1500" b="0" dirty="0">
              <a:solidFill>
                <a:srgbClr val="1E2936"/>
              </a:solidFill>
              <a:latin typeface="Canva Sans"/>
            </a:endParaRPr>
          </a:p>
        </p:txBody>
      </p:sp>
      <p:sp>
        <p:nvSpPr>
          <p:cNvPr id="107" name="Cell 107"/>
          <p:cNvSpPr txBox="1"/>
          <p:nvPr/>
        </p:nvSpPr>
        <p:spPr>
          <a:xfrm>
            <a:off x="11658600" y="3033268"/>
            <a:ext cx="5486400" cy="1039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500" b="0" dirty="0">
                <a:solidFill>
                  <a:srgbClr val="1E2936"/>
                </a:solidFill>
                <a:latin typeface="Canva Sans"/>
              </a:rPr>
              <a:t>All three scored WORSE on unseen faces. v6 gained 3.6 points of validation accuracy and lost 4.3 on unseen faces - so the constraint is data diversity, not the model.</a:t>
            </a:r>
            <a:endParaRPr lang="en-US" sz="1500" b="0" dirty="0">
              <a:solidFill>
                <a:srgbClr val="1E2936"/>
              </a:solidFill>
              <a:latin typeface="Canva Sans"/>
            </a:endParaRPr>
          </a:p>
        </p:txBody>
      </p:sp>
      <p:sp>
        <p:nvSpPr>
          <p:cNvPr id="108" name="Cell 108"/>
          <p:cNvSpPr txBox="1"/>
          <p:nvPr/>
        </p:nvSpPr>
        <p:spPr>
          <a:xfrm>
            <a:off x="1143000" y="4200652"/>
            <a:ext cx="2103120" cy="357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600" b="1" dirty="0">
                <a:solidFill>
                  <a:srgbClr val="1E2936"/>
                </a:solidFill>
                <a:latin typeface="Canva Sans Bold"/>
              </a:rPr>
              <a:t>Voice</a:t>
            </a:r>
            <a:endParaRPr lang="en-US" sz="1600" b="1" dirty="0">
              <a:solidFill>
                <a:srgbClr val="1E2936"/>
              </a:solidFill>
              <a:latin typeface="Canva Sans Bold"/>
            </a:endParaRPr>
          </a:p>
        </p:txBody>
      </p:sp>
      <p:sp>
        <p:nvSpPr>
          <p:cNvPr id="109" name="Cell 109"/>
          <p:cNvSpPr txBox="1"/>
          <p:nvPr/>
        </p:nvSpPr>
        <p:spPr>
          <a:xfrm>
            <a:off x="3429000" y="4200652"/>
            <a:ext cx="3017520" cy="3421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500" b="1" dirty="0">
                <a:solidFill>
                  <a:srgbClr val="A42530"/>
                </a:solidFill>
                <a:latin typeface="Canva Sans Bold"/>
              </a:rPr>
              <a:t>WavLM-base+</a:t>
            </a:r>
            <a:endParaRPr lang="en-US" sz="1500" b="1" dirty="0">
              <a:solidFill>
                <a:srgbClr val="A42530"/>
              </a:solidFill>
              <a:latin typeface="Canva Sans Bold"/>
            </a:endParaRPr>
          </a:p>
        </p:txBody>
      </p:sp>
      <p:sp>
        <p:nvSpPr>
          <p:cNvPr id="110" name="Cell 110"/>
          <p:cNvSpPr txBox="1"/>
          <p:nvPr/>
        </p:nvSpPr>
        <p:spPr>
          <a:xfrm>
            <a:off x="6720840" y="4200652"/>
            <a:ext cx="4663440" cy="5745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500" b="0" dirty="0">
                <a:solidFill>
                  <a:srgbClr val="1E2936"/>
                </a:solidFill>
                <a:latin typeface="Canva Sans"/>
              </a:rPr>
              <a:t>This project's own MFCC-CNN, retrained unchanged on identical speaker-disjoint splits</a:t>
            </a:r>
            <a:endParaRPr lang="en-US" sz="1500" b="0" dirty="0">
              <a:solidFill>
                <a:srgbClr val="1E2936"/>
              </a:solidFill>
              <a:latin typeface="Canva Sans"/>
            </a:endParaRPr>
          </a:p>
        </p:txBody>
      </p:sp>
      <p:sp>
        <p:nvSpPr>
          <p:cNvPr id="111" name="Cell 111"/>
          <p:cNvSpPr txBox="1"/>
          <p:nvPr/>
        </p:nvSpPr>
        <p:spPr>
          <a:xfrm>
            <a:off x="11658600" y="4200652"/>
            <a:ext cx="5486400" cy="5745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500" b="0" dirty="0">
                <a:solidFill>
                  <a:srgbClr val="1E2936"/>
                </a:solidFill>
                <a:latin typeface="Canva Sans"/>
              </a:rPr>
              <a:t>Macro-F1 0.322 to 0.499. A 17.7-point gap with the data held constant, so it is attributable to the model.</a:t>
            </a:r>
            <a:endParaRPr lang="en-US" sz="1500" b="0" dirty="0">
              <a:solidFill>
                <a:srgbClr val="1E2936"/>
              </a:solidFill>
              <a:latin typeface="Canva Sans"/>
            </a:endParaRPr>
          </a:p>
        </p:txBody>
      </p:sp>
      <p:sp>
        <p:nvSpPr>
          <p:cNvPr id="112" name="Cell 112"/>
          <p:cNvSpPr txBox="1"/>
          <p:nvPr/>
        </p:nvSpPr>
        <p:spPr>
          <a:xfrm>
            <a:off x="1143000" y="4903216"/>
            <a:ext cx="2103120" cy="357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600" b="1" dirty="0">
                <a:solidFill>
                  <a:srgbClr val="1E2936"/>
                </a:solidFill>
                <a:latin typeface="Canva Sans Bold"/>
              </a:rPr>
              <a:t>Text</a:t>
            </a:r>
            <a:endParaRPr lang="en-US" sz="1600" b="1" dirty="0">
              <a:solidFill>
                <a:srgbClr val="1E2936"/>
              </a:solidFill>
              <a:latin typeface="Canva Sans Bold"/>
            </a:endParaRPr>
          </a:p>
        </p:txBody>
      </p:sp>
      <p:sp>
        <p:nvSpPr>
          <p:cNvPr id="113" name="Cell 113"/>
          <p:cNvSpPr txBox="1"/>
          <p:nvPr/>
        </p:nvSpPr>
        <p:spPr>
          <a:xfrm>
            <a:off x="3429000" y="4903216"/>
            <a:ext cx="3017520" cy="3421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500" b="1" dirty="0">
                <a:solidFill>
                  <a:srgbClr val="A42530"/>
                </a:solidFill>
                <a:latin typeface="Canva Sans Bold"/>
              </a:rPr>
              <a:t>TinyBERT 4L-312D</a:t>
            </a:r>
            <a:endParaRPr lang="en-US" sz="1500" b="1" dirty="0">
              <a:solidFill>
                <a:srgbClr val="A42530"/>
              </a:solidFill>
              <a:latin typeface="Canva Sans Bold"/>
            </a:endParaRPr>
          </a:p>
        </p:txBody>
      </p:sp>
      <p:sp>
        <p:nvSpPr>
          <p:cNvPr id="114" name="Cell 114"/>
          <p:cNvSpPr txBox="1"/>
          <p:nvPr/>
        </p:nvSpPr>
        <p:spPr>
          <a:xfrm>
            <a:off x="6720840" y="4903216"/>
            <a:ext cx="4663440" cy="5745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500" b="0" dirty="0">
                <a:solidFill>
                  <a:srgbClr val="1E2936"/>
                </a:solidFill>
                <a:latin typeface="Canva Sans"/>
              </a:rPr>
              <a:t>DistilBERT (67M) and MobileBERT (24.6M), same split</a:t>
            </a:r>
            <a:endParaRPr lang="en-US" sz="1500" b="0" dirty="0">
              <a:solidFill>
                <a:srgbClr val="1E2936"/>
              </a:solidFill>
              <a:latin typeface="Canva Sans"/>
            </a:endParaRPr>
          </a:p>
        </p:txBody>
      </p:sp>
      <p:sp>
        <p:nvSpPr>
          <p:cNvPr id="115" name="Cell 115"/>
          <p:cNvSpPr txBox="1"/>
          <p:nvPr/>
        </p:nvSpPr>
        <p:spPr>
          <a:xfrm>
            <a:off x="11658600" y="4903216"/>
            <a:ext cx="5486400" cy="5745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500" b="0" dirty="0">
                <a:solidFill>
                  <a:srgbClr val="1E2936"/>
                </a:solidFill>
                <a:latin typeface="Canva Sans"/>
              </a:rPr>
              <a:t>88.6 macro-F1 against 89.3 and 89.4. We give up 0.8 points and get 2.8 ms instead of 10.6 and 16.9.</a:t>
            </a:r>
            <a:endParaRPr lang="en-US" sz="1500" b="0" dirty="0">
              <a:solidFill>
                <a:srgbClr val="1E2936"/>
              </a:solidFill>
              <a:latin typeface="Canva Sans"/>
            </a:endParaRPr>
          </a:p>
        </p:txBody>
      </p:sp>
      <p:sp>
        <p:nvSpPr>
          <p:cNvPr id="116" name="Cell 116"/>
          <p:cNvSpPr txBox="1"/>
          <p:nvPr/>
        </p:nvSpPr>
        <p:spPr>
          <a:xfrm>
            <a:off x="1143000" y="5605780"/>
            <a:ext cx="2103120" cy="357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600" b="1" dirty="0">
                <a:solidFill>
                  <a:srgbClr val="1E2936"/>
                </a:solidFill>
                <a:latin typeface="Canva Sans Bold"/>
              </a:rPr>
              <a:t>Text head</a:t>
            </a:r>
            <a:endParaRPr lang="en-US" sz="1600" b="1" dirty="0">
              <a:solidFill>
                <a:srgbClr val="1E2936"/>
              </a:solidFill>
              <a:latin typeface="Canva Sans Bold"/>
            </a:endParaRPr>
          </a:p>
        </p:txBody>
      </p:sp>
      <p:sp>
        <p:nvSpPr>
          <p:cNvPr id="117" name="Cell 117"/>
          <p:cNvSpPr txBox="1"/>
          <p:nvPr/>
        </p:nvSpPr>
        <p:spPr>
          <a:xfrm>
            <a:off x="3429000" y="5605780"/>
            <a:ext cx="3017520" cy="3421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500" b="1" dirty="0">
                <a:solidFill>
                  <a:srgbClr val="A42530"/>
                </a:solidFill>
                <a:latin typeface="Canva Sans Bold"/>
              </a:rPr>
              <a:t>GoEmotions checkpoint</a:t>
            </a:r>
            <a:endParaRPr lang="en-US" sz="1500" b="1" dirty="0">
              <a:solidFill>
                <a:srgbClr val="A42530"/>
              </a:solidFill>
              <a:latin typeface="Canva Sans Bold"/>
            </a:endParaRPr>
          </a:p>
        </p:txBody>
      </p:sp>
      <p:sp>
        <p:nvSpPr>
          <p:cNvPr id="118" name="Cell 118"/>
          <p:cNvSpPr txBox="1"/>
          <p:nvPr/>
        </p:nvSpPr>
        <p:spPr>
          <a:xfrm>
            <a:off x="6720840" y="5605780"/>
            <a:ext cx="4663440" cy="3421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500" b="0" dirty="0">
                <a:solidFill>
                  <a:srgbClr val="1E2936"/>
                </a:solidFill>
                <a:latin typeface="Canva Sans"/>
              </a:rPr>
              <a:t>The higher-scoring 6-class MTEB checkpoint</a:t>
            </a:r>
            <a:endParaRPr lang="en-US" sz="1500" b="0" dirty="0">
              <a:solidFill>
                <a:srgbClr val="1E2936"/>
              </a:solidFill>
              <a:latin typeface="Canva Sans"/>
            </a:endParaRPr>
          </a:p>
        </p:txBody>
      </p:sp>
      <p:sp>
        <p:nvSpPr>
          <p:cNvPr id="119" name="Cell 119"/>
          <p:cNvSpPr txBox="1"/>
          <p:nvPr/>
        </p:nvSpPr>
        <p:spPr>
          <a:xfrm>
            <a:off x="11658600" y="5605780"/>
            <a:ext cx="5486400" cy="80695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500" b="0" dirty="0">
                <a:solidFill>
                  <a:srgbClr val="1E2936"/>
                </a:solidFill>
                <a:latin typeface="Canva Sans"/>
              </a:rPr>
              <a:t>MTEB cannot express 'neutral' or 'disgust'. Neutral is the most common state in a consultation, so the better score was unusable.</a:t>
            </a:r>
            <a:endParaRPr lang="en-US" sz="1500" b="0" dirty="0">
              <a:solidFill>
                <a:srgbClr val="1E2936"/>
              </a:solidFill>
              <a:latin typeface="Canva Sans"/>
            </a:endParaRPr>
          </a:p>
        </p:txBody>
      </p:sp>
      <p:sp>
        <p:nvSpPr>
          <p:cNvPr id="120" name="Cell 120"/>
          <p:cNvSpPr txBox="1"/>
          <p:nvPr/>
        </p:nvSpPr>
        <p:spPr>
          <a:xfrm>
            <a:off x="1143000" y="6540754"/>
            <a:ext cx="2103120" cy="357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600" b="1" dirty="0">
                <a:solidFill>
                  <a:srgbClr val="1E2936"/>
                </a:solidFill>
                <a:latin typeface="Canva Sans Bold"/>
              </a:rPr>
              <a:t>Fusion</a:t>
            </a:r>
            <a:endParaRPr lang="en-US" sz="1600" b="1" dirty="0">
              <a:solidFill>
                <a:srgbClr val="1E2936"/>
              </a:solidFill>
              <a:latin typeface="Canva Sans Bold"/>
            </a:endParaRPr>
          </a:p>
        </p:txBody>
      </p:sp>
      <p:sp>
        <p:nvSpPr>
          <p:cNvPr id="121" name="Cell 121"/>
          <p:cNvSpPr txBox="1"/>
          <p:nvPr/>
        </p:nvSpPr>
        <p:spPr>
          <a:xfrm>
            <a:off x="3429000" y="6540754"/>
            <a:ext cx="3017520" cy="3421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500" b="1" dirty="0">
                <a:solidFill>
                  <a:srgbClr val="A42530"/>
                </a:solidFill>
                <a:latin typeface="Canva Sans Bold"/>
              </a:rPr>
              <a:t>Logarithmic opinion pool</a:t>
            </a:r>
            <a:endParaRPr lang="en-US" sz="1500" b="1" dirty="0">
              <a:solidFill>
                <a:srgbClr val="A42530"/>
              </a:solidFill>
              <a:latin typeface="Canva Sans Bold"/>
            </a:endParaRPr>
          </a:p>
        </p:txBody>
      </p:sp>
      <p:sp>
        <p:nvSpPr>
          <p:cNvPr id="122" name="Cell 122"/>
          <p:cNvSpPr txBox="1"/>
          <p:nvPr/>
        </p:nvSpPr>
        <p:spPr>
          <a:xfrm>
            <a:off x="6720840" y="6540754"/>
            <a:ext cx="4663440" cy="3421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500" b="0" dirty="0">
                <a:solidFill>
                  <a:srgbClr val="1E2936"/>
                </a:solidFill>
                <a:latin typeface="Canva Sans"/>
              </a:rPr>
              <a:t>A learned fusion head</a:t>
            </a:r>
            <a:endParaRPr lang="en-US" sz="1500" b="0" dirty="0">
              <a:solidFill>
                <a:srgbClr val="1E2936"/>
              </a:solidFill>
              <a:latin typeface="Canva Sans"/>
            </a:endParaRPr>
          </a:p>
        </p:txBody>
      </p:sp>
      <p:sp>
        <p:nvSpPr>
          <p:cNvPr id="123" name="Cell 123"/>
          <p:cNvSpPr txBox="1"/>
          <p:nvPr/>
        </p:nvSpPr>
        <p:spPr>
          <a:xfrm>
            <a:off x="11658600" y="6540754"/>
            <a:ext cx="5486400" cy="80695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500" b="0" dirty="0">
                <a:solidFill>
                  <a:srgbClr val="1E2936"/>
                </a:solidFill>
                <a:latin typeface="Canva Sans"/>
              </a:rPr>
              <a:t>No trimodal corpus exists in this label space. A learned head would be fitted on simulated pairs and could not be audited.</a:t>
            </a:r>
            <a:endParaRPr lang="en-US" sz="1500" b="0" dirty="0">
              <a:solidFill>
                <a:srgbClr val="1E2936"/>
              </a:solidFill>
              <a:latin typeface="Canva Sans"/>
            </a:endParaRPr>
          </a:p>
        </p:txBody>
      </p:sp>
      <p:sp>
        <p:nvSpPr>
          <p:cNvPr id="124" name="Footer 124"/>
          <p:cNvSpPr txBox="1"/>
          <p:nvPr/>
        </p:nvSpPr>
        <p:spPr>
          <a:xfrm>
            <a:off x="1143000" y="7603744"/>
            <a:ext cx="16002000" cy="12268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2000" b="1" dirty="0">
                <a:solidFill>
                  <a:srgbClr val="A42530"/>
                </a:solidFill>
                <a:latin typeface="Canva Sans Bold"/>
              </a:rPr>
              <a:t>How this relates to slides 6 and 7</a:t>
            </a:r>
            <a:endParaRPr lang="en-US" sz="2000" b="1" dirty="0">
              <a:solidFill>
                <a:srgbClr val="A42530"/>
              </a:solidFill>
              <a:latin typeface="Canva Sans Bold"/>
            </a:endParaRPr>
          </a:p>
          <a:p>
            <a:pPr algn="l">
              <a:spcBef>
                <a:spcPts val="500"/>
              </a:spcBef>
            </a:pPr>
            <a:r>
              <a:rPr lang="en-US" sz="1600" b="0" dirty="0">
                <a:solidFill>
                  <a:srgbClr val="1E2936"/>
                </a:solidFill>
                <a:latin typeface="Canva Sans"/>
              </a:rPr>
              <a:t>Those slides proposed Combination A - MentalBERT, WavLM and DINOv2 - from a literature comparison. One finding survived into the built system: WavLM. MentalBERT and DINOv2 are not in the codebase; neither predicts our seven classes directly, and both exceed the CPU budget. Treat the F1 figures on slide 7 as that earlier study's, not this system's.</a:t>
            </a:r>
            <a:endParaRPr lang="en-US" sz="1600" b="0" dirty="0">
              <a:solidFill>
                <a:srgbClr val="1E2936"/>
              </a:solidFill>
              <a:latin typeface="Canva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342351"/>
            <a:ext cx="1257300" cy="964528"/>
            <a:chOff x="0" y="0"/>
            <a:chExt cx="1676400" cy="128603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76400" cy="1286075"/>
            </a:xfrm>
            <a:custGeom>
              <a:avLst/>
              <a:gdLst/>
              <a:ahLst/>
              <a:cxnLst/>
              <a:rect l="l" t="t" r="r" b="b"/>
              <a:pathLst>
                <a:path w="1676400" h="1286075">
                  <a:moveTo>
                    <a:pt x="0" y="0"/>
                  </a:moveTo>
                  <a:lnTo>
                    <a:pt x="1676400" y="0"/>
                  </a:lnTo>
                  <a:lnTo>
                    <a:pt x="1676400" y="1286075"/>
                  </a:lnTo>
                  <a:lnTo>
                    <a:pt x="0" y="1286075"/>
                  </a:lnTo>
                  <a:close/>
                </a:path>
              </a:pathLst>
            </a:custGeom>
            <a:solidFill>
              <a:srgbClr val="A4253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257300" y="9534525"/>
            <a:ext cx="13997121" cy="772354"/>
            <a:chOff x="0" y="0"/>
            <a:chExt cx="18662828" cy="102980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662777" cy="1029843"/>
            </a:xfrm>
            <a:custGeom>
              <a:avLst/>
              <a:gdLst/>
              <a:ahLst/>
              <a:cxnLst/>
              <a:rect l="l" t="t" r="r" b="b"/>
              <a:pathLst>
                <a:path w="18662777" h="1029843">
                  <a:moveTo>
                    <a:pt x="0" y="0"/>
                  </a:moveTo>
                  <a:lnTo>
                    <a:pt x="18662777" y="0"/>
                  </a:lnTo>
                  <a:lnTo>
                    <a:pt x="18662777" y="1029843"/>
                  </a:lnTo>
                  <a:lnTo>
                    <a:pt x="0" y="1029843"/>
                  </a:lnTo>
                  <a:close/>
                </a:path>
              </a:pathLst>
            </a:custGeom>
            <a:solidFill>
              <a:srgbClr val="A42530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4429891" y="9342351"/>
            <a:ext cx="3858109" cy="964528"/>
            <a:chOff x="0" y="0"/>
            <a:chExt cx="6491470" cy="1622868"/>
          </a:xfrm>
        </p:grpSpPr>
        <p:sp>
          <p:nvSpPr>
            <p:cNvPr id="7" name="Freeform 7" descr="A picture containing drawing  Description automatically generated"/>
            <p:cNvSpPr/>
            <p:nvPr/>
          </p:nvSpPr>
          <p:spPr>
            <a:xfrm>
              <a:off x="0" y="0"/>
              <a:ext cx="6491478" cy="1622806"/>
            </a:xfrm>
            <a:custGeom>
              <a:avLst/>
              <a:gdLst/>
              <a:ahLst/>
              <a:cxnLst/>
              <a:rect l="l" t="t" r="r" b="b"/>
              <a:pathLst>
                <a:path w="6491478" h="1622806">
                  <a:moveTo>
                    <a:pt x="0" y="0"/>
                  </a:moveTo>
                  <a:lnTo>
                    <a:pt x="6491478" y="0"/>
                  </a:lnTo>
                  <a:lnTo>
                    <a:pt x="6491478" y="1622806"/>
                  </a:lnTo>
                  <a:lnTo>
                    <a:pt x="0" y="16228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3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6902182" y="0"/>
            <a:ext cx="1452818" cy="968896"/>
            <a:chOff x="0" y="0"/>
            <a:chExt cx="1937090" cy="1291861"/>
          </a:xfrm>
        </p:grpSpPr>
        <p:sp>
          <p:nvSpPr>
            <p:cNvPr id="9" name="Freeform 9" descr="A close up of a sign  Description automatically generated"/>
            <p:cNvSpPr/>
            <p:nvPr/>
          </p:nvSpPr>
          <p:spPr>
            <a:xfrm>
              <a:off x="0" y="0"/>
              <a:ext cx="1937131" cy="1291884"/>
            </a:xfrm>
            <a:custGeom>
              <a:avLst/>
              <a:gdLst/>
              <a:ahLst/>
              <a:cxnLst/>
              <a:rect l="l" t="t" r="r" b="b"/>
              <a:pathLst>
                <a:path w="1937131" h="1291884">
                  <a:moveTo>
                    <a:pt x="0" y="0"/>
                  </a:moveTo>
                  <a:lnTo>
                    <a:pt x="1937131" y="0"/>
                  </a:lnTo>
                  <a:lnTo>
                    <a:pt x="1937131" y="1291884"/>
                  </a:lnTo>
                  <a:lnTo>
                    <a:pt x="0" y="12918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" t="-5884" b="-6094"/>
              </a:stretch>
            </a:blipFill>
          </p:spPr>
        </p:sp>
      </p:grpSp>
      <p:sp>
        <p:nvSpPr>
          <p:cNvPr id="10" name="TextBox 9"/>
          <p:cNvSpPr txBox="1"/>
          <p:nvPr/>
        </p:nvSpPr>
        <p:spPr>
          <a:xfrm>
            <a:off x="5468111" y="469017"/>
            <a:ext cx="7315200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4000" b="1" dirty="0">
                <a:solidFill>
                  <a:srgbClr val="004AAD"/>
                </a:solidFill>
                <a:latin typeface="Canva Sans Bold"/>
              </a:rPr>
              <a:t>Rebuilding the Audio Corpus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0432" y="1389888"/>
            <a:ext cx="1591055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700" b="0">
                <a:solidFill>
                  <a:srgbClr val="5A6472"/>
                </a:solidFill>
                <a:latin typeface="Canva Sans"/>
              </a:rPr>
              <a:t>The earlier branch shipped an audio model that was never trained, on a corpus missing two of the seven emotions.</a:t>
            </a:r>
          </a:p>
        </p:txBody>
      </p:sp>
      <p:pic>
        <p:nvPicPr>
          <p:cNvPr id="12" name="Picture 11" descr="chart_corpu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7300" y="1770727"/>
            <a:ext cx="14404571" cy="688914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43000" y="8549640"/>
            <a:ext cx="1600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0">
                <a:solidFill>
                  <a:srgbClr val="5A6472"/>
                </a:solidFill>
                <a:latin typeface="Canva Sans"/>
              </a:rPr>
              <a:t>Split by SPEAKER, not by clip. Every acted corpus has each actor perform every emotion on the same sentences, so a random split lets a model score by recognising the voice - worth 15-25 points, and the reason many published numbers look high.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342351"/>
            <a:ext cx="1257300" cy="964528"/>
            <a:chOff x="0" y="0"/>
            <a:chExt cx="1676400" cy="128603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76400" cy="1286075"/>
            </a:xfrm>
            <a:custGeom>
              <a:avLst/>
              <a:gdLst/>
              <a:ahLst/>
              <a:cxnLst/>
              <a:rect l="l" t="t" r="r" b="b"/>
              <a:pathLst>
                <a:path w="1676400" h="1286075">
                  <a:moveTo>
                    <a:pt x="0" y="0"/>
                  </a:moveTo>
                  <a:lnTo>
                    <a:pt x="1676400" y="0"/>
                  </a:lnTo>
                  <a:lnTo>
                    <a:pt x="1676400" y="1286075"/>
                  </a:lnTo>
                  <a:lnTo>
                    <a:pt x="0" y="1286075"/>
                  </a:lnTo>
                  <a:close/>
                </a:path>
              </a:pathLst>
            </a:custGeom>
            <a:solidFill>
              <a:srgbClr val="A4253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257300" y="9534525"/>
            <a:ext cx="13997121" cy="772354"/>
            <a:chOff x="0" y="0"/>
            <a:chExt cx="18662828" cy="102980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662777" cy="1029843"/>
            </a:xfrm>
            <a:custGeom>
              <a:avLst/>
              <a:gdLst/>
              <a:ahLst/>
              <a:cxnLst/>
              <a:rect l="l" t="t" r="r" b="b"/>
              <a:pathLst>
                <a:path w="18662777" h="1029843">
                  <a:moveTo>
                    <a:pt x="0" y="0"/>
                  </a:moveTo>
                  <a:lnTo>
                    <a:pt x="18662777" y="0"/>
                  </a:lnTo>
                  <a:lnTo>
                    <a:pt x="18662777" y="1029843"/>
                  </a:lnTo>
                  <a:lnTo>
                    <a:pt x="0" y="1029843"/>
                  </a:lnTo>
                  <a:close/>
                </a:path>
              </a:pathLst>
            </a:custGeom>
            <a:solidFill>
              <a:srgbClr val="A42530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4429891" y="9342351"/>
            <a:ext cx="3858109" cy="964528"/>
            <a:chOff x="0" y="0"/>
            <a:chExt cx="6491470" cy="1622868"/>
          </a:xfrm>
        </p:grpSpPr>
        <p:sp>
          <p:nvSpPr>
            <p:cNvPr id="7" name="Freeform 7" descr="A picture containing drawing  Description automatically generated"/>
            <p:cNvSpPr/>
            <p:nvPr/>
          </p:nvSpPr>
          <p:spPr>
            <a:xfrm>
              <a:off x="0" y="0"/>
              <a:ext cx="6491478" cy="1622806"/>
            </a:xfrm>
            <a:custGeom>
              <a:avLst/>
              <a:gdLst/>
              <a:ahLst/>
              <a:cxnLst/>
              <a:rect l="l" t="t" r="r" b="b"/>
              <a:pathLst>
                <a:path w="6491478" h="1622806">
                  <a:moveTo>
                    <a:pt x="0" y="0"/>
                  </a:moveTo>
                  <a:lnTo>
                    <a:pt x="6491478" y="0"/>
                  </a:lnTo>
                  <a:lnTo>
                    <a:pt x="6491478" y="1622806"/>
                  </a:lnTo>
                  <a:lnTo>
                    <a:pt x="0" y="16228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3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6902182" y="0"/>
            <a:ext cx="1452818" cy="968896"/>
            <a:chOff x="0" y="0"/>
            <a:chExt cx="1937090" cy="1291861"/>
          </a:xfrm>
        </p:grpSpPr>
        <p:sp>
          <p:nvSpPr>
            <p:cNvPr id="9" name="Freeform 9" descr="A close up of a sign  Description automatically generated"/>
            <p:cNvSpPr/>
            <p:nvPr/>
          </p:nvSpPr>
          <p:spPr>
            <a:xfrm>
              <a:off x="0" y="0"/>
              <a:ext cx="1937131" cy="1291884"/>
            </a:xfrm>
            <a:custGeom>
              <a:avLst/>
              <a:gdLst/>
              <a:ahLst/>
              <a:cxnLst/>
              <a:rect l="l" t="t" r="r" b="b"/>
              <a:pathLst>
                <a:path w="1937131" h="1291884">
                  <a:moveTo>
                    <a:pt x="0" y="0"/>
                  </a:moveTo>
                  <a:lnTo>
                    <a:pt x="1937131" y="0"/>
                  </a:lnTo>
                  <a:lnTo>
                    <a:pt x="1937131" y="1291884"/>
                  </a:lnTo>
                  <a:lnTo>
                    <a:pt x="0" y="12918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" t="-5884" b="-6094"/>
              </a:stretch>
            </a:blipFill>
          </p:spPr>
        </p:sp>
      </p:grpSp>
      <p:sp>
        <p:nvSpPr>
          <p:cNvPr id="10" name="TextBox 9"/>
          <p:cNvSpPr txBox="1"/>
          <p:nvPr/>
        </p:nvSpPr>
        <p:spPr>
          <a:xfrm>
            <a:off x="5334000" y="469603"/>
            <a:ext cx="6477000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4000" b="1" dirty="0">
                <a:solidFill>
                  <a:srgbClr val="004AAD"/>
                </a:solidFill>
                <a:latin typeface="Canva Sans Bold"/>
              </a:rPr>
              <a:t>Audio Modality — Results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0432" y="1389888"/>
            <a:ext cx="1591055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700" b="0">
                <a:solidFill>
                  <a:srgbClr val="5A6472"/>
                </a:solidFill>
                <a:latin typeface="Canva Sans"/>
              </a:rPr>
              <a:t>Speaker-disjoint test split, 4,179 clips, seven classes (chance = 14.3%). Same data, same splits — the gap is the model.</a:t>
            </a:r>
          </a:p>
        </p:txBody>
      </p:sp>
      <p:pic>
        <p:nvPicPr>
          <p:cNvPr id="12" name="Picture 11" descr="chart_audi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8435" y="1714975"/>
            <a:ext cx="12828129" cy="68813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43000" y="8536786"/>
            <a:ext cx="16002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0" dirty="0">
                <a:solidFill>
                  <a:srgbClr val="5A6472"/>
                </a:solidFill>
                <a:latin typeface="Canva Sans"/>
              </a:rPr>
              <a:t>The baseline is the earlier branch's own architecture, imported unchanged and retrained on the same data - so the +17.7 point gap isolates the model from the dataset. The averaged number hides the real finding: studio speech works, a noisy room is still hard, and the fusion is told the harder number.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hart_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772" y="1485900"/>
            <a:ext cx="15472108" cy="7265907"/>
          </a:xfrm>
          <a:prstGeom prst="rect">
            <a:avLst/>
          </a:prstGeom>
        </p:spPr>
      </p:pic>
      <p:grpSp>
        <p:nvGrpSpPr>
          <p:cNvPr id="2" name="Group 2"/>
          <p:cNvGrpSpPr/>
          <p:nvPr/>
        </p:nvGrpSpPr>
        <p:grpSpPr>
          <a:xfrm>
            <a:off x="0" y="9342351"/>
            <a:ext cx="1257300" cy="964528"/>
            <a:chOff x="0" y="0"/>
            <a:chExt cx="1676400" cy="128603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76400" cy="1286075"/>
            </a:xfrm>
            <a:custGeom>
              <a:avLst/>
              <a:gdLst/>
              <a:ahLst/>
              <a:cxnLst/>
              <a:rect l="l" t="t" r="r" b="b"/>
              <a:pathLst>
                <a:path w="1676400" h="1286075">
                  <a:moveTo>
                    <a:pt x="0" y="0"/>
                  </a:moveTo>
                  <a:lnTo>
                    <a:pt x="1676400" y="0"/>
                  </a:lnTo>
                  <a:lnTo>
                    <a:pt x="1676400" y="1286075"/>
                  </a:lnTo>
                  <a:lnTo>
                    <a:pt x="0" y="1286075"/>
                  </a:lnTo>
                  <a:close/>
                </a:path>
              </a:pathLst>
            </a:custGeom>
            <a:solidFill>
              <a:srgbClr val="A4253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257300" y="9534525"/>
            <a:ext cx="13997121" cy="772354"/>
            <a:chOff x="0" y="0"/>
            <a:chExt cx="18662828" cy="102980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662777" cy="1029843"/>
            </a:xfrm>
            <a:custGeom>
              <a:avLst/>
              <a:gdLst/>
              <a:ahLst/>
              <a:cxnLst/>
              <a:rect l="l" t="t" r="r" b="b"/>
              <a:pathLst>
                <a:path w="18662777" h="1029843">
                  <a:moveTo>
                    <a:pt x="0" y="0"/>
                  </a:moveTo>
                  <a:lnTo>
                    <a:pt x="18662777" y="0"/>
                  </a:lnTo>
                  <a:lnTo>
                    <a:pt x="18662777" y="1029843"/>
                  </a:lnTo>
                  <a:lnTo>
                    <a:pt x="0" y="1029843"/>
                  </a:lnTo>
                  <a:close/>
                </a:path>
              </a:pathLst>
            </a:custGeom>
            <a:solidFill>
              <a:srgbClr val="A42530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4429891" y="9342351"/>
            <a:ext cx="3858109" cy="964528"/>
            <a:chOff x="0" y="0"/>
            <a:chExt cx="6491470" cy="1622868"/>
          </a:xfrm>
        </p:grpSpPr>
        <p:sp>
          <p:nvSpPr>
            <p:cNvPr id="7" name="Freeform 7" descr="A picture containing drawing  Description automatically generated"/>
            <p:cNvSpPr/>
            <p:nvPr/>
          </p:nvSpPr>
          <p:spPr>
            <a:xfrm>
              <a:off x="0" y="0"/>
              <a:ext cx="6491478" cy="1622806"/>
            </a:xfrm>
            <a:custGeom>
              <a:avLst/>
              <a:gdLst/>
              <a:ahLst/>
              <a:cxnLst/>
              <a:rect l="l" t="t" r="r" b="b"/>
              <a:pathLst>
                <a:path w="6491478" h="1622806">
                  <a:moveTo>
                    <a:pt x="0" y="0"/>
                  </a:moveTo>
                  <a:lnTo>
                    <a:pt x="6491478" y="0"/>
                  </a:lnTo>
                  <a:lnTo>
                    <a:pt x="6491478" y="1622806"/>
                  </a:lnTo>
                  <a:lnTo>
                    <a:pt x="0" y="16228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3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6902182" y="0"/>
            <a:ext cx="1452818" cy="968896"/>
            <a:chOff x="0" y="0"/>
            <a:chExt cx="1937090" cy="1291861"/>
          </a:xfrm>
        </p:grpSpPr>
        <p:sp>
          <p:nvSpPr>
            <p:cNvPr id="9" name="Freeform 9" descr="A close up of a sign  Description automatically generated"/>
            <p:cNvSpPr/>
            <p:nvPr/>
          </p:nvSpPr>
          <p:spPr>
            <a:xfrm>
              <a:off x="0" y="0"/>
              <a:ext cx="1937131" cy="1291884"/>
            </a:xfrm>
            <a:custGeom>
              <a:avLst/>
              <a:gdLst/>
              <a:ahLst/>
              <a:cxnLst/>
              <a:rect l="l" t="t" r="r" b="b"/>
              <a:pathLst>
                <a:path w="1937131" h="1291884">
                  <a:moveTo>
                    <a:pt x="0" y="0"/>
                  </a:moveTo>
                  <a:lnTo>
                    <a:pt x="1937131" y="0"/>
                  </a:lnTo>
                  <a:lnTo>
                    <a:pt x="1937131" y="1291884"/>
                  </a:lnTo>
                  <a:lnTo>
                    <a:pt x="0" y="12918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" t="-5884" b="-6094"/>
              </a:stretch>
            </a:blipFill>
          </p:spPr>
        </p:sp>
      </p:grpSp>
      <p:sp>
        <p:nvSpPr>
          <p:cNvPr id="10" name="TextBox 9"/>
          <p:cNvSpPr txBox="1"/>
          <p:nvPr/>
        </p:nvSpPr>
        <p:spPr>
          <a:xfrm>
            <a:off x="1143000" y="475488"/>
            <a:ext cx="160020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4000" b="1">
                <a:solidFill>
                  <a:srgbClr val="004AAD"/>
                </a:solidFill>
                <a:latin typeface="Canva Sans Bold"/>
              </a:rPr>
              <a:t>Does Fusion Actually Help?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0432" y="1389888"/>
            <a:ext cx="1591055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700" b="0">
                <a:solidFill>
                  <a:srgbClr val="5A6472"/>
                </a:solidFill>
                <a:latin typeface="Canva Sans"/>
              </a:rPr>
              <a:t>MELD test split, 2,523 clips carrying both audio and a transcript. Solid = accuracy, hatched = macro-F1.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8651904"/>
            <a:ext cx="160020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0" dirty="0">
                <a:solidFill>
                  <a:srgbClr val="5A6472"/>
                </a:solidFill>
                <a:latin typeface="Canva Sans"/>
              </a:rPr>
              <a:t>Measured on real pairs, not synthetic ones: MELD ships a transcript per clip, so audio and text describe the same utterance. The gain is modest for an honest reason - on real data the modalities fail together (a flat delivery and a flat sentence co-occur), which independent pairing cannot show.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342351"/>
            <a:ext cx="1257300" cy="964528"/>
            <a:chOff x="0" y="0"/>
            <a:chExt cx="1676400" cy="128603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76400" cy="1286075"/>
            </a:xfrm>
            <a:custGeom>
              <a:avLst/>
              <a:gdLst/>
              <a:ahLst/>
              <a:cxnLst/>
              <a:rect l="l" t="t" r="r" b="b"/>
              <a:pathLst>
                <a:path w="1676400" h="1286075">
                  <a:moveTo>
                    <a:pt x="0" y="0"/>
                  </a:moveTo>
                  <a:lnTo>
                    <a:pt x="1676400" y="0"/>
                  </a:lnTo>
                  <a:lnTo>
                    <a:pt x="1676400" y="1286075"/>
                  </a:lnTo>
                  <a:lnTo>
                    <a:pt x="0" y="1286075"/>
                  </a:lnTo>
                  <a:close/>
                </a:path>
              </a:pathLst>
            </a:custGeom>
            <a:solidFill>
              <a:srgbClr val="A4253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257300" y="9534525"/>
            <a:ext cx="13997121" cy="772354"/>
            <a:chOff x="0" y="0"/>
            <a:chExt cx="18662828" cy="102980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662777" cy="1029843"/>
            </a:xfrm>
            <a:custGeom>
              <a:avLst/>
              <a:gdLst/>
              <a:ahLst/>
              <a:cxnLst/>
              <a:rect l="l" t="t" r="r" b="b"/>
              <a:pathLst>
                <a:path w="18662777" h="1029843">
                  <a:moveTo>
                    <a:pt x="0" y="0"/>
                  </a:moveTo>
                  <a:lnTo>
                    <a:pt x="18662777" y="0"/>
                  </a:lnTo>
                  <a:lnTo>
                    <a:pt x="18662777" y="1029843"/>
                  </a:lnTo>
                  <a:lnTo>
                    <a:pt x="0" y="1029843"/>
                  </a:lnTo>
                  <a:close/>
                </a:path>
              </a:pathLst>
            </a:custGeom>
            <a:solidFill>
              <a:srgbClr val="A42530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4429891" y="9342351"/>
            <a:ext cx="3858109" cy="964528"/>
            <a:chOff x="0" y="0"/>
            <a:chExt cx="6491470" cy="1622868"/>
          </a:xfrm>
        </p:grpSpPr>
        <p:sp>
          <p:nvSpPr>
            <p:cNvPr id="7" name="Freeform 7" descr="A picture containing drawing  Description automatically generated"/>
            <p:cNvSpPr/>
            <p:nvPr/>
          </p:nvSpPr>
          <p:spPr>
            <a:xfrm>
              <a:off x="0" y="0"/>
              <a:ext cx="6491478" cy="1622806"/>
            </a:xfrm>
            <a:custGeom>
              <a:avLst/>
              <a:gdLst/>
              <a:ahLst/>
              <a:cxnLst/>
              <a:rect l="l" t="t" r="r" b="b"/>
              <a:pathLst>
                <a:path w="6491478" h="1622806">
                  <a:moveTo>
                    <a:pt x="0" y="0"/>
                  </a:moveTo>
                  <a:lnTo>
                    <a:pt x="6491478" y="0"/>
                  </a:lnTo>
                  <a:lnTo>
                    <a:pt x="6491478" y="1622806"/>
                  </a:lnTo>
                  <a:lnTo>
                    <a:pt x="0" y="16228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3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6902182" y="0"/>
            <a:ext cx="1452818" cy="968896"/>
            <a:chOff x="0" y="0"/>
            <a:chExt cx="1937090" cy="1291861"/>
          </a:xfrm>
        </p:grpSpPr>
        <p:sp>
          <p:nvSpPr>
            <p:cNvPr id="9" name="Freeform 9" descr="A close up of a sign  Description automatically generated"/>
            <p:cNvSpPr/>
            <p:nvPr/>
          </p:nvSpPr>
          <p:spPr>
            <a:xfrm>
              <a:off x="0" y="0"/>
              <a:ext cx="1937131" cy="1291884"/>
            </a:xfrm>
            <a:custGeom>
              <a:avLst/>
              <a:gdLst/>
              <a:ahLst/>
              <a:cxnLst/>
              <a:rect l="l" t="t" r="r" b="b"/>
              <a:pathLst>
                <a:path w="1937131" h="1291884">
                  <a:moveTo>
                    <a:pt x="0" y="0"/>
                  </a:moveTo>
                  <a:lnTo>
                    <a:pt x="1937131" y="0"/>
                  </a:lnTo>
                  <a:lnTo>
                    <a:pt x="1937131" y="1291884"/>
                  </a:lnTo>
                  <a:lnTo>
                    <a:pt x="0" y="12918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" t="-5884" b="-6094"/>
              </a:stretch>
            </a:blipFill>
          </p:spPr>
        </p:sp>
      </p:grpSp>
      <p:sp>
        <p:nvSpPr>
          <p:cNvPr id="10" name="TextBox 9"/>
          <p:cNvSpPr txBox="1"/>
          <p:nvPr/>
        </p:nvSpPr>
        <p:spPr>
          <a:xfrm>
            <a:off x="1143000" y="475488"/>
            <a:ext cx="160020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4000" b="1">
                <a:solidFill>
                  <a:srgbClr val="004AAD"/>
                </a:solidFill>
                <a:latin typeface="Canva Sans Bold"/>
              </a:rPr>
              <a:t>Scoring the Multimodality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0432" y="1389888"/>
            <a:ext cx="1591055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700" b="0">
                <a:solidFill>
                  <a:srgbClr val="5A6472"/>
                </a:solidFill>
                <a:latin typeface="Canva Sans"/>
              </a:rPr>
              <a:t>A single figure, from five components with stated weights - so the number can be argued with.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788920"/>
            <a:ext cx="46634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700" b="1">
                <a:solidFill>
                  <a:srgbClr val="1E2936"/>
                </a:solidFill>
                <a:latin typeface="Canva Sans Bold"/>
              </a:rPr>
              <a:t>Capability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7880" y="2788920"/>
            <a:ext cx="1188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700" b="1">
                <a:solidFill>
                  <a:srgbClr val="004AAD"/>
                </a:solidFill>
                <a:latin typeface="Canva Sans Bold"/>
              </a:rPr>
              <a:t>0.633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6600" y="2788920"/>
            <a:ext cx="1188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0">
                <a:solidFill>
                  <a:srgbClr val="5A6472"/>
                </a:solidFill>
                <a:latin typeface="Canva Sans"/>
              </a:rPr>
              <a:t>x 0.35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788920"/>
            <a:ext cx="8778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0">
                <a:solidFill>
                  <a:srgbClr val="5A6472"/>
                </a:solidFill>
                <a:latin typeface="Canva Sans"/>
              </a:rPr>
              <a:t>trimodal macro-F1 against a 0.70 ceiling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630168"/>
            <a:ext cx="46634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700" b="1">
                <a:solidFill>
                  <a:srgbClr val="1E2936"/>
                </a:solidFill>
                <a:latin typeface="Canva Sans Bold"/>
              </a:rPr>
              <a:t>Fusion gain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97880" y="3630168"/>
            <a:ext cx="1188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700" b="1">
                <a:solidFill>
                  <a:srgbClr val="004AAD"/>
                </a:solidFill>
                <a:latin typeface="Canva Sans Bold"/>
              </a:rPr>
              <a:t>0.222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86600" y="3630168"/>
            <a:ext cx="1188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0">
                <a:solidFill>
                  <a:srgbClr val="5A6472"/>
                </a:solidFill>
                <a:latin typeface="Canva Sans"/>
              </a:rPr>
              <a:t>x 0.25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3630168"/>
            <a:ext cx="8778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0">
                <a:solidFill>
                  <a:srgbClr val="5A6472"/>
                </a:solidFill>
                <a:latin typeface="Canva Sans"/>
              </a:rPr>
              <a:t>macro-F1 over the best single modality, against +0.10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4471416"/>
            <a:ext cx="46634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700" b="1">
                <a:solidFill>
                  <a:srgbClr val="1E2936"/>
                </a:solidFill>
                <a:latin typeface="Canva Sans Bold"/>
              </a:rPr>
              <a:t>Calibration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97880" y="4471416"/>
            <a:ext cx="1188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700" b="1">
                <a:solidFill>
                  <a:srgbClr val="004AAD"/>
                </a:solidFill>
                <a:latin typeface="Canva Sans Bold"/>
              </a:rPr>
              <a:t>0.376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4471416"/>
            <a:ext cx="1188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0">
                <a:solidFill>
                  <a:srgbClr val="5A6472"/>
                </a:solidFill>
                <a:latin typeface="Canva Sans"/>
              </a:rPr>
              <a:t>x 0.15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4471416"/>
            <a:ext cx="8778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0">
                <a:solidFill>
                  <a:srgbClr val="5A6472"/>
                </a:solidFill>
                <a:latin typeface="Canva Sans"/>
              </a:rPr>
              <a:t>1 - ECE/0.25; audio is the best-calibrated leg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5312664"/>
            <a:ext cx="46634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700" b="1">
                <a:solidFill>
                  <a:srgbClr val="1E2936"/>
                </a:solidFill>
                <a:latin typeface="Canva Sans Bold"/>
              </a:rPr>
              <a:t>Robustness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97880" y="5312664"/>
            <a:ext cx="1188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700" b="1">
                <a:solidFill>
                  <a:srgbClr val="004AAD"/>
                </a:solidFill>
                <a:latin typeface="Canva Sans Bold"/>
              </a:rPr>
              <a:t>0.609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86600" y="5312664"/>
            <a:ext cx="1188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0">
                <a:solidFill>
                  <a:srgbClr val="5A6472"/>
                </a:solidFill>
                <a:latin typeface="Canva Sans"/>
              </a:rPr>
              <a:t>x 0.15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5312664"/>
            <a:ext cx="8778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0">
                <a:solidFill>
                  <a:srgbClr val="5A6472"/>
                </a:solidFill>
                <a:latin typeface="Canva Sans"/>
              </a:rPr>
              <a:t>worst two-modality result as a fraction of all three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6153912"/>
            <a:ext cx="46634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700" b="1">
                <a:solidFill>
                  <a:srgbClr val="1E2936"/>
                </a:solidFill>
                <a:latin typeface="Canva Sans Bold"/>
              </a:rPr>
              <a:t>Conflict discrimination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97880" y="6153912"/>
            <a:ext cx="1188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700" b="1">
                <a:solidFill>
                  <a:srgbClr val="004AAD"/>
                </a:solidFill>
                <a:latin typeface="Canva Sans Bold"/>
              </a:rPr>
              <a:t>0.721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6153912"/>
            <a:ext cx="1188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0">
                <a:solidFill>
                  <a:srgbClr val="5A6472"/>
                </a:solidFill>
                <a:latin typeface="Canva Sans"/>
              </a:rPr>
              <a:t>x 0.10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60" y="6153912"/>
            <a:ext cx="8778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0">
                <a:solidFill>
                  <a:srgbClr val="5A6472"/>
                </a:solidFill>
                <a:latin typeface="Canva Sans"/>
              </a:rPr>
              <a:t>74.1% correct when the modalities agree vs 52.5% when they clash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452360"/>
            <a:ext cx="160020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>
                <a:solidFill>
                  <a:srgbClr val="1F8A4C"/>
                </a:solidFill>
                <a:latin typeface="Canva Sans Bold"/>
              </a:rPr>
              <a:t>Multimodal score:  49.7 / 100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5A6472"/>
                </a:solidFill>
                <a:latin typeface="Canva Sans"/>
              </a:rPr>
              <a:t>The composite is this project's own summary of “is the pool worth having”, not a standard metric - every component, its raw value and its weight are written to results/multimodal.json.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342351"/>
            <a:ext cx="1257300" cy="964528"/>
            <a:chOff x="0" y="0"/>
            <a:chExt cx="1676400" cy="128603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76400" cy="1286075"/>
            </a:xfrm>
            <a:custGeom>
              <a:avLst/>
              <a:gdLst/>
              <a:ahLst/>
              <a:cxnLst/>
              <a:rect l="l" t="t" r="r" b="b"/>
              <a:pathLst>
                <a:path w="1676400" h="1286075">
                  <a:moveTo>
                    <a:pt x="0" y="0"/>
                  </a:moveTo>
                  <a:lnTo>
                    <a:pt x="1676400" y="0"/>
                  </a:lnTo>
                  <a:lnTo>
                    <a:pt x="1676400" y="1286075"/>
                  </a:lnTo>
                  <a:lnTo>
                    <a:pt x="0" y="1286075"/>
                  </a:lnTo>
                  <a:close/>
                </a:path>
              </a:pathLst>
            </a:custGeom>
            <a:solidFill>
              <a:srgbClr val="A4253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257300" y="9534525"/>
            <a:ext cx="13997121" cy="772354"/>
            <a:chOff x="0" y="0"/>
            <a:chExt cx="18662828" cy="102980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662777" cy="1029843"/>
            </a:xfrm>
            <a:custGeom>
              <a:avLst/>
              <a:gdLst/>
              <a:ahLst/>
              <a:cxnLst/>
              <a:rect l="l" t="t" r="r" b="b"/>
              <a:pathLst>
                <a:path w="18662777" h="1029843">
                  <a:moveTo>
                    <a:pt x="0" y="0"/>
                  </a:moveTo>
                  <a:lnTo>
                    <a:pt x="18662777" y="0"/>
                  </a:lnTo>
                  <a:lnTo>
                    <a:pt x="18662777" y="1029843"/>
                  </a:lnTo>
                  <a:lnTo>
                    <a:pt x="0" y="1029843"/>
                  </a:lnTo>
                  <a:close/>
                </a:path>
              </a:pathLst>
            </a:custGeom>
            <a:solidFill>
              <a:srgbClr val="A42530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4429891" y="9342351"/>
            <a:ext cx="3858109" cy="964528"/>
            <a:chOff x="0" y="0"/>
            <a:chExt cx="6491470" cy="1622868"/>
          </a:xfrm>
        </p:grpSpPr>
        <p:sp>
          <p:nvSpPr>
            <p:cNvPr id="7" name="Freeform 7" descr="A picture containing drawing  Description automatically generated"/>
            <p:cNvSpPr/>
            <p:nvPr/>
          </p:nvSpPr>
          <p:spPr>
            <a:xfrm>
              <a:off x="0" y="0"/>
              <a:ext cx="6491478" cy="1622806"/>
            </a:xfrm>
            <a:custGeom>
              <a:avLst/>
              <a:gdLst/>
              <a:ahLst/>
              <a:cxnLst/>
              <a:rect l="l" t="t" r="r" b="b"/>
              <a:pathLst>
                <a:path w="6491478" h="1622806">
                  <a:moveTo>
                    <a:pt x="0" y="0"/>
                  </a:moveTo>
                  <a:lnTo>
                    <a:pt x="6491478" y="0"/>
                  </a:lnTo>
                  <a:lnTo>
                    <a:pt x="6491478" y="1622806"/>
                  </a:lnTo>
                  <a:lnTo>
                    <a:pt x="0" y="16228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3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6902182" y="0"/>
            <a:ext cx="1452818" cy="968896"/>
            <a:chOff x="0" y="0"/>
            <a:chExt cx="1937090" cy="1291861"/>
          </a:xfrm>
        </p:grpSpPr>
        <p:sp>
          <p:nvSpPr>
            <p:cNvPr id="9" name="Freeform 9" descr="A close up of a sign  Description automatically generated"/>
            <p:cNvSpPr/>
            <p:nvPr/>
          </p:nvSpPr>
          <p:spPr>
            <a:xfrm>
              <a:off x="0" y="0"/>
              <a:ext cx="1937131" cy="1291884"/>
            </a:xfrm>
            <a:custGeom>
              <a:avLst/>
              <a:gdLst/>
              <a:ahLst/>
              <a:cxnLst/>
              <a:rect l="l" t="t" r="r" b="b"/>
              <a:pathLst>
                <a:path w="1937131" h="1291884">
                  <a:moveTo>
                    <a:pt x="0" y="0"/>
                  </a:moveTo>
                  <a:lnTo>
                    <a:pt x="1937131" y="0"/>
                  </a:lnTo>
                  <a:lnTo>
                    <a:pt x="1937131" y="1291884"/>
                  </a:lnTo>
                  <a:lnTo>
                    <a:pt x="0" y="12918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" t="-5884" b="-6094"/>
              </a:stretch>
            </a:blipFill>
          </p:spPr>
        </p:sp>
      </p:grpSp>
      <p:sp>
        <p:nvSpPr>
          <p:cNvPr id="10" name="TextBox 9"/>
          <p:cNvSpPr txBox="1"/>
          <p:nvPr/>
        </p:nvSpPr>
        <p:spPr>
          <a:xfrm>
            <a:off x="1143000" y="475488"/>
            <a:ext cx="160020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4000" b="1">
                <a:solidFill>
                  <a:srgbClr val="004AAD"/>
                </a:solidFill>
                <a:latin typeface="Canva Sans Bold"/>
              </a:rPr>
              <a:t>The Live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0432" y="1389888"/>
            <a:ext cx="15910559" cy="3539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700" b="0" dirty="0">
                <a:solidFill>
                  <a:srgbClr val="5A6472"/>
                </a:solidFill>
                <a:latin typeface="Canva Sans"/>
              </a:rPr>
              <a:t>Face, voice and text fused in real time at 32 FPS, with the reasoning shown alongside the answer.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F7893B8-2B12-C1F6-0822-A51A643A37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0" y="1795704"/>
            <a:ext cx="14852198" cy="729614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BAF0718-7042-6994-BDCD-F8E0628AEE9C}"/>
              </a:ext>
            </a:extLst>
          </p:cNvPr>
          <p:cNvGrpSpPr/>
          <p:nvPr/>
        </p:nvGrpSpPr>
        <p:grpSpPr>
          <a:xfrm>
            <a:off x="0" y="9342351"/>
            <a:ext cx="1257300" cy="964528"/>
            <a:chOff x="0" y="0"/>
            <a:chExt cx="1676400" cy="1286037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406049E9-A246-B953-0B76-BCF28FF34A0E}"/>
                </a:ext>
              </a:extLst>
            </p:cNvPr>
            <p:cNvSpPr/>
            <p:nvPr/>
          </p:nvSpPr>
          <p:spPr>
            <a:xfrm>
              <a:off x="0" y="0"/>
              <a:ext cx="1676400" cy="1286075"/>
            </a:xfrm>
            <a:custGeom>
              <a:avLst/>
              <a:gdLst/>
              <a:ahLst/>
              <a:cxnLst/>
              <a:rect l="l" t="t" r="r" b="b"/>
              <a:pathLst>
                <a:path w="1676400" h="1286075">
                  <a:moveTo>
                    <a:pt x="0" y="0"/>
                  </a:moveTo>
                  <a:lnTo>
                    <a:pt x="1676400" y="0"/>
                  </a:lnTo>
                  <a:lnTo>
                    <a:pt x="1676400" y="1286075"/>
                  </a:lnTo>
                  <a:lnTo>
                    <a:pt x="0" y="1286075"/>
                  </a:lnTo>
                  <a:close/>
                </a:path>
              </a:pathLst>
            </a:custGeom>
            <a:solidFill>
              <a:srgbClr val="A42530"/>
            </a:solidFill>
          </p:spPr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A8D0621C-3E75-8EBB-7E13-54E5D8B13E89}"/>
              </a:ext>
            </a:extLst>
          </p:cNvPr>
          <p:cNvGrpSpPr/>
          <p:nvPr/>
        </p:nvGrpSpPr>
        <p:grpSpPr>
          <a:xfrm>
            <a:off x="1257300" y="9534525"/>
            <a:ext cx="13997121" cy="772354"/>
            <a:chOff x="0" y="0"/>
            <a:chExt cx="18662828" cy="1029805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10F6F4A1-FE76-A1D7-C1CF-95501F12A54C}"/>
                </a:ext>
              </a:extLst>
            </p:cNvPr>
            <p:cNvSpPr/>
            <p:nvPr/>
          </p:nvSpPr>
          <p:spPr>
            <a:xfrm>
              <a:off x="0" y="0"/>
              <a:ext cx="18662777" cy="1029843"/>
            </a:xfrm>
            <a:custGeom>
              <a:avLst/>
              <a:gdLst/>
              <a:ahLst/>
              <a:cxnLst/>
              <a:rect l="l" t="t" r="r" b="b"/>
              <a:pathLst>
                <a:path w="18662777" h="1029843">
                  <a:moveTo>
                    <a:pt x="0" y="0"/>
                  </a:moveTo>
                  <a:lnTo>
                    <a:pt x="18662777" y="0"/>
                  </a:lnTo>
                  <a:lnTo>
                    <a:pt x="18662777" y="1029843"/>
                  </a:lnTo>
                  <a:lnTo>
                    <a:pt x="0" y="1029843"/>
                  </a:lnTo>
                  <a:close/>
                </a:path>
              </a:pathLst>
            </a:custGeom>
            <a:solidFill>
              <a:srgbClr val="A42530"/>
            </a:solidFill>
          </p:spPr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065902DD-EEBB-7A46-2997-3E2F1B01773F}"/>
              </a:ext>
            </a:extLst>
          </p:cNvPr>
          <p:cNvGrpSpPr/>
          <p:nvPr/>
        </p:nvGrpSpPr>
        <p:grpSpPr>
          <a:xfrm>
            <a:off x="14429891" y="9342351"/>
            <a:ext cx="3858109" cy="964528"/>
            <a:chOff x="0" y="0"/>
            <a:chExt cx="6491470" cy="1622868"/>
          </a:xfrm>
        </p:grpSpPr>
        <p:sp>
          <p:nvSpPr>
            <p:cNvPr id="7" name="Freeform 7" descr="A picture containing drawing  Description automatically generated">
              <a:extLst>
                <a:ext uri="{FF2B5EF4-FFF2-40B4-BE49-F238E27FC236}">
                  <a16:creationId xmlns:a16="http://schemas.microsoft.com/office/drawing/2014/main" id="{ED82EEC0-87C6-319A-DBA1-80F21CC2F910}"/>
                </a:ext>
              </a:extLst>
            </p:cNvPr>
            <p:cNvSpPr/>
            <p:nvPr/>
          </p:nvSpPr>
          <p:spPr>
            <a:xfrm>
              <a:off x="0" y="0"/>
              <a:ext cx="6491478" cy="1622806"/>
            </a:xfrm>
            <a:custGeom>
              <a:avLst/>
              <a:gdLst/>
              <a:ahLst/>
              <a:cxnLst/>
              <a:rect l="l" t="t" r="r" b="b"/>
              <a:pathLst>
                <a:path w="6491478" h="1622806">
                  <a:moveTo>
                    <a:pt x="0" y="0"/>
                  </a:moveTo>
                  <a:lnTo>
                    <a:pt x="6491478" y="0"/>
                  </a:lnTo>
                  <a:lnTo>
                    <a:pt x="6491478" y="1622806"/>
                  </a:lnTo>
                  <a:lnTo>
                    <a:pt x="0" y="16228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3"/>
              </a:stretch>
            </a:blipFill>
          </p:spPr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4DF10B92-2D5D-78FF-2474-39655D7DBD1A}"/>
              </a:ext>
            </a:extLst>
          </p:cNvPr>
          <p:cNvGrpSpPr/>
          <p:nvPr/>
        </p:nvGrpSpPr>
        <p:grpSpPr>
          <a:xfrm>
            <a:off x="16902182" y="0"/>
            <a:ext cx="1452818" cy="968896"/>
            <a:chOff x="0" y="0"/>
            <a:chExt cx="1937090" cy="1291861"/>
          </a:xfrm>
        </p:grpSpPr>
        <p:sp>
          <p:nvSpPr>
            <p:cNvPr id="9" name="Freeform 9" descr="A close up of a sign  Description automatically generated">
              <a:extLst>
                <a:ext uri="{FF2B5EF4-FFF2-40B4-BE49-F238E27FC236}">
                  <a16:creationId xmlns:a16="http://schemas.microsoft.com/office/drawing/2014/main" id="{D3A38E7B-8A81-B63E-D8FF-DE9680F0D84B}"/>
                </a:ext>
              </a:extLst>
            </p:cNvPr>
            <p:cNvSpPr/>
            <p:nvPr/>
          </p:nvSpPr>
          <p:spPr>
            <a:xfrm>
              <a:off x="0" y="0"/>
              <a:ext cx="1937131" cy="1291884"/>
            </a:xfrm>
            <a:custGeom>
              <a:avLst/>
              <a:gdLst/>
              <a:ahLst/>
              <a:cxnLst/>
              <a:rect l="l" t="t" r="r" b="b"/>
              <a:pathLst>
                <a:path w="1937131" h="1291884">
                  <a:moveTo>
                    <a:pt x="0" y="0"/>
                  </a:moveTo>
                  <a:lnTo>
                    <a:pt x="1937131" y="0"/>
                  </a:lnTo>
                  <a:lnTo>
                    <a:pt x="1937131" y="1291884"/>
                  </a:lnTo>
                  <a:lnTo>
                    <a:pt x="0" y="12918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" t="-5884" b="-6094"/>
              </a:stretch>
            </a:blipFill>
          </p:spPr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9D7F6786-9798-FBD7-744D-2429610A62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485900"/>
            <a:ext cx="17463602" cy="7018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5778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342351"/>
            <a:ext cx="1257300" cy="964528"/>
            <a:chOff x="0" y="0"/>
            <a:chExt cx="1676400" cy="128603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76400" cy="1286075"/>
            </a:xfrm>
            <a:custGeom>
              <a:avLst/>
              <a:gdLst/>
              <a:ahLst/>
              <a:cxnLst/>
              <a:rect l="l" t="t" r="r" b="b"/>
              <a:pathLst>
                <a:path w="1676400" h="1286075">
                  <a:moveTo>
                    <a:pt x="0" y="0"/>
                  </a:moveTo>
                  <a:lnTo>
                    <a:pt x="1676400" y="0"/>
                  </a:lnTo>
                  <a:lnTo>
                    <a:pt x="1676400" y="1286075"/>
                  </a:lnTo>
                  <a:lnTo>
                    <a:pt x="0" y="1286075"/>
                  </a:lnTo>
                  <a:close/>
                </a:path>
              </a:pathLst>
            </a:custGeom>
            <a:solidFill>
              <a:srgbClr val="A4253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257300" y="9534525"/>
            <a:ext cx="13997121" cy="772354"/>
            <a:chOff x="0" y="0"/>
            <a:chExt cx="18662828" cy="102980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662777" cy="1029843"/>
            </a:xfrm>
            <a:custGeom>
              <a:avLst/>
              <a:gdLst/>
              <a:ahLst/>
              <a:cxnLst/>
              <a:rect l="l" t="t" r="r" b="b"/>
              <a:pathLst>
                <a:path w="18662777" h="1029843">
                  <a:moveTo>
                    <a:pt x="0" y="0"/>
                  </a:moveTo>
                  <a:lnTo>
                    <a:pt x="18662777" y="0"/>
                  </a:lnTo>
                  <a:lnTo>
                    <a:pt x="18662777" y="1029843"/>
                  </a:lnTo>
                  <a:lnTo>
                    <a:pt x="0" y="1029843"/>
                  </a:lnTo>
                  <a:close/>
                </a:path>
              </a:pathLst>
            </a:custGeom>
            <a:solidFill>
              <a:srgbClr val="A42530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4429891" y="9342351"/>
            <a:ext cx="3858109" cy="964528"/>
            <a:chOff x="0" y="0"/>
            <a:chExt cx="6491470" cy="1622868"/>
          </a:xfrm>
        </p:grpSpPr>
        <p:sp>
          <p:nvSpPr>
            <p:cNvPr id="7" name="Freeform 7" descr="A picture containing drawing  Description automatically generated"/>
            <p:cNvSpPr/>
            <p:nvPr/>
          </p:nvSpPr>
          <p:spPr>
            <a:xfrm>
              <a:off x="0" y="0"/>
              <a:ext cx="6491478" cy="1622806"/>
            </a:xfrm>
            <a:custGeom>
              <a:avLst/>
              <a:gdLst/>
              <a:ahLst/>
              <a:cxnLst/>
              <a:rect l="l" t="t" r="r" b="b"/>
              <a:pathLst>
                <a:path w="6491478" h="1622806">
                  <a:moveTo>
                    <a:pt x="0" y="0"/>
                  </a:moveTo>
                  <a:lnTo>
                    <a:pt x="6491478" y="0"/>
                  </a:lnTo>
                  <a:lnTo>
                    <a:pt x="6491478" y="1622806"/>
                  </a:lnTo>
                  <a:lnTo>
                    <a:pt x="0" y="16228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3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6902182" y="0"/>
            <a:ext cx="1452818" cy="968896"/>
            <a:chOff x="0" y="0"/>
            <a:chExt cx="1937090" cy="1291861"/>
          </a:xfrm>
        </p:grpSpPr>
        <p:sp>
          <p:nvSpPr>
            <p:cNvPr id="9" name="Freeform 9" descr="A close up of a sign  Description automatically generated"/>
            <p:cNvSpPr/>
            <p:nvPr/>
          </p:nvSpPr>
          <p:spPr>
            <a:xfrm>
              <a:off x="0" y="0"/>
              <a:ext cx="1937131" cy="1291884"/>
            </a:xfrm>
            <a:custGeom>
              <a:avLst/>
              <a:gdLst/>
              <a:ahLst/>
              <a:cxnLst/>
              <a:rect l="l" t="t" r="r" b="b"/>
              <a:pathLst>
                <a:path w="1937131" h="1291884">
                  <a:moveTo>
                    <a:pt x="0" y="0"/>
                  </a:moveTo>
                  <a:lnTo>
                    <a:pt x="1937131" y="0"/>
                  </a:lnTo>
                  <a:lnTo>
                    <a:pt x="1937131" y="1291884"/>
                  </a:lnTo>
                  <a:lnTo>
                    <a:pt x="0" y="12918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" t="-5884" b="-6094"/>
              </a:stretch>
            </a:blipFill>
          </p:spPr>
        </p:sp>
      </p:grpSp>
      <p:sp>
        <p:nvSpPr>
          <p:cNvPr id="10" name="TextBox 9"/>
          <p:cNvSpPr txBox="1"/>
          <p:nvPr/>
        </p:nvSpPr>
        <p:spPr>
          <a:xfrm>
            <a:off x="7086600" y="805715"/>
            <a:ext cx="5105400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4000" b="1" dirty="0">
                <a:solidFill>
                  <a:srgbClr val="004AAD"/>
                </a:solidFill>
                <a:latin typeface="Canva Sans Bold"/>
              </a:rPr>
              <a:t>Inside the Interface</a:t>
            </a:r>
          </a:p>
        </p:txBody>
      </p:sp>
      <p:pic>
        <p:nvPicPr>
          <p:cNvPr id="12" name="Picture 11" descr="shot_modaliti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067" y="400457"/>
            <a:ext cx="3114333" cy="9461900"/>
          </a:xfrm>
          <a:prstGeom prst="rect">
            <a:avLst/>
          </a:prstGeom>
        </p:spPr>
      </p:pic>
      <p:pic>
        <p:nvPicPr>
          <p:cNvPr id="13" name="Picture 12" descr="shot_fus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47124" y="1675973"/>
            <a:ext cx="6960335" cy="3467527"/>
          </a:xfrm>
          <a:prstGeom prst="rect">
            <a:avLst/>
          </a:prstGeom>
        </p:spPr>
      </p:pic>
      <p:pic>
        <p:nvPicPr>
          <p:cNvPr id="14" name="Picture 13" descr="shot_contri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47124" y="5264637"/>
            <a:ext cx="6960334" cy="4284903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704320" y="3002627"/>
            <a:ext cx="6583680" cy="51193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000" b="1" dirty="0">
                <a:solidFill>
                  <a:srgbClr val="004AAD"/>
                </a:solidFill>
                <a:latin typeface="Canva Sans Bold"/>
              </a:rPr>
              <a:t>Three readings</a:t>
            </a:r>
          </a:p>
          <a:p>
            <a:pPr>
              <a:spcBef>
                <a:spcPts val="800"/>
              </a:spcBef>
            </a:pPr>
            <a:r>
              <a:rPr sz="2000" b="0" dirty="0">
                <a:solidFill>
                  <a:srgbClr val="1E2936"/>
                </a:solidFill>
                <a:latin typeface="Canva Sans"/>
              </a:rPr>
              <a:t>The face says happy, the voice says angry, the text says happy. Nothing is hidden.</a:t>
            </a:r>
            <a:endParaRPr lang="en-US" sz="2000" b="0" dirty="0">
              <a:solidFill>
                <a:srgbClr val="1E2936"/>
              </a:solidFill>
              <a:latin typeface="Canva Sans"/>
            </a:endParaRPr>
          </a:p>
          <a:p>
            <a:pPr>
              <a:spcBef>
                <a:spcPts val="800"/>
              </a:spcBef>
            </a:pPr>
            <a:endParaRPr sz="2000" b="0" dirty="0">
              <a:solidFill>
                <a:srgbClr val="1E2936"/>
              </a:solidFill>
              <a:latin typeface="Canva Sans"/>
            </a:endParaRPr>
          </a:p>
          <a:p>
            <a:pPr>
              <a:spcBef>
                <a:spcPts val="2000"/>
              </a:spcBef>
            </a:pPr>
            <a:r>
              <a:rPr sz="2000" b="1" dirty="0">
                <a:solidFill>
                  <a:srgbClr val="004AAD"/>
                </a:solidFill>
                <a:latin typeface="Canva Sans Bold"/>
              </a:rPr>
              <a:t>Weighted, not averaged</a:t>
            </a:r>
          </a:p>
          <a:p>
            <a:pPr>
              <a:spcBef>
                <a:spcPts val="800"/>
              </a:spcBef>
            </a:pPr>
            <a:r>
              <a:rPr sz="2000" b="0" dirty="0">
                <a:solidFill>
                  <a:srgbClr val="1E2936"/>
                </a:solidFill>
                <a:latin typeface="Canva Sans"/>
              </a:rPr>
              <a:t>Face 10%, audio 26%, text 63% on this frame - the face crop was low quality, so it lost influence automatically.</a:t>
            </a:r>
            <a:endParaRPr lang="en-US" sz="2000" b="0" dirty="0">
              <a:solidFill>
                <a:srgbClr val="1E2936"/>
              </a:solidFill>
              <a:latin typeface="Canva Sans"/>
            </a:endParaRPr>
          </a:p>
          <a:p>
            <a:pPr>
              <a:spcBef>
                <a:spcPts val="800"/>
              </a:spcBef>
            </a:pPr>
            <a:endParaRPr sz="2000" b="0" dirty="0">
              <a:solidFill>
                <a:srgbClr val="1E2936"/>
              </a:solidFill>
              <a:latin typeface="Canva Sans"/>
            </a:endParaRPr>
          </a:p>
          <a:p>
            <a:pPr>
              <a:spcBef>
                <a:spcPts val="2000"/>
              </a:spcBef>
            </a:pPr>
            <a:r>
              <a:rPr sz="2000" b="1" dirty="0">
                <a:solidFill>
                  <a:srgbClr val="004AAD"/>
                </a:solidFill>
                <a:latin typeface="Canva Sans Bold"/>
              </a:rPr>
              <a:t>Disagreement surfaced</a:t>
            </a:r>
          </a:p>
          <a:p>
            <a:pPr>
              <a:spcBef>
                <a:spcPts val="800"/>
              </a:spcBef>
            </a:pPr>
            <a:r>
              <a:rPr sz="2000" b="0" dirty="0">
                <a:solidFill>
                  <a:srgbClr val="1E2936"/>
                </a:solidFill>
                <a:latin typeface="Canva Sans"/>
              </a:rPr>
              <a:t>When the modalities conflict the banner says so. That flag is predictive: accuracy drops from 74% to 53% when it fires.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342351"/>
            <a:ext cx="1257300" cy="964528"/>
            <a:chOff x="0" y="0"/>
            <a:chExt cx="1676400" cy="128603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76400" cy="1286075"/>
            </a:xfrm>
            <a:custGeom>
              <a:avLst/>
              <a:gdLst/>
              <a:ahLst/>
              <a:cxnLst/>
              <a:rect l="l" t="t" r="r" b="b"/>
              <a:pathLst>
                <a:path w="1676400" h="1286075">
                  <a:moveTo>
                    <a:pt x="0" y="0"/>
                  </a:moveTo>
                  <a:lnTo>
                    <a:pt x="1676400" y="0"/>
                  </a:lnTo>
                  <a:lnTo>
                    <a:pt x="1676400" y="1286075"/>
                  </a:lnTo>
                  <a:lnTo>
                    <a:pt x="0" y="1286075"/>
                  </a:lnTo>
                  <a:close/>
                </a:path>
              </a:pathLst>
            </a:custGeom>
            <a:solidFill>
              <a:srgbClr val="A4253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257300" y="9534525"/>
            <a:ext cx="13997121" cy="772354"/>
            <a:chOff x="0" y="0"/>
            <a:chExt cx="18662828" cy="102980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662777" cy="1029843"/>
            </a:xfrm>
            <a:custGeom>
              <a:avLst/>
              <a:gdLst/>
              <a:ahLst/>
              <a:cxnLst/>
              <a:rect l="l" t="t" r="r" b="b"/>
              <a:pathLst>
                <a:path w="18662777" h="1029843">
                  <a:moveTo>
                    <a:pt x="0" y="0"/>
                  </a:moveTo>
                  <a:lnTo>
                    <a:pt x="18662777" y="0"/>
                  </a:lnTo>
                  <a:lnTo>
                    <a:pt x="18662777" y="1029843"/>
                  </a:lnTo>
                  <a:lnTo>
                    <a:pt x="0" y="1029843"/>
                  </a:lnTo>
                  <a:close/>
                </a:path>
              </a:pathLst>
            </a:custGeom>
            <a:solidFill>
              <a:srgbClr val="A42530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4429891" y="9342351"/>
            <a:ext cx="3858109" cy="964528"/>
            <a:chOff x="0" y="0"/>
            <a:chExt cx="6491470" cy="1622868"/>
          </a:xfrm>
        </p:grpSpPr>
        <p:sp>
          <p:nvSpPr>
            <p:cNvPr id="7" name="Freeform 7" descr="A picture containing drawing  Description automatically generated"/>
            <p:cNvSpPr/>
            <p:nvPr/>
          </p:nvSpPr>
          <p:spPr>
            <a:xfrm>
              <a:off x="0" y="0"/>
              <a:ext cx="6491478" cy="1622806"/>
            </a:xfrm>
            <a:custGeom>
              <a:avLst/>
              <a:gdLst/>
              <a:ahLst/>
              <a:cxnLst/>
              <a:rect l="l" t="t" r="r" b="b"/>
              <a:pathLst>
                <a:path w="6491478" h="1622806">
                  <a:moveTo>
                    <a:pt x="0" y="0"/>
                  </a:moveTo>
                  <a:lnTo>
                    <a:pt x="6491478" y="0"/>
                  </a:lnTo>
                  <a:lnTo>
                    <a:pt x="6491478" y="1622806"/>
                  </a:lnTo>
                  <a:lnTo>
                    <a:pt x="0" y="16228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3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6902182" y="0"/>
            <a:ext cx="1452818" cy="968896"/>
            <a:chOff x="0" y="0"/>
            <a:chExt cx="1937090" cy="1291861"/>
          </a:xfrm>
        </p:grpSpPr>
        <p:sp>
          <p:nvSpPr>
            <p:cNvPr id="9" name="Freeform 9" descr="A close up of a sign  Description automatically generated"/>
            <p:cNvSpPr/>
            <p:nvPr/>
          </p:nvSpPr>
          <p:spPr>
            <a:xfrm>
              <a:off x="0" y="0"/>
              <a:ext cx="1937131" cy="1291884"/>
            </a:xfrm>
            <a:custGeom>
              <a:avLst/>
              <a:gdLst/>
              <a:ahLst/>
              <a:cxnLst/>
              <a:rect l="l" t="t" r="r" b="b"/>
              <a:pathLst>
                <a:path w="1937131" h="1291884">
                  <a:moveTo>
                    <a:pt x="0" y="0"/>
                  </a:moveTo>
                  <a:lnTo>
                    <a:pt x="1937131" y="0"/>
                  </a:lnTo>
                  <a:lnTo>
                    <a:pt x="1937131" y="1291884"/>
                  </a:lnTo>
                  <a:lnTo>
                    <a:pt x="0" y="12918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" t="-5884" b="-6094"/>
              </a:stretch>
            </a:blipFill>
          </p:spPr>
        </p:sp>
      </p:grpSp>
      <p:sp>
        <p:nvSpPr>
          <p:cNvPr id="10" name="TextBox Title"/>
          <p:cNvSpPr txBox="1"/>
          <p:nvPr/>
        </p:nvSpPr>
        <p:spPr>
          <a:xfrm>
            <a:off x="1143000" y="475488"/>
            <a:ext cx="160020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4000" b="1" dirty="0">
                <a:solidFill>
                  <a:srgbClr val="004AAD"/>
                </a:solidFill>
                <a:latin typeface="Canva Sans Bold"/>
              </a:rPr>
              <a:t>The Honest Problem: The Label Will Not Sit Still</a:t>
            </a:r>
            <a:endParaRPr lang="en-US" sz="4000" b="1" dirty="0">
              <a:solidFill>
                <a:srgbClr val="004AAD"/>
              </a:solidFill>
              <a:latin typeface="Canva Sans Bold"/>
            </a:endParaRPr>
          </a:p>
        </p:txBody>
      </p:sp>
      <p:sp>
        <p:nvSpPr>
          <p:cNvPr id="11" name="TextBox Subtitle"/>
          <p:cNvSpPr txBox="1"/>
          <p:nvPr/>
        </p:nvSpPr>
        <p:spPr>
          <a:xfrm>
            <a:off x="1170432" y="1389888"/>
            <a:ext cx="15910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700" b="0" dirty="0">
                <a:solidFill>
                  <a:srgbClr val="1E2936"/>
                </a:solidFill>
                <a:latin typeface="Canva Sans"/>
              </a:rPr>
              <a:t>Hold a steady expression and the displayed emotion still changes several times a second. Three measured causes.</a:t>
            </a:r>
            <a:endParaRPr lang="en-US" sz="1700" b="0" dirty="0">
              <a:solidFill>
                <a:srgbClr val="1E2936"/>
              </a:solidFill>
              <a:latin typeface="Canva Sans"/>
            </a:endParaRPr>
          </a:p>
        </p:txBody>
      </p:sp>
      <p:sp>
        <p:nvSpPr>
          <p:cNvPr id="100" name="Rule 100"/>
          <p:cNvSpPr/>
          <p:nvPr/>
        </p:nvSpPr>
        <p:spPr>
          <a:xfrm>
            <a:off x="1143000" y="2697480"/>
            <a:ext cx="4892040" cy="50292"/>
          </a:xfrm>
          <a:prstGeom prst="rect">
            <a:avLst/>
          </a:prstGeom>
          <a:solidFill>
            <a:srgbClr val="A425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Card 101"/>
          <p:cNvSpPr txBox="1"/>
          <p:nvPr/>
        </p:nvSpPr>
        <p:spPr>
          <a:xfrm>
            <a:off x="1143000" y="2880360"/>
            <a:ext cx="4892040" cy="281457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lang="en-US" sz="2400" b="1" dirty="0">
                <a:solidFill>
                  <a:srgbClr val="A42530"/>
                </a:solidFill>
                <a:latin typeface="Canva Sans Bold"/>
              </a:rPr>
              <a:t>The top-1 is nearly a tie</a:t>
            </a:r>
            <a:endParaRPr lang="en-US" sz="2400" b="1" dirty="0">
              <a:solidFill>
                <a:srgbClr val="A42530"/>
              </a:solidFill>
              <a:latin typeface="Canva Sans Bold"/>
            </a:endParaRPr>
          </a:p>
          <a:p>
            <a:pPr algn="l">
              <a:spcBef>
                <a:spcPts val="900"/>
              </a:spcBef>
            </a:pPr>
            <a:r>
              <a:rPr lang="en-US" sz="1500" b="1" dirty="0">
                <a:solidFill>
                  <a:srgbClr val="A42530"/>
                </a:solidFill>
                <a:latin typeface="Canva Sans Bold"/>
              </a:rPr>
              <a:t>The number  </a:t>
            </a:r>
            <a:r>
              <a:rPr lang="en-US" sz="1500" b="0" dirty="0">
                <a:solidFill>
                  <a:srgbClr val="1E2936"/>
                </a:solidFill>
                <a:latin typeface="Canva Sans"/>
              </a:rPr>
              <a:t>52.3% over seven classes on unseen faces.</a:t>
            </a:r>
            <a:endParaRPr lang="en-US" sz="1500" b="0" dirty="0">
              <a:solidFill>
                <a:srgbClr val="1E2936"/>
              </a:solidFill>
              <a:latin typeface="Canva Sans"/>
            </a:endParaRPr>
          </a:p>
          <a:p>
            <a:pPr algn="l">
              <a:spcBef>
                <a:spcPts val="500"/>
              </a:spcBef>
            </a:pPr>
            <a:r>
              <a:rPr lang="en-US" sz="1500" b="1" dirty="0">
                <a:solidFill>
                  <a:srgbClr val="A42530"/>
                </a:solidFill>
                <a:latin typeface="Canva Sans Bold"/>
              </a:rPr>
              <a:t>What it means  </a:t>
            </a:r>
            <a:r>
              <a:rPr lang="en-US" sz="1500" b="0" dirty="0">
                <a:solidFill>
                  <a:srgbClr val="1E2936"/>
                </a:solidFill>
                <a:latin typeface="Canva Sans"/>
              </a:rPr>
              <a:t>The leading class and the runner-up usually sit within a few points. Any change in crop, light or pose re-orders them - so the answer moves while the face does not.</a:t>
            </a:r>
            <a:endParaRPr lang="en-US" sz="1500" b="0" dirty="0">
              <a:solidFill>
                <a:srgbClr val="1E2936"/>
              </a:solidFill>
              <a:latin typeface="Canva Sans"/>
            </a:endParaRPr>
          </a:p>
          <a:p>
            <a:pPr algn="l">
              <a:spcBef>
                <a:spcPts val="500"/>
              </a:spcBef>
            </a:pPr>
            <a:r>
              <a:rPr lang="en-US" sz="1500" b="1" dirty="0">
                <a:solidFill>
                  <a:srgbClr val="A42530"/>
                </a:solidFill>
                <a:latin typeface="Canva Sans Bold"/>
              </a:rPr>
              <a:t>Worst pairs  </a:t>
            </a:r>
            <a:r>
              <a:rPr lang="en-US" sz="1500" b="0" dirty="0">
                <a:solidFill>
                  <a:srgbClr val="1E2936"/>
                </a:solidFill>
                <a:latin typeface="Canva Sans"/>
              </a:rPr>
              <a:t>neutral against sad, angry against disgust. Disgust holds only 0.20 F1 cross-dataset.</a:t>
            </a:r>
            <a:endParaRPr lang="en-US" sz="1500" b="0" dirty="0">
              <a:solidFill>
                <a:srgbClr val="1E2936"/>
              </a:solidFill>
              <a:latin typeface="Canva Sans"/>
            </a:endParaRPr>
          </a:p>
        </p:txBody>
      </p:sp>
      <p:sp>
        <p:nvSpPr>
          <p:cNvPr id="102" name="Rule 102"/>
          <p:cNvSpPr/>
          <p:nvPr/>
        </p:nvSpPr>
        <p:spPr>
          <a:xfrm>
            <a:off x="6675120" y="2697480"/>
            <a:ext cx="4892040" cy="50292"/>
          </a:xfrm>
          <a:prstGeom prst="rect">
            <a:avLst/>
          </a:prstGeom>
          <a:solidFill>
            <a:srgbClr val="A425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Card 103"/>
          <p:cNvSpPr txBox="1"/>
          <p:nvPr/>
        </p:nvSpPr>
        <p:spPr>
          <a:xfrm>
            <a:off x="6675120" y="2880360"/>
            <a:ext cx="4892040" cy="281457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lang="en-US" sz="2400" b="1" dirty="0">
                <a:solidFill>
                  <a:srgbClr val="A42530"/>
                </a:solidFill>
                <a:latin typeface="Canva Sans Bold"/>
              </a:rPr>
              <a:t>The session prior is wrong</a:t>
            </a:r>
            <a:endParaRPr lang="en-US" sz="2400" b="1" dirty="0">
              <a:solidFill>
                <a:srgbClr val="A42530"/>
              </a:solidFill>
              <a:latin typeface="Canva Sans Bold"/>
            </a:endParaRPr>
          </a:p>
          <a:p>
            <a:pPr algn="l">
              <a:spcBef>
                <a:spcPts val="900"/>
              </a:spcBef>
            </a:pPr>
            <a:r>
              <a:rPr lang="en-US" sz="1500" b="1" dirty="0">
                <a:solidFill>
                  <a:srgbClr val="A42530"/>
                </a:solidFill>
                <a:latin typeface="Canva Sans Bold"/>
              </a:rPr>
              <a:t>The number  </a:t>
            </a:r>
            <a:r>
              <a:rPr lang="en-US" sz="1500" b="0" dirty="0">
                <a:solidFill>
                  <a:srgbClr val="1E2936"/>
                </a:solidFill>
                <a:latin typeface="Canva Sans"/>
              </a:rPr>
              <a:t>Neutral is shown on 27.5% of frames; a real session is ~55% neutral.</a:t>
            </a:r>
            <a:endParaRPr lang="en-US" sz="1500" b="0" dirty="0">
              <a:solidFill>
                <a:srgbClr val="1E2936"/>
              </a:solidFill>
              <a:latin typeface="Canva Sans"/>
            </a:endParaRPr>
          </a:p>
          <a:p>
            <a:pPr algn="l">
              <a:spcBef>
                <a:spcPts val="500"/>
              </a:spcBef>
            </a:pPr>
            <a:r>
              <a:rPr lang="en-US" sz="1500" b="1" dirty="0">
                <a:solidFill>
                  <a:srgbClr val="A42530"/>
                </a:solidFill>
                <a:latin typeface="Canva Sans Bold"/>
              </a:rPr>
              <a:t>What it means  </a:t>
            </a:r>
            <a:r>
              <a:rPr lang="en-US" sz="1500" b="0" dirty="0">
                <a:solidFill>
                  <a:srgbClr val="1E2936"/>
                </a:solidFill>
                <a:latin typeface="Canva Sans"/>
              </a:rPr>
              <a:t>The model is calibrated on a balanced set and carries that prior. Sad fires at 2.2x and surprise at 2.1x their true rate - most spurious 'surprise' flashes are a neutral face leaking.</a:t>
            </a:r>
            <a:endParaRPr lang="en-US" sz="1500" b="0" dirty="0">
              <a:solidFill>
                <a:srgbClr val="1E2936"/>
              </a:solidFill>
              <a:latin typeface="Canva Sans"/>
            </a:endParaRPr>
          </a:p>
          <a:p>
            <a:pPr algn="l">
              <a:spcBef>
                <a:spcPts val="500"/>
              </a:spcBef>
            </a:pPr>
            <a:r>
              <a:rPr lang="en-US" sz="1500" b="1" dirty="0">
                <a:solidFill>
                  <a:srgbClr val="A42530"/>
                </a:solidFill>
                <a:latin typeface="Canva Sans Bold"/>
              </a:rPr>
              <a:t>The fix exists  </a:t>
            </a:r>
            <a:r>
              <a:rPr lang="en-US" sz="1500" b="0" dirty="0">
                <a:solidFill>
                  <a:srgbClr val="1E2936"/>
                </a:solidFill>
                <a:latin typeface="Canva Sans"/>
              </a:rPr>
              <a:t>Correcting the prior lifts accuracy 56.7% to 72.3%. It ships switched off.</a:t>
            </a:r>
            <a:endParaRPr lang="en-US" sz="1500" b="0" dirty="0">
              <a:solidFill>
                <a:srgbClr val="1E2936"/>
              </a:solidFill>
              <a:latin typeface="Canva Sans"/>
            </a:endParaRPr>
          </a:p>
        </p:txBody>
      </p:sp>
      <p:sp>
        <p:nvSpPr>
          <p:cNvPr id="104" name="Rule 104"/>
          <p:cNvSpPr/>
          <p:nvPr/>
        </p:nvSpPr>
        <p:spPr>
          <a:xfrm>
            <a:off x="12207240" y="2697480"/>
            <a:ext cx="4892040" cy="50292"/>
          </a:xfrm>
          <a:prstGeom prst="rect">
            <a:avLst/>
          </a:prstGeom>
          <a:solidFill>
            <a:srgbClr val="A425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Card 105"/>
          <p:cNvSpPr txBox="1"/>
          <p:nvPr/>
        </p:nvSpPr>
        <p:spPr>
          <a:xfrm>
            <a:off x="12207240" y="2880360"/>
            <a:ext cx="4892040" cy="281457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lang="en-US" sz="2400" b="1" dirty="0">
                <a:solidFill>
                  <a:srgbClr val="A42530"/>
                </a:solidFill>
                <a:latin typeface="Canva Sans Bold"/>
              </a:rPr>
              <a:t>Only the face leg is smoothed</a:t>
            </a:r>
            <a:endParaRPr lang="en-US" sz="2400" b="1" dirty="0">
              <a:solidFill>
                <a:srgbClr val="A42530"/>
              </a:solidFill>
              <a:latin typeface="Canva Sans Bold"/>
            </a:endParaRPr>
          </a:p>
          <a:p>
            <a:pPr algn="l">
              <a:spcBef>
                <a:spcPts val="900"/>
              </a:spcBef>
            </a:pPr>
            <a:r>
              <a:rPr lang="en-US" sz="1500" b="1" dirty="0">
                <a:solidFill>
                  <a:srgbClr val="A42530"/>
                </a:solidFill>
                <a:latin typeface="Canva Sans Bold"/>
              </a:rPr>
              <a:t>The number  </a:t>
            </a:r>
            <a:r>
              <a:rPr lang="en-US" sz="1500" b="0" dirty="0">
                <a:solidFill>
                  <a:srgbClr val="1E2936"/>
                </a:solidFill>
                <a:latin typeface="Canva Sans"/>
              </a:rPr>
              <a:t>EMA time constant 0.6 s, hysteresis margin 0.05 - inside the face pipeline only.</a:t>
            </a:r>
            <a:endParaRPr lang="en-US" sz="1500" b="0" dirty="0">
              <a:solidFill>
                <a:srgbClr val="1E2936"/>
              </a:solidFill>
              <a:latin typeface="Canva Sans"/>
            </a:endParaRPr>
          </a:p>
          <a:p>
            <a:pPr algn="l">
              <a:spcBef>
                <a:spcPts val="500"/>
              </a:spcBef>
            </a:pPr>
            <a:r>
              <a:rPr lang="en-US" sz="1500" b="1" dirty="0">
                <a:solidFill>
                  <a:srgbClr val="A42530"/>
                </a:solidFill>
                <a:latin typeface="Canva Sans Bold"/>
              </a:rPr>
              <a:t>What it means  </a:t>
            </a:r>
            <a:r>
              <a:rPr lang="en-US" sz="1500" b="0" dirty="0">
                <a:solidFill>
                  <a:srgbClr val="1E2936"/>
                </a:solidFill>
                <a:latin typeface="Canva Sans"/>
              </a:rPr>
              <a:t>The fusion engine is stateless by design, so the number the clinician reads has no temporal filter at all.</a:t>
            </a:r>
            <a:endParaRPr lang="en-US" sz="1500" b="0" dirty="0">
              <a:solidFill>
                <a:srgbClr val="1E2936"/>
              </a:solidFill>
              <a:latin typeface="Canva Sans"/>
            </a:endParaRPr>
          </a:p>
          <a:p>
            <a:pPr algn="l">
              <a:spcBef>
                <a:spcPts val="500"/>
              </a:spcBef>
            </a:pPr>
            <a:r>
              <a:rPr lang="en-US" sz="1500" b="1" dirty="0">
                <a:solidFill>
                  <a:srgbClr val="A42530"/>
                </a:solidFill>
                <a:latin typeface="Canva Sans Bold"/>
              </a:rPr>
              <a:t>And worse  </a:t>
            </a:r>
            <a:r>
              <a:rPr lang="en-US" sz="1500" b="0" dirty="0">
                <a:solidFill>
                  <a:srgbClr val="1E2936"/>
                </a:solidFill>
                <a:latin typeface="Canva Sans"/>
              </a:rPr>
              <a:t>Its weights move every frame as audio decays (8 s half-life) and text decays (30 s). The reading can change with no new evidence.</a:t>
            </a:r>
            <a:endParaRPr lang="en-US" sz="1500" b="0" dirty="0">
              <a:solidFill>
                <a:srgbClr val="1E2936"/>
              </a:solidFill>
              <a:latin typeface="Canva Sans"/>
            </a:endParaRPr>
          </a:p>
        </p:txBody>
      </p:sp>
      <p:sp>
        <p:nvSpPr>
          <p:cNvPr id="106" name="Footer 106"/>
          <p:cNvSpPr txBox="1"/>
          <p:nvPr/>
        </p:nvSpPr>
        <p:spPr>
          <a:xfrm>
            <a:off x="1143000" y="5969254"/>
            <a:ext cx="16002000" cy="978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2000" b="1" dirty="0">
                <a:solidFill>
                  <a:srgbClr val="A42530"/>
                </a:solidFill>
                <a:latin typeface="Canva Sans Bold"/>
              </a:rPr>
              <a:t>And nothing in this deck measures it</a:t>
            </a:r>
            <a:endParaRPr lang="en-US" sz="2000" b="1" dirty="0">
              <a:solidFill>
                <a:srgbClr val="A42530"/>
              </a:solidFill>
              <a:latin typeface="Canva Sans Bold"/>
            </a:endParaRPr>
          </a:p>
          <a:p>
            <a:pPr algn="l">
              <a:spcBef>
                <a:spcPts val="500"/>
              </a:spcBef>
            </a:pPr>
            <a:r>
              <a:rPr lang="en-US" sz="1600" b="0" dirty="0">
                <a:solidFill>
                  <a:srgbClr val="1E2936"/>
                </a:solidFill>
                <a:latin typeface="Canva Sans"/>
              </a:rPr>
              <a:t>Every figure we have shown is per-frame accuracy on still images. Not one metric describes how often the displayed label changes - which is the first thing a clinician would notice. That gap is item one in the future scope.</a:t>
            </a:r>
            <a:endParaRPr lang="en-US" sz="1600" b="0" dirty="0">
              <a:solidFill>
                <a:srgbClr val="1E2936"/>
              </a:solidFill>
              <a:latin typeface="Canva San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342351"/>
            <a:ext cx="1257300" cy="964528"/>
            <a:chOff x="0" y="0"/>
            <a:chExt cx="1676400" cy="128603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76400" cy="1286075"/>
            </a:xfrm>
            <a:custGeom>
              <a:avLst/>
              <a:gdLst/>
              <a:ahLst/>
              <a:cxnLst/>
              <a:rect l="l" t="t" r="r" b="b"/>
              <a:pathLst>
                <a:path w="1676400" h="1286075">
                  <a:moveTo>
                    <a:pt x="0" y="0"/>
                  </a:moveTo>
                  <a:lnTo>
                    <a:pt x="1676400" y="0"/>
                  </a:lnTo>
                  <a:lnTo>
                    <a:pt x="1676400" y="1286075"/>
                  </a:lnTo>
                  <a:lnTo>
                    <a:pt x="0" y="1286075"/>
                  </a:lnTo>
                  <a:close/>
                </a:path>
              </a:pathLst>
            </a:custGeom>
            <a:solidFill>
              <a:srgbClr val="A4253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257300" y="9534525"/>
            <a:ext cx="13997121" cy="772354"/>
            <a:chOff x="0" y="0"/>
            <a:chExt cx="18662828" cy="102980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662777" cy="1029843"/>
            </a:xfrm>
            <a:custGeom>
              <a:avLst/>
              <a:gdLst/>
              <a:ahLst/>
              <a:cxnLst/>
              <a:rect l="l" t="t" r="r" b="b"/>
              <a:pathLst>
                <a:path w="18662777" h="1029843">
                  <a:moveTo>
                    <a:pt x="0" y="0"/>
                  </a:moveTo>
                  <a:lnTo>
                    <a:pt x="18662777" y="0"/>
                  </a:lnTo>
                  <a:lnTo>
                    <a:pt x="18662777" y="1029843"/>
                  </a:lnTo>
                  <a:lnTo>
                    <a:pt x="0" y="1029843"/>
                  </a:lnTo>
                  <a:close/>
                </a:path>
              </a:pathLst>
            </a:custGeom>
            <a:solidFill>
              <a:srgbClr val="A42530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4429891" y="9342351"/>
            <a:ext cx="3858109" cy="964528"/>
            <a:chOff x="0" y="0"/>
            <a:chExt cx="6491470" cy="1622868"/>
          </a:xfrm>
        </p:grpSpPr>
        <p:sp>
          <p:nvSpPr>
            <p:cNvPr id="7" name="Freeform 7" descr="A picture containing drawing  Description automatically generated"/>
            <p:cNvSpPr/>
            <p:nvPr/>
          </p:nvSpPr>
          <p:spPr>
            <a:xfrm>
              <a:off x="0" y="0"/>
              <a:ext cx="6491478" cy="1622806"/>
            </a:xfrm>
            <a:custGeom>
              <a:avLst/>
              <a:gdLst/>
              <a:ahLst/>
              <a:cxnLst/>
              <a:rect l="l" t="t" r="r" b="b"/>
              <a:pathLst>
                <a:path w="6491478" h="1622806">
                  <a:moveTo>
                    <a:pt x="0" y="0"/>
                  </a:moveTo>
                  <a:lnTo>
                    <a:pt x="6491478" y="0"/>
                  </a:lnTo>
                  <a:lnTo>
                    <a:pt x="6491478" y="1622806"/>
                  </a:lnTo>
                  <a:lnTo>
                    <a:pt x="0" y="16228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3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6902182" y="0"/>
            <a:ext cx="1452818" cy="968896"/>
            <a:chOff x="0" y="0"/>
            <a:chExt cx="1937090" cy="1291861"/>
          </a:xfrm>
        </p:grpSpPr>
        <p:sp>
          <p:nvSpPr>
            <p:cNvPr id="9" name="Freeform 9" descr="A close up of a sign  Description automatically generated"/>
            <p:cNvSpPr/>
            <p:nvPr/>
          </p:nvSpPr>
          <p:spPr>
            <a:xfrm>
              <a:off x="0" y="0"/>
              <a:ext cx="1937131" cy="1291884"/>
            </a:xfrm>
            <a:custGeom>
              <a:avLst/>
              <a:gdLst/>
              <a:ahLst/>
              <a:cxnLst/>
              <a:rect l="l" t="t" r="r" b="b"/>
              <a:pathLst>
                <a:path w="1937131" h="1291884">
                  <a:moveTo>
                    <a:pt x="0" y="0"/>
                  </a:moveTo>
                  <a:lnTo>
                    <a:pt x="1937131" y="0"/>
                  </a:lnTo>
                  <a:lnTo>
                    <a:pt x="1937131" y="1291884"/>
                  </a:lnTo>
                  <a:lnTo>
                    <a:pt x="0" y="12918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" t="-5884" b="-6094"/>
              </a:stretch>
            </a:blipFill>
          </p:spPr>
        </p:sp>
      </p:grpSp>
      <p:sp>
        <p:nvSpPr>
          <p:cNvPr id="10" name="TextBox Title"/>
          <p:cNvSpPr txBox="1"/>
          <p:nvPr/>
        </p:nvSpPr>
        <p:spPr>
          <a:xfrm>
            <a:off x="1143000" y="475488"/>
            <a:ext cx="160020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4000" b="1" dirty="0">
                <a:solidFill>
                  <a:srgbClr val="004AAD"/>
                </a:solidFill>
                <a:latin typeface="Canva Sans Bold"/>
              </a:rPr>
              <a:t>Future Scope</a:t>
            </a:r>
            <a:endParaRPr lang="en-US" sz="4000" b="1" dirty="0">
              <a:solidFill>
                <a:srgbClr val="004AAD"/>
              </a:solidFill>
              <a:latin typeface="Canva Sans Bold"/>
            </a:endParaRPr>
          </a:p>
        </p:txBody>
      </p:sp>
      <p:sp>
        <p:nvSpPr>
          <p:cNvPr id="11" name="TextBox Subtitle"/>
          <p:cNvSpPr txBox="1"/>
          <p:nvPr/>
        </p:nvSpPr>
        <p:spPr>
          <a:xfrm>
            <a:off x="1170432" y="1389888"/>
            <a:ext cx="15910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700" b="0" dirty="0">
                <a:solidFill>
                  <a:srgbClr val="1E2936"/>
                </a:solidFill>
                <a:latin typeface="Canva Sans"/>
              </a:rPr>
              <a:t>Ordered, not listed: the instability has to be measured and closed before any clinical claim is worth making.</a:t>
            </a:r>
            <a:endParaRPr lang="en-US" sz="1700" b="0" dirty="0">
              <a:solidFill>
                <a:srgbClr val="1E2936"/>
              </a:solidFill>
              <a:latin typeface="Canva Sans"/>
            </a:endParaRPr>
          </a:p>
        </p:txBody>
      </p:sp>
      <p:sp>
        <p:nvSpPr>
          <p:cNvPr id="100" name="RowLabel 100"/>
          <p:cNvSpPr txBox="1"/>
          <p:nvPr/>
        </p:nvSpPr>
        <p:spPr>
          <a:xfrm>
            <a:off x="1143000" y="1938528"/>
            <a:ext cx="16002000" cy="37312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700" b="1" dirty="0">
                <a:solidFill>
                  <a:srgbClr val="004AAD"/>
                </a:solidFill>
                <a:latin typeface="Canva Sans Bold"/>
              </a:rPr>
              <a:t>NEXT  —  make the live output trustworthy</a:t>
            </a:r>
            <a:endParaRPr lang="en-US" sz="1700" b="1" dirty="0">
              <a:solidFill>
                <a:srgbClr val="004AAD"/>
              </a:solidFill>
              <a:latin typeface="Canva Sans Bold"/>
            </a:endParaRPr>
          </a:p>
        </p:txBody>
      </p:sp>
      <p:sp>
        <p:nvSpPr>
          <p:cNvPr id="101" name="Rule 101"/>
          <p:cNvSpPr/>
          <p:nvPr/>
        </p:nvSpPr>
        <p:spPr>
          <a:xfrm>
            <a:off x="1143000" y="2468880"/>
            <a:ext cx="4892040" cy="50292"/>
          </a:xfrm>
          <a:prstGeom prst="rect">
            <a:avLst/>
          </a:prstGeom>
          <a:solidFill>
            <a:srgbClr val="1C9CC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Card 102"/>
          <p:cNvSpPr txBox="1"/>
          <p:nvPr/>
        </p:nvSpPr>
        <p:spPr>
          <a:xfrm>
            <a:off x="1143000" y="2651760"/>
            <a:ext cx="4892040" cy="199466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lang="en-US" sz="2100" b="1" dirty="0">
                <a:solidFill>
                  <a:srgbClr val="1C9CC0"/>
                </a:solidFill>
                <a:latin typeface="Canva Sans Bold"/>
              </a:rPr>
              <a:t>1 · Measure stability</a:t>
            </a:r>
            <a:endParaRPr lang="en-US" sz="2100" b="1" dirty="0">
              <a:solidFill>
                <a:srgbClr val="1C9CC0"/>
              </a:solidFill>
              <a:latin typeface="Canva Sans Bold"/>
            </a:endParaRPr>
          </a:p>
          <a:p>
            <a:pPr algn="l">
              <a:spcBef>
                <a:spcPts val="800"/>
              </a:spcBef>
            </a:pPr>
            <a:r>
              <a:rPr lang="en-US" sz="1500" b="1" dirty="0">
                <a:solidFill>
                  <a:srgbClr val="1C9CC0"/>
                </a:solidFill>
                <a:latin typeface="Canva Sans Bold"/>
              </a:rPr>
              <a:t>Do  </a:t>
            </a:r>
            <a:r>
              <a:rPr lang="en-US" sz="1500" b="0" dirty="0">
                <a:solidFill>
                  <a:srgbClr val="1E2936"/>
                </a:solidFill>
                <a:latin typeface="Canva Sans"/>
              </a:rPr>
              <a:t>Report switches per minute, mean dwell time and sequence entropy beside accuracy.</a:t>
            </a:r>
            <a:endParaRPr lang="en-US" sz="1500" b="0" dirty="0">
              <a:solidFill>
                <a:srgbClr val="1E2936"/>
              </a:solidFill>
              <a:latin typeface="Canva Sans"/>
            </a:endParaRPr>
          </a:p>
          <a:p>
            <a:pPr algn="l">
              <a:spcBef>
                <a:spcPts val="500"/>
              </a:spcBef>
            </a:pPr>
            <a:r>
              <a:rPr lang="en-US" sz="1500" b="1" dirty="0">
                <a:solidFill>
                  <a:srgbClr val="1C9CC0"/>
                </a:solidFill>
                <a:latin typeface="Canva Sans Bold"/>
              </a:rPr>
              <a:t>Why  </a:t>
            </a:r>
            <a:r>
              <a:rPr lang="en-US" sz="1500" b="0" dirty="0">
                <a:solidFill>
                  <a:srgbClr val="1E2936"/>
                </a:solidFill>
                <a:latin typeface="Canva Sans"/>
              </a:rPr>
              <a:t>52% accurate and steady is usable; 52% and flickering is not. Today's metrics cannot tell them apart.</a:t>
            </a:r>
            <a:endParaRPr lang="en-US" sz="1500" b="0" dirty="0">
              <a:solidFill>
                <a:srgbClr val="1E2936"/>
              </a:solidFill>
              <a:latin typeface="Canva Sans"/>
            </a:endParaRPr>
          </a:p>
        </p:txBody>
      </p:sp>
      <p:sp>
        <p:nvSpPr>
          <p:cNvPr id="103" name="Rule 103"/>
          <p:cNvSpPr/>
          <p:nvPr/>
        </p:nvSpPr>
        <p:spPr>
          <a:xfrm>
            <a:off x="6675120" y="2468880"/>
            <a:ext cx="4892040" cy="50292"/>
          </a:xfrm>
          <a:prstGeom prst="rect">
            <a:avLst/>
          </a:prstGeom>
          <a:solidFill>
            <a:srgbClr val="B06E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Card 104"/>
          <p:cNvSpPr txBox="1"/>
          <p:nvPr/>
        </p:nvSpPr>
        <p:spPr>
          <a:xfrm>
            <a:off x="6675120" y="2651760"/>
            <a:ext cx="4892040" cy="199466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lang="en-US" sz="2100" b="1" dirty="0">
                <a:solidFill>
                  <a:srgbClr val="B06E00"/>
                </a:solidFill>
                <a:latin typeface="Canva Sans Bold"/>
              </a:rPr>
              <a:t>2 · Smooth the decision</a:t>
            </a:r>
            <a:endParaRPr lang="en-US" sz="2100" b="1" dirty="0">
              <a:solidFill>
                <a:srgbClr val="B06E00"/>
              </a:solidFill>
              <a:latin typeface="Canva Sans Bold"/>
            </a:endParaRPr>
          </a:p>
          <a:p>
            <a:pPr algn="l">
              <a:spcBef>
                <a:spcPts val="800"/>
              </a:spcBef>
            </a:pPr>
            <a:r>
              <a:rPr lang="en-US" sz="1500" b="1" dirty="0">
                <a:solidFill>
                  <a:srgbClr val="B06E00"/>
                </a:solidFill>
                <a:latin typeface="Canva Sans Bold"/>
              </a:rPr>
              <a:t>Do  </a:t>
            </a:r>
            <a:r>
              <a:rPr lang="en-US" sz="1500" b="0" dirty="0">
                <a:solidFill>
                  <a:srgbClr val="1E2936"/>
                </a:solidFill>
                <a:latin typeface="Canva Sans"/>
              </a:rPr>
              <a:t>Move the EMA and hysteresis after the pool, then replace both with a seven-state HMM decoded by Viterbi.</a:t>
            </a:r>
            <a:endParaRPr lang="en-US" sz="1500" b="0" dirty="0">
              <a:solidFill>
                <a:srgbClr val="1E2936"/>
              </a:solidFill>
              <a:latin typeface="Canva Sans"/>
            </a:endParaRPr>
          </a:p>
          <a:p>
            <a:pPr algn="l">
              <a:spcBef>
                <a:spcPts val="500"/>
              </a:spcBef>
            </a:pPr>
            <a:r>
              <a:rPr lang="en-US" sz="1500" b="1" dirty="0">
                <a:solidFill>
                  <a:srgbClr val="B06E00"/>
                </a:solidFill>
                <a:latin typeface="Canva Sans Bold"/>
              </a:rPr>
              <a:t>Why  </a:t>
            </a:r>
            <a:r>
              <a:rPr lang="en-US" sz="1500" b="0" dirty="0">
                <a:solidFill>
                  <a:srgbClr val="1E2936"/>
                </a:solidFill>
                <a:latin typeface="Canva Sans"/>
              </a:rPr>
              <a:t>Changing the reported emotion should have to be paid for by evidence. Also: turn the prior correction on.</a:t>
            </a:r>
            <a:endParaRPr lang="en-US" sz="1500" b="0" dirty="0">
              <a:solidFill>
                <a:srgbClr val="1E2936"/>
              </a:solidFill>
              <a:latin typeface="Canva Sans"/>
            </a:endParaRPr>
          </a:p>
        </p:txBody>
      </p:sp>
      <p:sp>
        <p:nvSpPr>
          <p:cNvPr id="105" name="Rule 105"/>
          <p:cNvSpPr/>
          <p:nvPr/>
        </p:nvSpPr>
        <p:spPr>
          <a:xfrm>
            <a:off x="12207240" y="2468880"/>
            <a:ext cx="4892040" cy="50292"/>
          </a:xfrm>
          <a:prstGeom prst="rect">
            <a:avLst/>
          </a:prstGeom>
          <a:solidFill>
            <a:srgbClr val="7A5EA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Card 106"/>
          <p:cNvSpPr txBox="1"/>
          <p:nvPr/>
        </p:nvSpPr>
        <p:spPr>
          <a:xfrm>
            <a:off x="12207240" y="2651760"/>
            <a:ext cx="4892040" cy="199466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lang="en-US" sz="2100" b="1" dirty="0">
                <a:solidFill>
                  <a:srgbClr val="7A5EA6"/>
                </a:solidFill>
                <a:latin typeface="Canva Sans Bold"/>
              </a:rPr>
              <a:t>3 · Report episodes</a:t>
            </a:r>
            <a:endParaRPr lang="en-US" sz="2100" b="1" dirty="0">
              <a:solidFill>
                <a:srgbClr val="7A5EA6"/>
              </a:solidFill>
              <a:latin typeface="Canva Sans Bold"/>
            </a:endParaRPr>
          </a:p>
          <a:p>
            <a:pPr algn="l">
              <a:spcBef>
                <a:spcPts val="800"/>
              </a:spcBef>
            </a:pPr>
            <a:r>
              <a:rPr lang="en-US" sz="1500" b="1" dirty="0">
                <a:solidFill>
                  <a:srgbClr val="7A5EA6"/>
                </a:solidFill>
                <a:latin typeface="Canva Sans Bold"/>
              </a:rPr>
              <a:t>Do  </a:t>
            </a:r>
            <a:r>
              <a:rPr lang="en-US" sz="1500" b="0" dirty="0">
                <a:solidFill>
                  <a:srgbClr val="1E2936"/>
                </a:solidFill>
                <a:latin typeface="Canva Sans"/>
              </a:rPr>
              <a:t>Aggregate to intervals - '2 min 40 s predominantly sad, two conflicts' - with per-frame output on request.</a:t>
            </a:r>
            <a:endParaRPr lang="en-US" sz="1500" b="0" dirty="0">
              <a:solidFill>
                <a:srgbClr val="1E2936"/>
              </a:solidFill>
              <a:latin typeface="Canva Sans"/>
            </a:endParaRPr>
          </a:p>
          <a:p>
            <a:pPr algn="l">
              <a:spcBef>
                <a:spcPts val="500"/>
              </a:spcBef>
            </a:pPr>
            <a:r>
              <a:rPr lang="en-US" sz="1500" b="1" dirty="0">
                <a:solidFill>
                  <a:srgbClr val="7A5EA6"/>
                </a:solidFill>
                <a:latin typeface="Canva Sans Bold"/>
              </a:rPr>
              <a:t>Why  </a:t>
            </a:r>
            <a:r>
              <a:rPr lang="en-US" sz="1500" b="0" dirty="0">
                <a:solidFill>
                  <a:srgbClr val="1E2936"/>
                </a:solidFill>
                <a:latin typeface="Canva Sans"/>
              </a:rPr>
              <a:t>A clinician does not need 32 labels a second, and this gives the system somewhere to say 'unknown'.</a:t>
            </a:r>
            <a:endParaRPr lang="en-US" sz="1500" b="0" dirty="0">
              <a:solidFill>
                <a:srgbClr val="1E2936"/>
              </a:solidFill>
              <a:latin typeface="Canva Sans"/>
            </a:endParaRPr>
          </a:p>
        </p:txBody>
      </p:sp>
      <p:sp>
        <p:nvSpPr>
          <p:cNvPr id="107" name="RowLabel 107"/>
          <p:cNvSpPr txBox="1"/>
          <p:nvPr/>
        </p:nvSpPr>
        <p:spPr>
          <a:xfrm>
            <a:off x="1143000" y="4847590"/>
            <a:ext cx="16002000" cy="37312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700" b="1" dirty="0">
                <a:solidFill>
                  <a:srgbClr val="004AAD"/>
                </a:solidFill>
                <a:latin typeface="Canva Sans Bold"/>
              </a:rPr>
              <a:t>THEN  —  what a clinical claim would require</a:t>
            </a:r>
            <a:endParaRPr lang="en-US" sz="1700" b="1" dirty="0">
              <a:solidFill>
                <a:srgbClr val="004AAD"/>
              </a:solidFill>
              <a:latin typeface="Canva Sans Bold"/>
            </a:endParaRPr>
          </a:p>
        </p:txBody>
      </p:sp>
      <p:sp>
        <p:nvSpPr>
          <p:cNvPr id="108" name="Rule 108"/>
          <p:cNvSpPr/>
          <p:nvPr/>
        </p:nvSpPr>
        <p:spPr>
          <a:xfrm>
            <a:off x="1143000" y="5377942"/>
            <a:ext cx="4892040" cy="50292"/>
          </a:xfrm>
          <a:prstGeom prst="rect">
            <a:avLst/>
          </a:prstGeom>
          <a:solidFill>
            <a:srgbClr val="1C9CC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Card 109"/>
          <p:cNvSpPr txBox="1"/>
          <p:nvPr/>
        </p:nvSpPr>
        <p:spPr>
          <a:xfrm>
            <a:off x="1143000" y="5560822"/>
            <a:ext cx="4892040" cy="199466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lang="en-US" sz="2100" b="1" dirty="0">
                <a:solidFill>
                  <a:srgbClr val="1C9CC0"/>
                </a:solidFill>
                <a:latin typeface="Canva Sans Bold"/>
              </a:rPr>
              <a:t>4 · Escape the data ceiling</a:t>
            </a:r>
            <a:endParaRPr lang="en-US" sz="2100" b="1" dirty="0">
              <a:solidFill>
                <a:srgbClr val="1C9CC0"/>
              </a:solidFill>
              <a:latin typeface="Canva Sans Bold"/>
            </a:endParaRPr>
          </a:p>
          <a:p>
            <a:pPr algn="l">
              <a:spcBef>
                <a:spcPts val="800"/>
              </a:spcBef>
            </a:pPr>
            <a:r>
              <a:rPr lang="en-US" sz="1500" b="1" dirty="0">
                <a:solidFill>
                  <a:srgbClr val="1C9CC0"/>
                </a:solidFill>
                <a:latin typeface="Canva Sans Bold"/>
              </a:rPr>
              <a:t>Do  </a:t>
            </a:r>
            <a:r>
              <a:rPr lang="en-US" sz="1500" b="0" dirty="0">
                <a:solidFill>
                  <a:srgbClr val="1E2936"/>
                </a:solidFill>
                <a:latin typeface="Canva Sans"/>
              </a:rPr>
              <a:t>Full AffectNet (~287k against our 27,823) and a real trimodal corpus - IEMOCAP or CMU-MOSEI.</a:t>
            </a:r>
            <a:endParaRPr lang="en-US" sz="1500" b="0" dirty="0">
              <a:solidFill>
                <a:srgbClr val="1E2936"/>
              </a:solidFill>
              <a:latin typeface="Canva Sans"/>
            </a:endParaRPr>
          </a:p>
          <a:p>
            <a:pPr algn="l">
              <a:spcBef>
                <a:spcPts val="500"/>
              </a:spcBef>
            </a:pPr>
            <a:r>
              <a:rPr lang="en-US" sz="1500" b="1" dirty="0">
                <a:solidFill>
                  <a:srgbClr val="1C9CC0"/>
                </a:solidFill>
                <a:latin typeface="Canva Sans Bold"/>
              </a:rPr>
              <a:t>Why  </a:t>
            </a:r>
            <a:r>
              <a:rPr lang="en-US" sz="1500" b="0" dirty="0">
                <a:solidFill>
                  <a:srgbClr val="1E2936"/>
                </a:solidFill>
                <a:latin typeface="Canva Sans"/>
              </a:rPr>
              <a:t>Three attempts to beat v4 all failed, which says the constraint is face diversity, not capacity.</a:t>
            </a:r>
            <a:endParaRPr lang="en-US" sz="1500" b="0" dirty="0">
              <a:solidFill>
                <a:srgbClr val="1E2936"/>
              </a:solidFill>
              <a:latin typeface="Canva Sans"/>
            </a:endParaRPr>
          </a:p>
        </p:txBody>
      </p:sp>
      <p:sp>
        <p:nvSpPr>
          <p:cNvPr id="110" name="Rule 110"/>
          <p:cNvSpPr/>
          <p:nvPr/>
        </p:nvSpPr>
        <p:spPr>
          <a:xfrm>
            <a:off x="6675120" y="5377942"/>
            <a:ext cx="4892040" cy="50292"/>
          </a:xfrm>
          <a:prstGeom prst="rect">
            <a:avLst/>
          </a:prstGeom>
          <a:solidFill>
            <a:srgbClr val="B06E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Card 111"/>
          <p:cNvSpPr txBox="1"/>
          <p:nvPr/>
        </p:nvSpPr>
        <p:spPr>
          <a:xfrm>
            <a:off x="6675120" y="5560822"/>
            <a:ext cx="4892040" cy="199466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lang="en-US" sz="2100" b="1" dirty="0">
                <a:solidFill>
                  <a:srgbClr val="B06E00"/>
                </a:solidFill>
                <a:latin typeface="Canva Sans Bold"/>
              </a:rPr>
              <a:t>5 · Validate clinically</a:t>
            </a:r>
            <a:endParaRPr lang="en-US" sz="2100" b="1" dirty="0">
              <a:solidFill>
                <a:srgbClr val="B06E00"/>
              </a:solidFill>
              <a:latin typeface="Canva Sans Bold"/>
            </a:endParaRPr>
          </a:p>
          <a:p>
            <a:pPr algn="l">
              <a:spcBef>
                <a:spcPts val="800"/>
              </a:spcBef>
            </a:pPr>
            <a:r>
              <a:rPr lang="en-US" sz="1500" b="1" dirty="0">
                <a:solidFill>
                  <a:srgbClr val="B06E00"/>
                </a:solidFill>
                <a:latin typeface="Canva Sans Bold"/>
              </a:rPr>
              <a:t>Do  </a:t>
            </a:r>
            <a:r>
              <a:rPr lang="en-US" sz="1500" b="0" dirty="0">
                <a:solidFill>
                  <a:srgbClr val="1E2936"/>
                </a:solidFill>
                <a:latin typeface="Canva Sans"/>
              </a:rPr>
              <a:t>Agreement against clinician ratings on real consultations, under ethics approval.</a:t>
            </a:r>
            <a:endParaRPr lang="en-US" sz="1500" b="0" dirty="0">
              <a:solidFill>
                <a:srgbClr val="1E2936"/>
              </a:solidFill>
              <a:latin typeface="Canva Sans"/>
            </a:endParaRPr>
          </a:p>
          <a:p>
            <a:pPr algn="l">
              <a:spcBef>
                <a:spcPts val="500"/>
              </a:spcBef>
            </a:pPr>
            <a:r>
              <a:rPr lang="en-US" sz="1500" b="1" dirty="0">
                <a:solidFill>
                  <a:srgbClr val="B06E00"/>
                </a:solidFill>
                <a:latin typeface="Canva Sans Bold"/>
              </a:rPr>
              <a:t>Why  </a:t>
            </a:r>
            <a:r>
              <a:rPr lang="en-US" sz="1500" b="0" dirty="0">
                <a:solidFill>
                  <a:srgbClr val="1E2936"/>
                </a:solidFill>
                <a:latin typeface="Canva Sans"/>
              </a:rPr>
              <a:t>Every number here is acted corpora or TV dialogue. Report accuracy per skin tone, age and gender.</a:t>
            </a:r>
            <a:endParaRPr lang="en-US" sz="1500" b="0" dirty="0">
              <a:solidFill>
                <a:srgbClr val="1E2936"/>
              </a:solidFill>
              <a:latin typeface="Canva Sans"/>
            </a:endParaRPr>
          </a:p>
        </p:txBody>
      </p:sp>
      <p:sp>
        <p:nvSpPr>
          <p:cNvPr id="112" name="Rule 112"/>
          <p:cNvSpPr/>
          <p:nvPr/>
        </p:nvSpPr>
        <p:spPr>
          <a:xfrm>
            <a:off x="12207240" y="5377942"/>
            <a:ext cx="4892040" cy="50292"/>
          </a:xfrm>
          <a:prstGeom prst="rect">
            <a:avLst/>
          </a:prstGeom>
          <a:solidFill>
            <a:srgbClr val="7A5EA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Card 113"/>
          <p:cNvSpPr txBox="1"/>
          <p:nvPr/>
        </p:nvSpPr>
        <p:spPr>
          <a:xfrm>
            <a:off x="12207240" y="5560822"/>
            <a:ext cx="4892040" cy="199466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lang="en-US" sz="2100" b="1" dirty="0">
                <a:solidFill>
                  <a:srgbClr val="7A5EA6"/>
                </a:solidFill>
                <a:latin typeface="Canva Sans Bold"/>
              </a:rPr>
              <a:t>6 · Privacy by construction</a:t>
            </a:r>
            <a:endParaRPr lang="en-US" sz="2100" b="1" dirty="0">
              <a:solidFill>
                <a:srgbClr val="7A5EA6"/>
              </a:solidFill>
              <a:latin typeface="Canva Sans Bold"/>
            </a:endParaRPr>
          </a:p>
          <a:p>
            <a:pPr algn="l">
              <a:spcBef>
                <a:spcPts val="800"/>
              </a:spcBef>
            </a:pPr>
            <a:r>
              <a:rPr lang="en-US" sz="1500" b="1" dirty="0">
                <a:solidFill>
                  <a:srgbClr val="7A5EA6"/>
                </a:solidFill>
                <a:latin typeface="Canva Sans Bold"/>
              </a:rPr>
              <a:t>Do  </a:t>
            </a:r>
            <a:r>
              <a:rPr lang="en-US" sz="1500" b="0" dirty="0">
                <a:solidFill>
                  <a:srgbClr val="1E2936"/>
                </a:solidFill>
                <a:latin typeface="Canva Sans"/>
              </a:rPr>
              <a:t>Run the face leg in the browser with ONNX Runtime Web; send only the seven probabilities.</a:t>
            </a:r>
            <a:endParaRPr lang="en-US" sz="1500" b="0" dirty="0">
              <a:solidFill>
                <a:srgbClr val="1E2936"/>
              </a:solidFill>
              <a:latin typeface="Canva Sans"/>
            </a:endParaRPr>
          </a:p>
          <a:p>
            <a:pPr algn="l">
              <a:spcBef>
                <a:spcPts val="500"/>
              </a:spcBef>
            </a:pPr>
            <a:r>
              <a:rPr lang="en-US" sz="1500" b="1" dirty="0">
                <a:solidFill>
                  <a:srgbClr val="7A5EA6"/>
                </a:solidFill>
                <a:latin typeface="Canva Sans Bold"/>
              </a:rPr>
              <a:t>Why  </a:t>
            </a:r>
            <a:r>
              <a:rPr lang="en-US" sz="1500" b="0" dirty="0">
                <a:solidFill>
                  <a:srgbClr val="1E2936"/>
                </a:solidFill>
                <a:latin typeface="Canva Sans"/>
              </a:rPr>
              <a:t>Frames currently cross the wire as Base64 JPEG. Federated training then reaches data that cannot be centralised.</a:t>
            </a:r>
            <a:endParaRPr lang="en-US" sz="1500" b="0" dirty="0">
              <a:solidFill>
                <a:srgbClr val="1E2936"/>
              </a:solidFill>
              <a:latin typeface="Canva San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8888013" y="859470"/>
            <a:ext cx="578976" cy="18354998"/>
            <a:chOff x="0" y="0"/>
            <a:chExt cx="771968" cy="244733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71906" cy="24473281"/>
            </a:xfrm>
            <a:custGeom>
              <a:avLst/>
              <a:gdLst/>
              <a:ahLst/>
              <a:cxnLst/>
              <a:rect l="l" t="t" r="r" b="b"/>
              <a:pathLst>
                <a:path w="771906" h="24473281">
                  <a:moveTo>
                    <a:pt x="0" y="0"/>
                  </a:moveTo>
                  <a:lnTo>
                    <a:pt x="771906" y="0"/>
                  </a:lnTo>
                  <a:lnTo>
                    <a:pt x="771906" y="24473281"/>
                  </a:lnTo>
                  <a:lnTo>
                    <a:pt x="0" y="244732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494469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5400000">
            <a:off x="6867480" y="2631033"/>
            <a:ext cx="264614" cy="13999572"/>
            <a:chOff x="0" y="0"/>
            <a:chExt cx="352818" cy="1866609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52806" cy="18666079"/>
            </a:xfrm>
            <a:custGeom>
              <a:avLst/>
              <a:gdLst/>
              <a:ahLst/>
              <a:cxnLst/>
              <a:rect l="l" t="t" r="r" b="b"/>
              <a:pathLst>
                <a:path w="352806" h="18666079">
                  <a:moveTo>
                    <a:pt x="0" y="0"/>
                  </a:moveTo>
                  <a:lnTo>
                    <a:pt x="352806" y="0"/>
                  </a:lnTo>
                  <a:lnTo>
                    <a:pt x="352806" y="18666079"/>
                  </a:lnTo>
                  <a:lnTo>
                    <a:pt x="0" y="18666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340183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3798189" y="8819818"/>
            <a:ext cx="4868602" cy="1217151"/>
            <a:chOff x="0" y="0"/>
            <a:chExt cx="6491470" cy="1622868"/>
          </a:xfrm>
        </p:grpSpPr>
        <p:sp>
          <p:nvSpPr>
            <p:cNvPr id="7" name="Freeform 7" descr="A picture containing drawing  Description automatically generated"/>
            <p:cNvSpPr/>
            <p:nvPr/>
          </p:nvSpPr>
          <p:spPr>
            <a:xfrm>
              <a:off x="0" y="0"/>
              <a:ext cx="6491478" cy="1622806"/>
            </a:xfrm>
            <a:custGeom>
              <a:avLst/>
              <a:gdLst/>
              <a:ahLst/>
              <a:cxnLst/>
              <a:rect l="l" t="t" r="r" b="b"/>
              <a:pathLst>
                <a:path w="6491478" h="1622806">
                  <a:moveTo>
                    <a:pt x="0" y="0"/>
                  </a:moveTo>
                  <a:lnTo>
                    <a:pt x="6491478" y="0"/>
                  </a:lnTo>
                  <a:lnTo>
                    <a:pt x="6491478" y="1622806"/>
                  </a:lnTo>
                  <a:lnTo>
                    <a:pt x="0" y="16228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3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6902182" y="0"/>
            <a:ext cx="1452818" cy="968896"/>
            <a:chOff x="0" y="0"/>
            <a:chExt cx="1937090" cy="1291861"/>
          </a:xfrm>
        </p:grpSpPr>
        <p:sp>
          <p:nvSpPr>
            <p:cNvPr id="9" name="Freeform 9" descr="A close up of a sign  Description automatically generated"/>
            <p:cNvSpPr/>
            <p:nvPr/>
          </p:nvSpPr>
          <p:spPr>
            <a:xfrm>
              <a:off x="0" y="0"/>
              <a:ext cx="1937131" cy="1291884"/>
            </a:xfrm>
            <a:custGeom>
              <a:avLst/>
              <a:gdLst/>
              <a:ahLst/>
              <a:cxnLst/>
              <a:rect l="l" t="t" r="r" b="b"/>
              <a:pathLst>
                <a:path w="1937131" h="1291884">
                  <a:moveTo>
                    <a:pt x="0" y="0"/>
                  </a:moveTo>
                  <a:lnTo>
                    <a:pt x="1937131" y="0"/>
                  </a:lnTo>
                  <a:lnTo>
                    <a:pt x="1937131" y="1291884"/>
                  </a:lnTo>
                  <a:lnTo>
                    <a:pt x="0" y="12918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" t="-5884" b="-6094"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13230608" y="9707593"/>
            <a:ext cx="3931950" cy="4658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449695" y="446348"/>
            <a:ext cx="5049473" cy="91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55"/>
              </a:lnSpc>
            </a:pPr>
            <a:r>
              <a:rPr lang="en-US" sz="5796" b="1">
                <a:solidFill>
                  <a:srgbClr val="00932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References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755DEF30-6ED8-57BE-BA3E-0C8D15F7DD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3399389"/>
              </p:ext>
            </p:extLst>
          </p:nvPr>
        </p:nvGraphicFramePr>
        <p:xfrm>
          <a:off x="1286448" y="1907553"/>
          <a:ext cx="15606693" cy="6728744"/>
        </p:xfrm>
        <a:graphic>
          <a:graphicData uri="http://schemas.openxmlformats.org/drawingml/2006/table">
            <a:tbl>
              <a:tblPr>
                <a:tableStyleId>{F5AB1C69-6EDB-4FF4-983F-18BD219EF322}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570022743"/>
                    </a:ext>
                  </a:extLst>
                </a:gridCol>
                <a:gridCol w="15073293">
                  <a:extLst>
                    <a:ext uri="{9D8B030D-6E8A-4147-A177-3AD203B41FA5}">
                      <a16:colId xmlns:a16="http://schemas.microsoft.com/office/drawing/2014/main" val="3177042360"/>
                    </a:ext>
                  </a:extLst>
                </a:gridCol>
              </a:tblGrid>
              <a:tr h="5794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effectLst/>
                        </a:rPr>
                        <a:t>1</a:t>
                      </a:r>
                    </a:p>
                  </a:txBody>
                  <a:tcPr marL="26834" marR="26834" marT="13417" marB="13417" anchor="ctr"/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IN" sz="2000" dirty="0">
                          <a:effectLst/>
                        </a:rPr>
                        <a:t>M. Egger, M. Ley, and S. Hanke, "Emotion recognition from physiological signal analysis: A review," Electronic Notes in Theoretical Computer Science, vol. 343, pp. 35–55, 2019.</a:t>
                      </a:r>
                    </a:p>
                  </a:txBody>
                  <a:tcPr marL="26834" marR="26834" marT="13417" marB="13417" anchor="ctr"/>
                </a:tc>
                <a:extLst>
                  <a:ext uri="{0D108BD9-81ED-4DB2-BD59-A6C34878D82A}">
                    <a16:rowId xmlns:a16="http://schemas.microsoft.com/office/drawing/2014/main" val="121886306"/>
                  </a:ext>
                </a:extLst>
              </a:tr>
              <a:tr h="6876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effectLst/>
                        </a:rPr>
                        <a:t>2</a:t>
                      </a:r>
                    </a:p>
                  </a:txBody>
                  <a:tcPr marL="26834" marR="26834" marT="13417" marB="13417" anchor="ctr"/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IN" sz="2000" dirty="0">
                          <a:effectLst/>
                        </a:rPr>
                        <a:t>C. W. Huang et al., "Emotion recognition in doctor-patient interactions from real-world clinical video database: Initial development of artificial empathy," Computer Methods and Programs in Biomedicine, vol. 233, p. 107480, 2023.</a:t>
                      </a:r>
                    </a:p>
                  </a:txBody>
                  <a:tcPr marL="26834" marR="26834" marT="13417" marB="13417" anchor="ctr"/>
                </a:tc>
                <a:extLst>
                  <a:ext uri="{0D108BD9-81ED-4DB2-BD59-A6C34878D82A}">
                    <a16:rowId xmlns:a16="http://schemas.microsoft.com/office/drawing/2014/main" val="564913137"/>
                  </a:ext>
                </a:extLst>
              </a:tr>
              <a:tr h="5794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effectLst/>
                        </a:rPr>
                        <a:t>3</a:t>
                      </a:r>
                    </a:p>
                  </a:txBody>
                  <a:tcPr marL="26834" marR="26834" marT="13417" marB="13417" anchor="ctr"/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IN" sz="2000">
                          <a:effectLst/>
                        </a:rPr>
                        <a:t>K. Sarvakar and K. Rana, "Revolutionizing facial emotion recognition: in-depth analysis of cutting-edge models, methodologies, and datasets," Discover Artificial Intelligence, vol. 5, no. 1, p. 388, 2025.</a:t>
                      </a:r>
                    </a:p>
                  </a:txBody>
                  <a:tcPr marL="26834" marR="26834" marT="13417" marB="13417" anchor="ctr"/>
                </a:tc>
                <a:extLst>
                  <a:ext uri="{0D108BD9-81ED-4DB2-BD59-A6C34878D82A}">
                    <a16:rowId xmlns:a16="http://schemas.microsoft.com/office/drawing/2014/main" val="1007850737"/>
                  </a:ext>
                </a:extLst>
              </a:tr>
              <a:tr h="6876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effectLst/>
                        </a:rPr>
                        <a:t>4</a:t>
                      </a:r>
                    </a:p>
                  </a:txBody>
                  <a:tcPr marL="26834" marR="26834" marT="13417" marB="13417" anchor="ctr"/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IN" sz="2000" dirty="0">
                          <a:effectLst/>
                        </a:rPr>
                        <a:t>J. Pan, W. Fang, Z. Zhang, B. Chen, Z. Zhang, and S. Wang, "Multimodal emotion recognition based on facial expressions, speech, and EEG," IEEE Open Journal of Engineering in Medicine and Biology, vol. 5, pp. 396–403, 2023.</a:t>
                      </a:r>
                    </a:p>
                  </a:txBody>
                  <a:tcPr marL="26834" marR="26834" marT="13417" marB="13417" anchor="ctr"/>
                </a:tc>
                <a:extLst>
                  <a:ext uri="{0D108BD9-81ED-4DB2-BD59-A6C34878D82A}">
                    <a16:rowId xmlns:a16="http://schemas.microsoft.com/office/drawing/2014/main" val="1217521159"/>
                  </a:ext>
                </a:extLst>
              </a:tr>
              <a:tr h="5794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effectLst/>
                        </a:rPr>
                        <a:t>5</a:t>
                      </a:r>
                    </a:p>
                  </a:txBody>
                  <a:tcPr marL="26834" marR="26834" marT="13417" marB="13417" anchor="ctr"/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IN" sz="2000">
                          <a:effectLst/>
                        </a:rPr>
                        <a:t>M. D. Kumar, M. S. Rao, and K. C. Narendra, "Multimodal Emotion Recognition: A Comprehensive Survey of Datasets, Methods, and Applications," IEEE Access, vol. 13, pp. 201067–201097, 2025.</a:t>
                      </a:r>
                    </a:p>
                  </a:txBody>
                  <a:tcPr marL="26834" marR="26834" marT="13417" marB="13417" anchor="ctr"/>
                </a:tc>
                <a:extLst>
                  <a:ext uri="{0D108BD9-81ED-4DB2-BD59-A6C34878D82A}">
                    <a16:rowId xmlns:a16="http://schemas.microsoft.com/office/drawing/2014/main" val="55882463"/>
                  </a:ext>
                </a:extLst>
              </a:tr>
              <a:tr h="6876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effectLst/>
                        </a:rPr>
                        <a:t>6</a:t>
                      </a:r>
                    </a:p>
                  </a:txBody>
                  <a:tcPr marL="26834" marR="26834" marT="13417" marB="13417" anchor="ctr"/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IN" sz="2000">
                          <a:effectLst/>
                        </a:rPr>
                        <a:t>Y. Lei, "In-depth Study and Application Analysis of Multimodal Emotion Recognition Methods: Multidimensional Fusion Techniques Based on Vision, Speech, and Text," Appl. Comput. Eng., vol. 107, pp. 73–80, 2024.</a:t>
                      </a:r>
                    </a:p>
                  </a:txBody>
                  <a:tcPr marL="26834" marR="26834" marT="13417" marB="13417" anchor="ctr"/>
                </a:tc>
                <a:extLst>
                  <a:ext uri="{0D108BD9-81ED-4DB2-BD59-A6C34878D82A}">
                    <a16:rowId xmlns:a16="http://schemas.microsoft.com/office/drawing/2014/main" val="3594566951"/>
                  </a:ext>
                </a:extLst>
              </a:tr>
              <a:tr h="5794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effectLst/>
                        </a:rPr>
                        <a:t>7</a:t>
                      </a:r>
                    </a:p>
                  </a:txBody>
                  <a:tcPr marL="26834" marR="26834" marT="13417" marB="13417" anchor="ctr"/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IN" sz="2000">
                          <a:effectLst/>
                        </a:rPr>
                        <a:t>X. Zhu et al., "RMER-DT: robust multimodal emotion recognition in conversational contexts based on diffusion and transformers," Information Fusion, vol. 123, p. 103268, 2025.</a:t>
                      </a:r>
                    </a:p>
                  </a:txBody>
                  <a:tcPr marL="26834" marR="26834" marT="13417" marB="13417" anchor="ctr"/>
                </a:tc>
                <a:extLst>
                  <a:ext uri="{0D108BD9-81ED-4DB2-BD59-A6C34878D82A}">
                    <a16:rowId xmlns:a16="http://schemas.microsoft.com/office/drawing/2014/main" val="3591970212"/>
                  </a:ext>
                </a:extLst>
              </a:tr>
              <a:tr h="7959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effectLst/>
                        </a:rPr>
                        <a:t>8</a:t>
                      </a:r>
                    </a:p>
                  </a:txBody>
                  <a:tcPr marL="26834" marR="26834" marT="13417" marB="13417" anchor="ctr"/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IN" sz="2000">
                          <a:effectLst/>
                        </a:rPr>
                        <a:t>L. Ismail, N. Shahin, H. Materwala, A. Hennebelle, and L. Frermann, "ML-NLPEmot: machine learning-natural Language processing event-based emotion detection proactive framework addressing mental health," IEEE Access, vol. 11, pp. 144126–144149, 2023.</a:t>
                      </a:r>
                    </a:p>
                  </a:txBody>
                  <a:tcPr marL="26834" marR="26834" marT="13417" marB="13417" anchor="ctr"/>
                </a:tc>
                <a:extLst>
                  <a:ext uri="{0D108BD9-81ED-4DB2-BD59-A6C34878D82A}">
                    <a16:rowId xmlns:a16="http://schemas.microsoft.com/office/drawing/2014/main" val="2423469359"/>
                  </a:ext>
                </a:extLst>
              </a:tr>
              <a:tr h="6876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effectLst/>
                        </a:rPr>
                        <a:t>9</a:t>
                      </a:r>
                    </a:p>
                  </a:txBody>
                  <a:tcPr marL="26834" marR="26834" marT="13417" marB="13417" anchor="ctr"/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IN" sz="2000">
                          <a:effectLst/>
                        </a:rPr>
                        <a:t>R. Gutiérrez, W. Villegas-Ch, and S. Luján-Mora, "Implementing federated learning for privacy-preserving emotion detection in educational environments," Frontiers in Artificial Intelligence, vol. 8, p. 1644844, 2025.</a:t>
                      </a:r>
                    </a:p>
                  </a:txBody>
                  <a:tcPr marL="26834" marR="26834" marT="13417" marB="13417" anchor="ctr"/>
                </a:tc>
                <a:extLst>
                  <a:ext uri="{0D108BD9-81ED-4DB2-BD59-A6C34878D82A}">
                    <a16:rowId xmlns:a16="http://schemas.microsoft.com/office/drawing/2014/main" val="3169499138"/>
                  </a:ext>
                </a:extLst>
              </a:tr>
              <a:tr h="5794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effectLst/>
                        </a:rPr>
                        <a:t>10</a:t>
                      </a:r>
                    </a:p>
                  </a:txBody>
                  <a:tcPr marL="26834" marR="26834" marT="13417" marB="13417" anchor="ctr"/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IN" sz="2000" dirty="0">
                          <a:effectLst/>
                        </a:rPr>
                        <a:t>Y. Y. Tsai et al., "Emerging trends and clinical challenges in AI-enhanced emotion diagnosis using physiological data," Medical &amp; Biological Engineering &amp; Computing, pp. 1–22, 2025.</a:t>
                      </a:r>
                    </a:p>
                  </a:txBody>
                  <a:tcPr marL="26834" marR="26834" marT="13417" marB="13417" anchor="ctr"/>
                </a:tc>
                <a:extLst>
                  <a:ext uri="{0D108BD9-81ED-4DB2-BD59-A6C34878D82A}">
                    <a16:rowId xmlns:a16="http://schemas.microsoft.com/office/drawing/2014/main" val="2952247246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wip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8888013" y="859470"/>
            <a:ext cx="578976" cy="18354998"/>
            <a:chOff x="0" y="0"/>
            <a:chExt cx="771968" cy="244733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71906" cy="24473281"/>
            </a:xfrm>
            <a:custGeom>
              <a:avLst/>
              <a:gdLst/>
              <a:ahLst/>
              <a:cxnLst/>
              <a:rect l="l" t="t" r="r" b="b"/>
              <a:pathLst>
                <a:path w="771906" h="24473281">
                  <a:moveTo>
                    <a:pt x="0" y="0"/>
                  </a:moveTo>
                  <a:lnTo>
                    <a:pt x="771906" y="0"/>
                  </a:lnTo>
                  <a:lnTo>
                    <a:pt x="771906" y="24473281"/>
                  </a:lnTo>
                  <a:lnTo>
                    <a:pt x="0" y="244732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494469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5400000">
            <a:off x="6867480" y="2631033"/>
            <a:ext cx="264614" cy="13999572"/>
            <a:chOff x="0" y="0"/>
            <a:chExt cx="352818" cy="1866609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52806" cy="18666079"/>
            </a:xfrm>
            <a:custGeom>
              <a:avLst/>
              <a:gdLst/>
              <a:ahLst/>
              <a:cxnLst/>
              <a:rect l="l" t="t" r="r" b="b"/>
              <a:pathLst>
                <a:path w="352806" h="18666079">
                  <a:moveTo>
                    <a:pt x="0" y="0"/>
                  </a:moveTo>
                  <a:lnTo>
                    <a:pt x="352806" y="0"/>
                  </a:lnTo>
                  <a:lnTo>
                    <a:pt x="352806" y="18666079"/>
                  </a:lnTo>
                  <a:lnTo>
                    <a:pt x="0" y="18666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340183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3798189" y="8819818"/>
            <a:ext cx="4868602" cy="1217151"/>
            <a:chOff x="0" y="0"/>
            <a:chExt cx="6491470" cy="1622868"/>
          </a:xfrm>
        </p:grpSpPr>
        <p:sp>
          <p:nvSpPr>
            <p:cNvPr id="7" name="Freeform 7" descr="A picture containing drawing  Description automatically generated"/>
            <p:cNvSpPr/>
            <p:nvPr/>
          </p:nvSpPr>
          <p:spPr>
            <a:xfrm>
              <a:off x="0" y="0"/>
              <a:ext cx="6491478" cy="1622806"/>
            </a:xfrm>
            <a:custGeom>
              <a:avLst/>
              <a:gdLst/>
              <a:ahLst/>
              <a:cxnLst/>
              <a:rect l="l" t="t" r="r" b="b"/>
              <a:pathLst>
                <a:path w="6491478" h="1622806">
                  <a:moveTo>
                    <a:pt x="0" y="0"/>
                  </a:moveTo>
                  <a:lnTo>
                    <a:pt x="6491478" y="0"/>
                  </a:lnTo>
                  <a:lnTo>
                    <a:pt x="6491478" y="1622806"/>
                  </a:lnTo>
                  <a:lnTo>
                    <a:pt x="0" y="16228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3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6902182" y="0"/>
            <a:ext cx="1452818" cy="968896"/>
            <a:chOff x="0" y="0"/>
            <a:chExt cx="1937090" cy="1291861"/>
          </a:xfrm>
        </p:grpSpPr>
        <p:sp>
          <p:nvSpPr>
            <p:cNvPr id="9" name="Freeform 9" descr="A close up of a sign  Description automatically generated"/>
            <p:cNvSpPr/>
            <p:nvPr/>
          </p:nvSpPr>
          <p:spPr>
            <a:xfrm>
              <a:off x="0" y="0"/>
              <a:ext cx="1937131" cy="1291884"/>
            </a:xfrm>
            <a:custGeom>
              <a:avLst/>
              <a:gdLst/>
              <a:ahLst/>
              <a:cxnLst/>
              <a:rect l="l" t="t" r="r" b="b"/>
              <a:pathLst>
                <a:path w="1937131" h="1291884">
                  <a:moveTo>
                    <a:pt x="0" y="0"/>
                  </a:moveTo>
                  <a:lnTo>
                    <a:pt x="1937131" y="0"/>
                  </a:lnTo>
                  <a:lnTo>
                    <a:pt x="1937131" y="1291884"/>
                  </a:lnTo>
                  <a:lnTo>
                    <a:pt x="0" y="12918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" t="-5884" b="-6094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13230608" y="9707593"/>
            <a:ext cx="3931950" cy="4658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509745" y="3982712"/>
            <a:ext cx="9268509" cy="1619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700"/>
              </a:lnSpc>
            </a:pPr>
            <a:r>
              <a:rPr lang="en-US" sz="10583" b="1" spc="518">
                <a:solidFill>
                  <a:srgbClr val="7ED957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THANK YOU</a:t>
            </a:r>
          </a:p>
        </p:txBody>
      </p:sp>
    </p:spTree>
  </p:cSld>
  <p:clrMapOvr>
    <a:masterClrMapping/>
  </p:clrMapOvr>
  <p:transition>
    <p:circl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1659</Words>
  <Application>Microsoft Office PowerPoint</Application>
  <PresentationFormat>Custom</PresentationFormat>
  <Paragraphs>148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1" baseType="lpstr">
      <vt:lpstr>League Spartan</vt:lpstr>
      <vt:lpstr>Canva Sans</vt:lpstr>
      <vt:lpstr>Canva Sans Bold</vt:lpstr>
      <vt:lpstr>Fira Sans Bold</vt:lpstr>
      <vt:lpstr>Arial</vt:lpstr>
      <vt:lpstr>Times New Roman Bold</vt:lpstr>
      <vt:lpstr>Anonymous Pro Bold</vt:lpstr>
      <vt:lpstr>Fira Sans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Sept_eval</dc:title>
  <cp:lastModifiedBy>Muskan Shaikh</cp:lastModifiedBy>
  <cp:revision>1</cp:revision>
  <dcterms:created xsi:type="dcterms:W3CDTF">2006-08-16T00:00:00Z</dcterms:created>
  <dcterms:modified xsi:type="dcterms:W3CDTF">2026-10-04T16:35:32Z</dcterms:modified>
  <dc:identifier>DAHW-cADzq0</dc:identifier>
</cp:coreProperties>
</file>