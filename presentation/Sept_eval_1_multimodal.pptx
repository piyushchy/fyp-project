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6" r:id="rId9"/>
    <p:sldId id="267" r:id="rId10"/>
    <p:sldId id="268" r:id="rId11"/>
    <p:sldId id="279" r:id="rId36"/>
    <p:sldId id="269" r:id="rId12"/>
    <p:sldId id="280" r:id="rId37"/>
    <p:sldId id="270" r:id="rId13"/>
    <p:sldId id="271" r:id="rId14"/>
    <p:sldId id="272" r:id="rId15"/>
    <p:sldId id="273" r:id="rId16"/>
    <p:sldId id="274" r:id="rId17"/>
    <p:sldId id="278" r:id="rId18"/>
    <p:sldId id="275" r:id="rId19"/>
    <p:sldId id="281" r:id="rId38"/>
    <p:sldId id="276" r:id="rId20"/>
    <p:sldId id="264" r:id="rId21"/>
    <p:sldId id="265" r:id="rId22"/>
  </p:sldIdLst>
  <p:sldSz cx="18288000" cy="10287000"/>
  <p:notesSz cx="6858000" cy="9144000"/>
  <p:embeddedFontLst>
    <p:embeddedFont>
      <p:font typeface="Anonymous Pro Bold" panose="020B0604020202020204" charset="0"/>
      <p:regular r:id="rId23"/>
    </p:embeddedFont>
    <p:embeddedFont>
      <p:font typeface="Canva Sans" panose="020B0604020202020204" charset="0"/>
      <p:regular r:id="rId24"/>
    </p:embeddedFont>
    <p:embeddedFont>
      <p:font typeface="Canva Sans Bold" panose="020B0604020202020204" charset="0"/>
      <p:regular r:id="rId25"/>
    </p:embeddedFont>
    <p:embeddedFont>
      <p:font typeface="Fira Sans" panose="020B0503050000020004" pitchFamily="34" charset="0"/>
      <p:regular r:id="rId26"/>
    </p:embeddedFont>
    <p:embeddedFont>
      <p:font typeface="Fira Sans Bold" panose="020B0803050000020004" charset="0"/>
      <p:regular r:id="rId27"/>
    </p:embeddedFont>
    <p:embeddedFont>
      <p:font typeface="League Spartan" panose="020B0604020202020204" charset="0"/>
      <p:regular r:id="rId28"/>
    </p:embeddedFont>
    <p:embeddedFont>
      <p:font typeface="Times New Roman Bold" panose="02020803070505020304" pitchFamily="18" charset="0"/>
      <p:bold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DFE152-E4E1-421A-9E79-0518D6043CB6}" v="7" dt="2026-10-04T16:34:55.3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6" d="100"/>
          <a:sy n="46" d="100"/>
        </p:scale>
        <p:origin x="913" y="71"/>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font" Target="fonts/font3.fntdata"/><Relationship Id="rId26" Type="http://schemas.openxmlformats.org/officeDocument/2006/relationships/font" Target="fonts/font4.fntdata"/><Relationship Id="rId27" Type="http://schemas.openxmlformats.org/officeDocument/2006/relationships/font" Target="fonts/font5.fntdata"/><Relationship Id="rId28" Type="http://schemas.openxmlformats.org/officeDocument/2006/relationships/font" Target="fonts/font6.fntdata"/><Relationship Id="rId29" Type="http://schemas.openxmlformats.org/officeDocument/2006/relationships/font" Target="fonts/font7.fntdata"/><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openxmlformats.org/officeDocument/2006/relationships/slide" Target="slides/slide11.xml"/><Relationship Id="rId37" Type="http://schemas.openxmlformats.org/officeDocument/2006/relationships/slide" Target="slides/slide13.xml"/><Relationship Id="rId38" Type="http://schemas.openxmlformats.org/officeDocument/2006/relationships/slide" Target="slides/slide21.xml"/><Relationship Id="rId39"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uskan Shaikh" userId="6ed7a8d74177264d" providerId="LiveId" clId="{1528929A-6AFB-4239-876A-4B5E5FAFEDD7}"/>
    <pc:docChg chg="undo redo custSel addSld delSld modSld">
      <pc:chgData name="Muskan Shaikh" userId="6ed7a8d74177264d" providerId="LiveId" clId="{1528929A-6AFB-4239-876A-4B5E5FAFEDD7}" dt="2026-10-04T16:35:30.025" v="236" actId="47"/>
      <pc:docMkLst>
        <pc:docMk/>
      </pc:docMkLst>
      <pc:sldChg chg="modSp mod">
        <pc:chgData name="Muskan Shaikh" userId="6ed7a8d74177264d" providerId="LiveId" clId="{1528929A-6AFB-4239-876A-4B5E5FAFEDD7}" dt="2026-10-04T16:32:54.295" v="206" actId="14100"/>
        <pc:sldMkLst>
          <pc:docMk/>
          <pc:sldMk cId="0" sldId="257"/>
        </pc:sldMkLst>
        <pc:spChg chg="mod">
          <ac:chgData name="Muskan Shaikh" userId="6ed7a8d74177264d" providerId="LiveId" clId="{1528929A-6AFB-4239-876A-4B5E5FAFEDD7}" dt="2026-10-04T16:32:54.295" v="206" actId="14100"/>
          <ac:spMkLst>
            <pc:docMk/>
            <pc:sldMk cId="0" sldId="257"/>
            <ac:spMk id="13" creationId="{00000000-0000-0000-0000-000000000000}"/>
          </ac:spMkLst>
        </pc:spChg>
      </pc:sldChg>
      <pc:sldChg chg="modSp mod">
        <pc:chgData name="Muskan Shaikh" userId="6ed7a8d74177264d" providerId="LiveId" clId="{1528929A-6AFB-4239-876A-4B5E5FAFEDD7}" dt="2026-10-04T16:33:07.227" v="208" actId="14100"/>
        <pc:sldMkLst>
          <pc:docMk/>
          <pc:sldMk cId="0" sldId="258"/>
        </pc:sldMkLst>
        <pc:spChg chg="mod">
          <ac:chgData name="Muskan Shaikh" userId="6ed7a8d74177264d" providerId="LiveId" clId="{1528929A-6AFB-4239-876A-4B5E5FAFEDD7}" dt="2026-10-04T16:18:18.319" v="23" actId="14100"/>
          <ac:spMkLst>
            <pc:docMk/>
            <pc:sldMk cId="0" sldId="258"/>
            <ac:spMk id="25" creationId="{00000000-0000-0000-0000-000000000000}"/>
          </ac:spMkLst>
        </pc:spChg>
        <pc:spChg chg="mod">
          <ac:chgData name="Muskan Shaikh" userId="6ed7a8d74177264d" providerId="LiveId" clId="{1528929A-6AFB-4239-876A-4B5E5FAFEDD7}" dt="2026-10-04T16:33:07.227" v="208" actId="14100"/>
          <ac:spMkLst>
            <pc:docMk/>
            <pc:sldMk cId="0" sldId="258"/>
            <ac:spMk id="26" creationId="{00000000-0000-0000-0000-000000000000}"/>
          </ac:spMkLst>
        </pc:spChg>
      </pc:sldChg>
      <pc:sldChg chg="modSp mod">
        <pc:chgData name="Muskan Shaikh" userId="6ed7a8d74177264d" providerId="LiveId" clId="{1528929A-6AFB-4239-876A-4B5E5FAFEDD7}" dt="2026-10-04T16:18:23.346" v="25" actId="14100"/>
        <pc:sldMkLst>
          <pc:docMk/>
          <pc:sldMk cId="0" sldId="259"/>
        </pc:sldMkLst>
        <pc:spChg chg="mod">
          <ac:chgData name="Muskan Shaikh" userId="6ed7a8d74177264d" providerId="LiveId" clId="{1528929A-6AFB-4239-876A-4B5E5FAFEDD7}" dt="2026-10-04T16:18:23.346" v="25" actId="14100"/>
          <ac:spMkLst>
            <pc:docMk/>
            <pc:sldMk cId="0" sldId="259"/>
            <ac:spMk id="14" creationId="{00000000-0000-0000-0000-000000000000}"/>
          </ac:spMkLst>
        </pc:spChg>
      </pc:sldChg>
      <pc:sldChg chg="addSp delSp modSp mod">
        <pc:chgData name="Muskan Shaikh" userId="6ed7a8d74177264d" providerId="LiveId" clId="{1528929A-6AFB-4239-876A-4B5E5FAFEDD7}" dt="2026-10-04T16:34:04.935" v="225" actId="478"/>
        <pc:sldMkLst>
          <pc:docMk/>
          <pc:sldMk cId="0" sldId="260"/>
        </pc:sldMkLst>
        <pc:spChg chg="add del">
          <ac:chgData name="Muskan Shaikh" userId="6ed7a8d74177264d" providerId="LiveId" clId="{1528929A-6AFB-4239-876A-4B5E5FAFEDD7}" dt="2026-10-04T16:34:03.312" v="220" actId="478"/>
          <ac:spMkLst>
            <pc:docMk/>
            <pc:sldMk cId="0" sldId="260"/>
            <ac:spMk id="10" creationId="{00000000-0000-0000-0000-000000000000}"/>
          </ac:spMkLst>
        </pc:spChg>
        <pc:spChg chg="add del topLvl">
          <ac:chgData name="Muskan Shaikh" userId="6ed7a8d74177264d" providerId="LiveId" clId="{1528929A-6AFB-4239-876A-4B5E5FAFEDD7}" dt="2026-10-04T16:34:04.463" v="224" actId="478"/>
          <ac:spMkLst>
            <pc:docMk/>
            <pc:sldMk cId="0" sldId="260"/>
            <ac:spMk id="21" creationId="{00000000-0000-0000-0000-000000000000}"/>
          </ac:spMkLst>
        </pc:spChg>
        <pc:grpChg chg="add del">
          <ac:chgData name="Muskan Shaikh" userId="6ed7a8d74177264d" providerId="LiveId" clId="{1528929A-6AFB-4239-876A-4B5E5FAFEDD7}" dt="2026-10-04T16:34:04.935" v="225" actId="478"/>
          <ac:grpSpMkLst>
            <pc:docMk/>
            <pc:sldMk cId="0" sldId="260"/>
            <ac:grpSpMk id="8" creationId="{00000000-0000-0000-0000-000000000000}"/>
          </ac:grpSpMkLst>
        </pc:grpChg>
        <pc:grpChg chg="add del">
          <ac:chgData name="Muskan Shaikh" userId="6ed7a8d74177264d" providerId="LiveId" clId="{1528929A-6AFB-4239-876A-4B5E5FAFEDD7}" dt="2026-10-04T16:34:03.643" v="221" actId="478"/>
          <ac:grpSpMkLst>
            <pc:docMk/>
            <pc:sldMk cId="0" sldId="260"/>
            <ac:grpSpMk id="16" creationId="{00000000-0000-0000-0000-000000000000}"/>
          </ac:grpSpMkLst>
        </pc:grpChg>
        <pc:grpChg chg="add del">
          <ac:chgData name="Muskan Shaikh" userId="6ed7a8d74177264d" providerId="LiveId" clId="{1528929A-6AFB-4239-876A-4B5E5FAFEDD7}" dt="2026-10-04T16:34:04.112" v="223" actId="478"/>
          <ac:grpSpMkLst>
            <pc:docMk/>
            <pc:sldMk cId="0" sldId="260"/>
            <ac:grpSpMk id="18" creationId="{00000000-0000-0000-0000-000000000000}"/>
          </ac:grpSpMkLst>
        </pc:grpChg>
        <pc:grpChg chg="del">
          <ac:chgData name="Muskan Shaikh" userId="6ed7a8d74177264d" providerId="LiveId" clId="{1528929A-6AFB-4239-876A-4B5E5FAFEDD7}" dt="2026-10-04T16:33:42.236" v="210" actId="478"/>
          <ac:grpSpMkLst>
            <pc:docMk/>
            <pc:sldMk cId="0" sldId="260"/>
            <ac:grpSpMk id="20" creationId="{00000000-0000-0000-0000-000000000000}"/>
          </ac:grpSpMkLst>
        </pc:grpChg>
        <pc:grpChg chg="add del">
          <ac:chgData name="Muskan Shaikh" userId="6ed7a8d74177264d" providerId="LiveId" clId="{1528929A-6AFB-4239-876A-4B5E5FAFEDD7}" dt="2026-10-04T16:34:03.854" v="222" actId="478"/>
          <ac:grpSpMkLst>
            <pc:docMk/>
            <pc:sldMk cId="0" sldId="260"/>
            <ac:grpSpMk id="22" creationId="{00000000-0000-0000-0000-000000000000}"/>
          </ac:grpSpMkLst>
        </pc:grpChg>
        <pc:picChg chg="add del mod">
          <ac:chgData name="Muskan Shaikh" userId="6ed7a8d74177264d" providerId="LiveId" clId="{1528929A-6AFB-4239-876A-4B5E5FAFEDD7}" dt="2026-10-04T16:34:03.111" v="219" actId="931"/>
          <ac:picMkLst>
            <pc:docMk/>
            <pc:sldMk cId="0" sldId="260"/>
            <ac:picMk id="25" creationId="{10E59EE7-14F0-51D4-01FB-1950E27A6DDA}"/>
          </ac:picMkLst>
        </pc:picChg>
      </pc:sldChg>
      <pc:sldChg chg="modSp mod">
        <pc:chgData name="Muskan Shaikh" userId="6ed7a8d74177264d" providerId="LiveId" clId="{1528929A-6AFB-4239-876A-4B5E5FAFEDD7}" dt="2026-10-04T16:18:29.985" v="26" actId="20577"/>
        <pc:sldMkLst>
          <pc:docMk/>
          <pc:sldMk cId="0" sldId="261"/>
        </pc:sldMkLst>
        <pc:spChg chg="mod">
          <ac:chgData name="Muskan Shaikh" userId="6ed7a8d74177264d" providerId="LiveId" clId="{1528929A-6AFB-4239-876A-4B5E5FAFEDD7}" dt="2026-10-04T16:18:29.985" v="26" actId="20577"/>
          <ac:spMkLst>
            <pc:docMk/>
            <pc:sldMk cId="0" sldId="261"/>
            <ac:spMk id="10" creationId="{00000000-0000-0000-0000-000000000000}"/>
          </ac:spMkLst>
        </pc:spChg>
      </pc:sldChg>
      <pc:sldChg chg="delSp del mod">
        <pc:chgData name="Muskan Shaikh" userId="6ed7a8d74177264d" providerId="LiveId" clId="{1528929A-6AFB-4239-876A-4B5E5FAFEDD7}" dt="2026-10-04T16:18:51.118" v="28" actId="47"/>
        <pc:sldMkLst>
          <pc:docMk/>
          <pc:sldMk cId="0" sldId="263"/>
        </pc:sldMkLst>
        <pc:spChg chg="del">
          <ac:chgData name="Muskan Shaikh" userId="6ed7a8d74177264d" providerId="LiveId" clId="{1528929A-6AFB-4239-876A-4B5E5FAFEDD7}" dt="2026-10-04T16:18:47.792" v="27" actId="478"/>
          <ac:spMkLst>
            <pc:docMk/>
            <pc:sldMk cId="0" sldId="263"/>
            <ac:spMk id="10" creationId="{00000000-0000-0000-0000-000000000000}"/>
          </ac:spMkLst>
        </pc:spChg>
      </pc:sldChg>
      <pc:sldChg chg="addSp delSp modSp mod">
        <pc:chgData name="Muskan Shaikh" userId="6ed7a8d74177264d" providerId="LiveId" clId="{1528929A-6AFB-4239-876A-4B5E5FAFEDD7}" dt="2026-10-04T16:18:08.683" v="21" actId="255"/>
        <pc:sldMkLst>
          <pc:docMk/>
          <pc:sldMk cId="0" sldId="264"/>
        </pc:sldMkLst>
        <pc:spChg chg="add del mod">
          <ac:chgData name="Muskan Shaikh" userId="6ed7a8d74177264d" providerId="LiveId" clId="{1528929A-6AFB-4239-876A-4B5E5FAFEDD7}" dt="2026-10-04T16:17:23.815" v="4"/>
          <ac:spMkLst>
            <pc:docMk/>
            <pc:sldMk cId="0" sldId="264"/>
            <ac:spMk id="13" creationId="{DD054478-7E59-D226-844F-F07FA9A87B5F}"/>
          </ac:spMkLst>
        </pc:spChg>
        <pc:spChg chg="add del mod">
          <ac:chgData name="Muskan Shaikh" userId="6ed7a8d74177264d" providerId="LiveId" clId="{1528929A-6AFB-4239-876A-4B5E5FAFEDD7}" dt="2026-10-04T16:17:55.559" v="18"/>
          <ac:spMkLst>
            <pc:docMk/>
            <pc:sldMk cId="0" sldId="264"/>
            <ac:spMk id="14" creationId="{AA970159-B81B-B7C4-3492-3AF270F3C21F}"/>
          </ac:spMkLst>
        </pc:spChg>
        <pc:graphicFrameChg chg="del mod">
          <ac:chgData name="Muskan Shaikh" userId="6ed7a8d74177264d" providerId="LiveId" clId="{1528929A-6AFB-4239-876A-4B5E5FAFEDD7}" dt="2026-10-04T16:16:45.123" v="1" actId="478"/>
          <ac:graphicFrameMkLst>
            <pc:docMk/>
            <pc:sldMk cId="0" sldId="264"/>
            <ac:graphicFrameMk id="10" creationId="{00000000-0000-0000-0000-000000000000}"/>
          </ac:graphicFrameMkLst>
        </pc:graphicFrameChg>
        <pc:graphicFrameChg chg="add mod modGraphic">
          <ac:chgData name="Muskan Shaikh" userId="6ed7a8d74177264d" providerId="LiveId" clId="{1528929A-6AFB-4239-876A-4B5E5FAFEDD7}" dt="2026-10-04T16:18:08.683" v="21" actId="255"/>
          <ac:graphicFrameMkLst>
            <pc:docMk/>
            <pc:sldMk cId="0" sldId="264"/>
            <ac:graphicFrameMk id="15" creationId="{755DEF30-6ED8-57BE-BA3E-0C8D15F7DD5B}"/>
          </ac:graphicFrameMkLst>
        </pc:graphicFrameChg>
      </pc:sldChg>
      <pc:sldChg chg="modSp mod">
        <pc:chgData name="Muskan Shaikh" userId="6ed7a8d74177264d" providerId="LiveId" clId="{1528929A-6AFB-4239-876A-4B5E5FAFEDD7}" dt="2026-10-04T16:22:42.087" v="87" actId="1076"/>
        <pc:sldMkLst>
          <pc:docMk/>
          <pc:sldMk cId="0" sldId="266"/>
        </pc:sldMkLst>
        <pc:spChg chg="mod">
          <ac:chgData name="Muskan Shaikh" userId="6ed7a8d74177264d" providerId="LiveId" clId="{1528929A-6AFB-4239-876A-4B5E5FAFEDD7}" dt="2026-10-04T16:19:54.878" v="41" actId="1076"/>
          <ac:spMkLst>
            <pc:docMk/>
            <pc:sldMk cId="0" sldId="266"/>
            <ac:spMk id="10" creationId="{00000000-0000-0000-0000-000000000000}"/>
          </ac:spMkLst>
        </pc:spChg>
        <pc:spChg chg="mod">
          <ac:chgData name="Muskan Shaikh" userId="6ed7a8d74177264d" providerId="LiveId" clId="{1528929A-6AFB-4239-876A-4B5E5FAFEDD7}" dt="2026-10-04T16:22:28.206" v="84" actId="1076"/>
          <ac:spMkLst>
            <pc:docMk/>
            <pc:sldMk cId="0" sldId="266"/>
            <ac:spMk id="11" creationId="{00000000-0000-0000-0000-000000000000}"/>
          </ac:spMkLst>
        </pc:spChg>
        <pc:spChg chg="mod">
          <ac:chgData name="Muskan Shaikh" userId="6ed7a8d74177264d" providerId="LiveId" clId="{1528929A-6AFB-4239-876A-4B5E5FAFEDD7}" dt="2026-10-04T16:21:04.426" v="52" actId="20577"/>
          <ac:spMkLst>
            <pc:docMk/>
            <pc:sldMk cId="0" sldId="266"/>
            <ac:spMk id="13" creationId="{00000000-0000-0000-0000-000000000000}"/>
          </ac:spMkLst>
        </pc:spChg>
        <pc:spChg chg="mod">
          <ac:chgData name="Muskan Shaikh" userId="6ed7a8d74177264d" providerId="LiveId" clId="{1528929A-6AFB-4239-876A-4B5E5FAFEDD7}" dt="2026-10-04T16:21:20.976" v="68" actId="20577"/>
          <ac:spMkLst>
            <pc:docMk/>
            <pc:sldMk cId="0" sldId="266"/>
            <ac:spMk id="15" creationId="{00000000-0000-0000-0000-000000000000}"/>
          </ac:spMkLst>
        </pc:spChg>
        <pc:spChg chg="mod">
          <ac:chgData name="Muskan Shaikh" userId="6ed7a8d74177264d" providerId="LiveId" clId="{1528929A-6AFB-4239-876A-4B5E5FAFEDD7}" dt="2026-10-04T16:21:50.361" v="80" actId="20577"/>
          <ac:spMkLst>
            <pc:docMk/>
            <pc:sldMk cId="0" sldId="266"/>
            <ac:spMk id="17" creationId="{00000000-0000-0000-0000-000000000000}"/>
          </ac:spMkLst>
        </pc:spChg>
        <pc:spChg chg="mod">
          <ac:chgData name="Muskan Shaikh" userId="6ed7a8d74177264d" providerId="LiveId" clId="{1528929A-6AFB-4239-876A-4B5E5FAFEDD7}" dt="2026-10-04T16:22:32.494" v="85" actId="1076"/>
          <ac:spMkLst>
            <pc:docMk/>
            <pc:sldMk cId="0" sldId="266"/>
            <ac:spMk id="18" creationId="{00000000-0000-0000-0000-000000000000}"/>
          </ac:spMkLst>
        </pc:spChg>
        <pc:spChg chg="mod">
          <ac:chgData name="Muskan Shaikh" userId="6ed7a8d74177264d" providerId="LiveId" clId="{1528929A-6AFB-4239-876A-4B5E5FAFEDD7}" dt="2026-10-04T16:22:34.368" v="86" actId="1076"/>
          <ac:spMkLst>
            <pc:docMk/>
            <pc:sldMk cId="0" sldId="266"/>
            <ac:spMk id="19" creationId="{00000000-0000-0000-0000-000000000000}"/>
          </ac:spMkLst>
        </pc:spChg>
        <pc:spChg chg="mod">
          <ac:chgData name="Muskan Shaikh" userId="6ed7a8d74177264d" providerId="LiveId" clId="{1528929A-6AFB-4239-876A-4B5E5FAFEDD7}" dt="2026-10-04T16:22:42.087" v="87" actId="1076"/>
          <ac:spMkLst>
            <pc:docMk/>
            <pc:sldMk cId="0" sldId="266"/>
            <ac:spMk id="20" creationId="{00000000-0000-0000-0000-000000000000}"/>
          </ac:spMkLst>
        </pc:spChg>
        <pc:spChg chg="mod">
          <ac:chgData name="Muskan Shaikh" userId="6ed7a8d74177264d" providerId="LiveId" clId="{1528929A-6AFB-4239-876A-4B5E5FAFEDD7}" dt="2026-10-04T16:20:18.800" v="42" actId="255"/>
          <ac:spMkLst>
            <pc:docMk/>
            <pc:sldMk cId="0" sldId="266"/>
            <ac:spMk id="21" creationId="{00000000-0000-0000-0000-000000000000}"/>
          </ac:spMkLst>
        </pc:spChg>
      </pc:sldChg>
      <pc:sldChg chg="addSp delSp modSp mod">
        <pc:chgData name="Muskan Shaikh" userId="6ed7a8d74177264d" providerId="LiveId" clId="{1528929A-6AFB-4239-876A-4B5E5FAFEDD7}" dt="2026-10-04T16:35:27.725" v="235" actId="1076"/>
        <pc:sldMkLst>
          <pc:docMk/>
          <pc:sldMk cId="0" sldId="267"/>
        </pc:sldMkLst>
        <pc:picChg chg="del mod">
          <ac:chgData name="Muskan Shaikh" userId="6ed7a8d74177264d" providerId="LiveId" clId="{1528929A-6AFB-4239-876A-4B5E5FAFEDD7}" dt="2026-10-04T16:35:23.997" v="234" actId="478"/>
          <ac:picMkLst>
            <pc:docMk/>
            <pc:sldMk cId="0" sldId="267"/>
            <ac:picMk id="12" creationId="{00000000-0000-0000-0000-000000000000}"/>
          </ac:picMkLst>
        </pc:picChg>
        <pc:picChg chg="add mod">
          <ac:chgData name="Muskan Shaikh" userId="6ed7a8d74177264d" providerId="LiveId" clId="{1528929A-6AFB-4239-876A-4B5E5FAFEDD7}" dt="2026-10-04T16:35:27.725" v="235" actId="1076"/>
          <ac:picMkLst>
            <pc:docMk/>
            <pc:sldMk cId="0" sldId="267"/>
            <ac:picMk id="14" creationId="{57F8992A-96D1-A430-0173-97E3D72B057A}"/>
          </ac:picMkLst>
        </pc:picChg>
      </pc:sldChg>
      <pc:sldChg chg="delSp modSp mod">
        <pc:chgData name="Muskan Shaikh" userId="6ed7a8d74177264d" providerId="LiveId" clId="{1528929A-6AFB-4239-876A-4B5E5FAFEDD7}" dt="2026-10-04T16:24:42.109" v="95" actId="1076"/>
        <pc:sldMkLst>
          <pc:docMk/>
          <pc:sldMk cId="0" sldId="268"/>
        </pc:sldMkLst>
        <pc:spChg chg="del mod">
          <ac:chgData name="Muskan Shaikh" userId="6ed7a8d74177264d" providerId="LiveId" clId="{1528929A-6AFB-4239-876A-4B5E5FAFEDD7}" dt="2026-10-04T16:24:38.894" v="94"/>
          <ac:spMkLst>
            <pc:docMk/>
            <pc:sldMk cId="0" sldId="268"/>
            <ac:spMk id="11" creationId="{00000000-0000-0000-0000-000000000000}"/>
          </ac:spMkLst>
        </pc:spChg>
        <pc:picChg chg="mod">
          <ac:chgData name="Muskan Shaikh" userId="6ed7a8d74177264d" providerId="LiveId" clId="{1528929A-6AFB-4239-876A-4B5E5FAFEDD7}" dt="2026-10-04T16:24:42.109" v="95" actId="1076"/>
          <ac:picMkLst>
            <pc:docMk/>
            <pc:sldMk cId="0" sldId="268"/>
            <ac:picMk id="12" creationId="{00000000-0000-0000-0000-000000000000}"/>
          </ac:picMkLst>
        </pc:picChg>
      </pc:sldChg>
      <pc:sldChg chg="delSp modSp mod">
        <pc:chgData name="Muskan Shaikh" userId="6ed7a8d74177264d" providerId="LiveId" clId="{1528929A-6AFB-4239-876A-4B5E5FAFEDD7}" dt="2026-10-04T16:26:54.504" v="134" actId="1076"/>
        <pc:sldMkLst>
          <pc:docMk/>
          <pc:sldMk cId="0" sldId="269"/>
        </pc:sldMkLst>
        <pc:spChg chg="mod">
          <ac:chgData name="Muskan Shaikh" userId="6ed7a8d74177264d" providerId="LiveId" clId="{1528929A-6AFB-4239-876A-4B5E5FAFEDD7}" dt="2026-10-04T16:26:54.504" v="134" actId="1076"/>
          <ac:spMkLst>
            <pc:docMk/>
            <pc:sldMk cId="0" sldId="269"/>
            <ac:spMk id="10" creationId="{00000000-0000-0000-0000-000000000000}"/>
          </ac:spMkLst>
        </pc:spChg>
        <pc:spChg chg="del mod">
          <ac:chgData name="Muskan Shaikh" userId="6ed7a8d74177264d" providerId="LiveId" clId="{1528929A-6AFB-4239-876A-4B5E5FAFEDD7}" dt="2026-10-04T16:26:38.969" v="130"/>
          <ac:spMkLst>
            <pc:docMk/>
            <pc:sldMk cId="0" sldId="269"/>
            <ac:spMk id="11" creationId="{00000000-0000-0000-0000-000000000000}"/>
          </ac:spMkLst>
        </pc:spChg>
        <pc:spChg chg="mod">
          <ac:chgData name="Muskan Shaikh" userId="6ed7a8d74177264d" providerId="LiveId" clId="{1528929A-6AFB-4239-876A-4B5E5FAFEDD7}" dt="2026-10-04T16:26:30.087" v="127" actId="255"/>
          <ac:spMkLst>
            <pc:docMk/>
            <pc:sldMk cId="0" sldId="269"/>
            <ac:spMk id="13" creationId="{00000000-0000-0000-0000-000000000000}"/>
          </ac:spMkLst>
        </pc:spChg>
        <pc:spChg chg="mod">
          <ac:chgData name="Muskan Shaikh" userId="6ed7a8d74177264d" providerId="LiveId" clId="{1528929A-6AFB-4239-876A-4B5E5FAFEDD7}" dt="2026-10-04T16:26:25.853" v="126" actId="255"/>
          <ac:spMkLst>
            <pc:docMk/>
            <pc:sldMk cId="0" sldId="269"/>
            <ac:spMk id="15" creationId="{00000000-0000-0000-0000-000000000000}"/>
          </ac:spMkLst>
        </pc:spChg>
        <pc:spChg chg="mod">
          <ac:chgData name="Muskan Shaikh" userId="6ed7a8d74177264d" providerId="LiveId" clId="{1528929A-6AFB-4239-876A-4B5E5FAFEDD7}" dt="2026-10-04T16:26:16.983" v="124" actId="255"/>
          <ac:spMkLst>
            <pc:docMk/>
            <pc:sldMk cId="0" sldId="269"/>
            <ac:spMk id="17" creationId="{00000000-0000-0000-0000-000000000000}"/>
          </ac:spMkLst>
        </pc:spChg>
      </pc:sldChg>
      <pc:sldChg chg="modSp mod">
        <pc:chgData name="Muskan Shaikh" userId="6ed7a8d74177264d" providerId="LiveId" clId="{1528929A-6AFB-4239-876A-4B5E5FAFEDD7}" dt="2026-10-04T16:27:32.222" v="138" actId="1076"/>
        <pc:sldMkLst>
          <pc:docMk/>
          <pc:sldMk cId="0" sldId="270"/>
        </pc:sldMkLst>
        <pc:spChg chg="mod">
          <ac:chgData name="Muskan Shaikh" userId="6ed7a8d74177264d" providerId="LiveId" clId="{1528929A-6AFB-4239-876A-4B5E5FAFEDD7}" dt="2026-10-04T16:27:32.222" v="138" actId="1076"/>
          <ac:spMkLst>
            <pc:docMk/>
            <pc:sldMk cId="0" sldId="270"/>
            <ac:spMk id="10" creationId="{00000000-0000-0000-0000-000000000000}"/>
          </ac:spMkLst>
        </pc:spChg>
        <pc:picChg chg="mod">
          <ac:chgData name="Muskan Shaikh" userId="6ed7a8d74177264d" providerId="LiveId" clId="{1528929A-6AFB-4239-876A-4B5E5FAFEDD7}" dt="2026-10-04T16:27:22.043" v="136" actId="1076"/>
          <ac:picMkLst>
            <pc:docMk/>
            <pc:sldMk cId="0" sldId="270"/>
            <ac:picMk id="12" creationId="{00000000-0000-0000-0000-000000000000}"/>
          </ac:picMkLst>
        </pc:picChg>
      </pc:sldChg>
      <pc:sldChg chg="modSp mod">
        <pc:chgData name="Muskan Shaikh" userId="6ed7a8d74177264d" providerId="LiveId" clId="{1528929A-6AFB-4239-876A-4B5E5FAFEDD7}" dt="2026-10-04T16:27:59.551" v="144" actId="1076"/>
        <pc:sldMkLst>
          <pc:docMk/>
          <pc:sldMk cId="0" sldId="271"/>
        </pc:sldMkLst>
        <pc:spChg chg="mod">
          <ac:chgData name="Muskan Shaikh" userId="6ed7a8d74177264d" providerId="LiveId" clId="{1528929A-6AFB-4239-876A-4B5E5FAFEDD7}" dt="2026-10-04T16:27:43.426" v="140" actId="1076"/>
          <ac:spMkLst>
            <pc:docMk/>
            <pc:sldMk cId="0" sldId="271"/>
            <ac:spMk id="10" creationId="{00000000-0000-0000-0000-000000000000}"/>
          </ac:spMkLst>
        </pc:spChg>
        <pc:spChg chg="mod">
          <ac:chgData name="Muskan Shaikh" userId="6ed7a8d74177264d" providerId="LiveId" clId="{1528929A-6AFB-4239-876A-4B5E5FAFEDD7}" dt="2026-10-04T16:27:59.551" v="144" actId="1076"/>
          <ac:spMkLst>
            <pc:docMk/>
            <pc:sldMk cId="0" sldId="271"/>
            <ac:spMk id="13" creationId="{00000000-0000-0000-0000-000000000000}"/>
          </ac:spMkLst>
        </pc:spChg>
        <pc:picChg chg="mod">
          <ac:chgData name="Muskan Shaikh" userId="6ed7a8d74177264d" providerId="LiveId" clId="{1528929A-6AFB-4239-876A-4B5E5FAFEDD7}" dt="2026-10-04T16:27:56.565" v="143" actId="1076"/>
          <ac:picMkLst>
            <pc:docMk/>
            <pc:sldMk cId="0" sldId="271"/>
            <ac:picMk id="12" creationId="{00000000-0000-0000-0000-000000000000}"/>
          </ac:picMkLst>
        </pc:picChg>
      </pc:sldChg>
      <pc:sldChg chg="modSp mod">
        <pc:chgData name="Muskan Shaikh" userId="6ed7a8d74177264d" providerId="LiveId" clId="{1528929A-6AFB-4239-876A-4B5E5FAFEDD7}" dt="2026-10-04T16:28:16.985" v="149" actId="167"/>
        <pc:sldMkLst>
          <pc:docMk/>
          <pc:sldMk cId="0" sldId="272"/>
        </pc:sldMkLst>
        <pc:spChg chg="mod">
          <ac:chgData name="Muskan Shaikh" userId="6ed7a8d74177264d" providerId="LiveId" clId="{1528929A-6AFB-4239-876A-4B5E5FAFEDD7}" dt="2026-10-04T16:28:05.168" v="145" actId="1076"/>
          <ac:spMkLst>
            <pc:docMk/>
            <pc:sldMk cId="0" sldId="272"/>
            <ac:spMk id="13" creationId="{00000000-0000-0000-0000-000000000000}"/>
          </ac:spMkLst>
        </pc:spChg>
        <pc:picChg chg="mod ord">
          <ac:chgData name="Muskan Shaikh" userId="6ed7a8d74177264d" providerId="LiveId" clId="{1528929A-6AFB-4239-876A-4B5E5FAFEDD7}" dt="2026-10-04T16:28:16.985" v="149" actId="167"/>
          <ac:picMkLst>
            <pc:docMk/>
            <pc:sldMk cId="0" sldId="272"/>
            <ac:picMk id="12" creationId="{00000000-0000-0000-0000-000000000000}"/>
          </ac:picMkLst>
        </pc:picChg>
      </pc:sldChg>
      <pc:sldChg chg="addSp delSp modSp mod">
        <pc:chgData name="Muskan Shaikh" userId="6ed7a8d74177264d" providerId="LiveId" clId="{1528929A-6AFB-4239-876A-4B5E5FAFEDD7}" dt="2026-10-04T16:30:31.127" v="183" actId="1076"/>
        <pc:sldMkLst>
          <pc:docMk/>
          <pc:sldMk cId="0" sldId="274"/>
        </pc:sldMkLst>
        <pc:spChg chg="mod">
          <ac:chgData name="Muskan Shaikh" userId="6ed7a8d74177264d" providerId="LiveId" clId="{1528929A-6AFB-4239-876A-4B5E5FAFEDD7}" dt="2026-10-04T16:29:40.320" v="163" actId="1076"/>
          <ac:spMkLst>
            <pc:docMk/>
            <pc:sldMk cId="0" sldId="274"/>
            <ac:spMk id="11" creationId="{00000000-0000-0000-0000-000000000000}"/>
          </ac:spMkLst>
        </pc:spChg>
        <pc:picChg chg="add del">
          <ac:chgData name="Muskan Shaikh" userId="6ed7a8d74177264d" providerId="LiveId" clId="{1528929A-6AFB-4239-876A-4B5E5FAFEDD7}" dt="2026-10-04T16:29:43.555" v="167" actId="478"/>
          <ac:picMkLst>
            <pc:docMk/>
            <pc:sldMk cId="0" sldId="274"/>
            <ac:picMk id="12" creationId="{00000000-0000-0000-0000-000000000000}"/>
          </ac:picMkLst>
        </pc:picChg>
        <pc:picChg chg="add del mod">
          <ac:chgData name="Muskan Shaikh" userId="6ed7a8d74177264d" providerId="LiveId" clId="{1528929A-6AFB-4239-876A-4B5E5FAFEDD7}" dt="2026-10-04T16:30:31.127" v="183" actId="1076"/>
          <ac:picMkLst>
            <pc:docMk/>
            <pc:sldMk cId="0" sldId="274"/>
            <ac:picMk id="14" creationId="{FF7893B8-2B12-C1F6-0822-A51A643A3781}"/>
          </ac:picMkLst>
        </pc:picChg>
        <pc:picChg chg="add del mod">
          <ac:chgData name="Muskan Shaikh" userId="6ed7a8d74177264d" providerId="LiveId" clId="{1528929A-6AFB-4239-876A-4B5E5FAFEDD7}" dt="2026-10-04T16:30:13.478" v="175" actId="21"/>
          <ac:picMkLst>
            <pc:docMk/>
            <pc:sldMk cId="0" sldId="274"/>
            <ac:picMk id="16" creationId="{EEAC04CF-60B2-84B4-42A2-20F49F915E55}"/>
          </ac:picMkLst>
        </pc:picChg>
      </pc:sldChg>
      <pc:sldChg chg="delSp modSp mod">
        <pc:chgData name="Muskan Shaikh" userId="6ed7a8d74177264d" providerId="LiveId" clId="{1528929A-6AFB-4239-876A-4B5E5FAFEDD7}" dt="2026-10-04T16:31:40.783" v="203"/>
        <pc:sldMkLst>
          <pc:docMk/>
          <pc:sldMk cId="0" sldId="275"/>
        </pc:sldMkLst>
        <pc:spChg chg="mod">
          <ac:chgData name="Muskan Shaikh" userId="6ed7a8d74177264d" providerId="LiveId" clId="{1528929A-6AFB-4239-876A-4B5E5FAFEDD7}" dt="2026-10-04T16:31:16.449" v="190" actId="1076"/>
          <ac:spMkLst>
            <pc:docMk/>
            <pc:sldMk cId="0" sldId="275"/>
            <ac:spMk id="10" creationId="{00000000-0000-0000-0000-000000000000}"/>
          </ac:spMkLst>
        </pc:spChg>
        <pc:spChg chg="del mod">
          <ac:chgData name="Muskan Shaikh" userId="6ed7a8d74177264d" providerId="LiveId" clId="{1528929A-6AFB-4239-876A-4B5E5FAFEDD7}" dt="2026-10-04T16:31:40.783" v="203"/>
          <ac:spMkLst>
            <pc:docMk/>
            <pc:sldMk cId="0" sldId="275"/>
            <ac:spMk id="11" creationId="{00000000-0000-0000-0000-000000000000}"/>
          </ac:spMkLst>
        </pc:spChg>
        <pc:spChg chg="mod">
          <ac:chgData name="Muskan Shaikh" userId="6ed7a8d74177264d" providerId="LiveId" clId="{1528929A-6AFB-4239-876A-4B5E5FAFEDD7}" dt="2026-10-04T16:31:32.814" v="197" actId="1076"/>
          <ac:spMkLst>
            <pc:docMk/>
            <pc:sldMk cId="0" sldId="275"/>
            <ac:spMk id="15" creationId="{00000000-0000-0000-0000-000000000000}"/>
          </ac:spMkLst>
        </pc:spChg>
        <pc:picChg chg="mod">
          <ac:chgData name="Muskan Shaikh" userId="6ed7a8d74177264d" providerId="LiveId" clId="{1528929A-6AFB-4239-876A-4B5E5FAFEDD7}" dt="2026-10-04T16:31:27.991" v="196" actId="14100"/>
          <ac:picMkLst>
            <pc:docMk/>
            <pc:sldMk cId="0" sldId="275"/>
            <ac:picMk id="12" creationId="{00000000-0000-0000-0000-000000000000}"/>
          </ac:picMkLst>
        </pc:picChg>
        <pc:picChg chg="mod">
          <ac:chgData name="Muskan Shaikh" userId="6ed7a8d74177264d" providerId="LiveId" clId="{1528929A-6AFB-4239-876A-4B5E5FAFEDD7}" dt="2026-10-04T16:31:37.181" v="200" actId="1076"/>
          <ac:picMkLst>
            <pc:docMk/>
            <pc:sldMk cId="0" sldId="275"/>
            <ac:picMk id="13" creationId="{00000000-0000-0000-0000-000000000000}"/>
          </ac:picMkLst>
        </pc:picChg>
        <pc:picChg chg="mod">
          <ac:chgData name="Muskan Shaikh" userId="6ed7a8d74177264d" providerId="LiveId" clId="{1528929A-6AFB-4239-876A-4B5E5FAFEDD7}" dt="2026-10-04T16:31:39.222" v="201" actId="14100"/>
          <ac:picMkLst>
            <pc:docMk/>
            <pc:sldMk cId="0" sldId="275"/>
            <ac:picMk id="14" creationId="{00000000-0000-0000-0000-000000000000}"/>
          </ac:picMkLst>
        </pc:picChg>
      </pc:sldChg>
      <pc:sldChg chg="del">
        <pc:chgData name="Muskan Shaikh" userId="6ed7a8d74177264d" providerId="LiveId" clId="{1528929A-6AFB-4239-876A-4B5E5FAFEDD7}" dt="2026-10-04T16:31:52.717" v="204" actId="47"/>
        <pc:sldMkLst>
          <pc:docMk/>
          <pc:sldMk cId="0" sldId="277"/>
        </pc:sldMkLst>
      </pc:sldChg>
      <pc:sldChg chg="addSp modSp new mod">
        <pc:chgData name="Muskan Shaikh" userId="6ed7a8d74177264d" providerId="LiveId" clId="{1528929A-6AFB-4239-876A-4B5E5FAFEDD7}" dt="2026-10-04T16:30:21.273" v="179" actId="1076"/>
        <pc:sldMkLst>
          <pc:docMk/>
          <pc:sldMk cId="2803577854" sldId="278"/>
        </pc:sldMkLst>
        <pc:spChg chg="mod">
          <ac:chgData name="Muskan Shaikh" userId="6ed7a8d74177264d" providerId="LiveId" clId="{1528929A-6AFB-4239-876A-4B5E5FAFEDD7}" dt="2026-10-04T16:30:08.762" v="174"/>
          <ac:spMkLst>
            <pc:docMk/>
            <pc:sldMk cId="2803577854" sldId="278"/>
            <ac:spMk id="3" creationId="{406049E9-A246-B953-0B76-BCF28FF34A0E}"/>
          </ac:spMkLst>
        </pc:spChg>
        <pc:spChg chg="mod">
          <ac:chgData name="Muskan Shaikh" userId="6ed7a8d74177264d" providerId="LiveId" clId="{1528929A-6AFB-4239-876A-4B5E5FAFEDD7}" dt="2026-10-04T16:30:08.762" v="174"/>
          <ac:spMkLst>
            <pc:docMk/>
            <pc:sldMk cId="2803577854" sldId="278"/>
            <ac:spMk id="5" creationId="{10F6F4A1-FE76-A1D7-C1CF-95501F12A54C}"/>
          </ac:spMkLst>
        </pc:spChg>
        <pc:spChg chg="mod">
          <ac:chgData name="Muskan Shaikh" userId="6ed7a8d74177264d" providerId="LiveId" clId="{1528929A-6AFB-4239-876A-4B5E5FAFEDD7}" dt="2026-10-04T16:30:08.762" v="174"/>
          <ac:spMkLst>
            <pc:docMk/>
            <pc:sldMk cId="2803577854" sldId="278"/>
            <ac:spMk id="7" creationId="{ED82EEC0-87C6-319A-DBA1-80F21CC2F910}"/>
          </ac:spMkLst>
        </pc:spChg>
        <pc:spChg chg="mod">
          <ac:chgData name="Muskan Shaikh" userId="6ed7a8d74177264d" providerId="LiveId" clId="{1528929A-6AFB-4239-876A-4B5E5FAFEDD7}" dt="2026-10-04T16:30:08.762" v="174"/>
          <ac:spMkLst>
            <pc:docMk/>
            <pc:sldMk cId="2803577854" sldId="278"/>
            <ac:spMk id="9" creationId="{D3A38E7B-8A81-B63E-D8FF-DE9680F0D84B}"/>
          </ac:spMkLst>
        </pc:spChg>
        <pc:grpChg chg="add mod">
          <ac:chgData name="Muskan Shaikh" userId="6ed7a8d74177264d" providerId="LiveId" clId="{1528929A-6AFB-4239-876A-4B5E5FAFEDD7}" dt="2026-10-04T16:30:08.762" v="174"/>
          <ac:grpSpMkLst>
            <pc:docMk/>
            <pc:sldMk cId="2803577854" sldId="278"/>
            <ac:grpSpMk id="2" creationId="{1BAF0718-7042-6994-BDCD-F8E0628AEE9C}"/>
          </ac:grpSpMkLst>
        </pc:grpChg>
        <pc:grpChg chg="add mod">
          <ac:chgData name="Muskan Shaikh" userId="6ed7a8d74177264d" providerId="LiveId" clId="{1528929A-6AFB-4239-876A-4B5E5FAFEDD7}" dt="2026-10-04T16:30:08.762" v="174"/>
          <ac:grpSpMkLst>
            <pc:docMk/>
            <pc:sldMk cId="2803577854" sldId="278"/>
            <ac:grpSpMk id="4" creationId="{A8D0621C-3E75-8EBB-7E13-54E5D8B13E89}"/>
          </ac:grpSpMkLst>
        </pc:grpChg>
        <pc:grpChg chg="add mod">
          <ac:chgData name="Muskan Shaikh" userId="6ed7a8d74177264d" providerId="LiveId" clId="{1528929A-6AFB-4239-876A-4B5E5FAFEDD7}" dt="2026-10-04T16:30:08.762" v="174"/>
          <ac:grpSpMkLst>
            <pc:docMk/>
            <pc:sldMk cId="2803577854" sldId="278"/>
            <ac:grpSpMk id="6" creationId="{065902DD-EEBB-7A46-2997-3E2F1B01773F}"/>
          </ac:grpSpMkLst>
        </pc:grpChg>
        <pc:grpChg chg="add mod">
          <ac:chgData name="Muskan Shaikh" userId="6ed7a8d74177264d" providerId="LiveId" clId="{1528929A-6AFB-4239-876A-4B5E5FAFEDD7}" dt="2026-10-04T16:30:08.762" v="174"/>
          <ac:grpSpMkLst>
            <pc:docMk/>
            <pc:sldMk cId="2803577854" sldId="278"/>
            <ac:grpSpMk id="8" creationId="{4DF10B92-2D5D-78FF-2474-39655D7DBD1A}"/>
          </ac:grpSpMkLst>
        </pc:grpChg>
        <pc:picChg chg="add mod">
          <ac:chgData name="Muskan Shaikh" userId="6ed7a8d74177264d" providerId="LiveId" clId="{1528929A-6AFB-4239-876A-4B5E5FAFEDD7}" dt="2026-10-04T16:30:21.273" v="179" actId="1076"/>
          <ac:picMkLst>
            <pc:docMk/>
            <pc:sldMk cId="2803577854" sldId="278"/>
            <ac:picMk id="11" creationId="{9D7F6786-9798-FBD7-744D-2429610A6223}"/>
          </ac:picMkLst>
        </pc:picChg>
      </pc:sldChg>
      <pc:sldChg chg="addSp delSp modSp new del mod">
        <pc:chgData name="Muskan Shaikh" userId="6ed7a8d74177264d" providerId="LiveId" clId="{1528929A-6AFB-4239-876A-4B5E5FAFEDD7}" dt="2026-10-04T16:35:30.025" v="236" actId="47"/>
        <pc:sldMkLst>
          <pc:docMk/>
          <pc:sldMk cId="527622478" sldId="279"/>
        </pc:sldMkLst>
        <pc:spChg chg="mod">
          <ac:chgData name="Muskan Shaikh" userId="6ed7a8d74177264d" providerId="LiveId" clId="{1528929A-6AFB-4239-876A-4B5E5FAFEDD7}" dt="2026-10-04T16:34:55.386" v="229"/>
          <ac:spMkLst>
            <pc:docMk/>
            <pc:sldMk cId="527622478" sldId="279"/>
            <ac:spMk id="5" creationId="{8BF4B748-9DC7-FFCD-CA0A-2ACAB2BDDB99}"/>
          </ac:spMkLst>
        </pc:spChg>
        <pc:spChg chg="mod">
          <ac:chgData name="Muskan Shaikh" userId="6ed7a8d74177264d" providerId="LiveId" clId="{1528929A-6AFB-4239-876A-4B5E5FAFEDD7}" dt="2026-10-04T16:34:55.386" v="229"/>
          <ac:spMkLst>
            <pc:docMk/>
            <pc:sldMk cId="527622478" sldId="279"/>
            <ac:spMk id="7" creationId="{A3373B07-8295-695D-E46E-9067510A2442}"/>
          </ac:spMkLst>
        </pc:spChg>
        <pc:spChg chg="mod">
          <ac:chgData name="Muskan Shaikh" userId="6ed7a8d74177264d" providerId="LiveId" clId="{1528929A-6AFB-4239-876A-4B5E5FAFEDD7}" dt="2026-10-04T16:34:55.386" v="229"/>
          <ac:spMkLst>
            <pc:docMk/>
            <pc:sldMk cId="527622478" sldId="279"/>
            <ac:spMk id="9" creationId="{382C7C72-C8B3-066B-6ABF-FE7D6864AB3F}"/>
          </ac:spMkLst>
        </pc:spChg>
        <pc:spChg chg="mod">
          <ac:chgData name="Muskan Shaikh" userId="6ed7a8d74177264d" providerId="LiveId" clId="{1528929A-6AFB-4239-876A-4B5E5FAFEDD7}" dt="2026-10-04T16:34:55.386" v="229"/>
          <ac:spMkLst>
            <pc:docMk/>
            <pc:sldMk cId="527622478" sldId="279"/>
            <ac:spMk id="11" creationId="{5BC618AA-DC00-E8F0-8700-3466B2C4D621}"/>
          </ac:spMkLst>
        </pc:spChg>
        <pc:grpChg chg="add mod">
          <ac:chgData name="Muskan Shaikh" userId="6ed7a8d74177264d" providerId="LiveId" clId="{1528929A-6AFB-4239-876A-4B5E5FAFEDD7}" dt="2026-10-04T16:34:55.386" v="229"/>
          <ac:grpSpMkLst>
            <pc:docMk/>
            <pc:sldMk cId="527622478" sldId="279"/>
            <ac:grpSpMk id="4" creationId="{03A0C76E-3E63-AEBA-F599-CDDEE6E19150}"/>
          </ac:grpSpMkLst>
        </pc:grpChg>
        <pc:grpChg chg="add mod">
          <ac:chgData name="Muskan Shaikh" userId="6ed7a8d74177264d" providerId="LiveId" clId="{1528929A-6AFB-4239-876A-4B5E5FAFEDD7}" dt="2026-10-04T16:34:55.386" v="229"/>
          <ac:grpSpMkLst>
            <pc:docMk/>
            <pc:sldMk cId="527622478" sldId="279"/>
            <ac:grpSpMk id="6" creationId="{416A22F1-16F1-5F26-B2C6-036A5FFB3A8F}"/>
          </ac:grpSpMkLst>
        </pc:grpChg>
        <pc:grpChg chg="add mod">
          <ac:chgData name="Muskan Shaikh" userId="6ed7a8d74177264d" providerId="LiveId" clId="{1528929A-6AFB-4239-876A-4B5E5FAFEDD7}" dt="2026-10-04T16:34:55.386" v="229"/>
          <ac:grpSpMkLst>
            <pc:docMk/>
            <pc:sldMk cId="527622478" sldId="279"/>
            <ac:grpSpMk id="8" creationId="{AB0E1BF2-59B8-1130-733E-33A22FBFFA4C}"/>
          </ac:grpSpMkLst>
        </pc:grpChg>
        <pc:grpChg chg="add mod">
          <ac:chgData name="Muskan Shaikh" userId="6ed7a8d74177264d" providerId="LiveId" clId="{1528929A-6AFB-4239-876A-4B5E5FAFEDD7}" dt="2026-10-04T16:34:55.386" v="229"/>
          <ac:grpSpMkLst>
            <pc:docMk/>
            <pc:sldMk cId="527622478" sldId="279"/>
            <ac:grpSpMk id="10" creationId="{6F6848A7-B52B-E68E-6A1B-CC4DE11322E4}"/>
          </ac:grpSpMkLst>
        </pc:grpChg>
        <pc:picChg chg="add del mod">
          <ac:chgData name="Muskan Shaikh" userId="6ed7a8d74177264d" providerId="LiveId" clId="{1528929A-6AFB-4239-876A-4B5E5FAFEDD7}" dt="2026-10-04T16:35:14.713" v="231" actId="21"/>
          <ac:picMkLst>
            <pc:docMk/>
            <pc:sldMk cId="527622478" sldId="279"/>
            <ac:picMk id="3" creationId="{18B4BC8D-9BF8-3924-3C71-8628EE6CFC6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(20s)</a:t>
            </a:r>
          </a:p>
          <a:p/>
          <a:p>
            <a:r>
              <a:t>Good morning. We are building an emotion recognition layer for</a:t>
            </a:r>
          </a:p>
          <a:p>
            <a:r>
              <a:t>telemedicine - a system that watches a consultation and tells the</a:t>
            </a:r>
          </a:p>
          <a:p>
            <a:r>
              <a:t>clinician what the patient's face, voice and words suggest they are</a:t>
            </a:r>
          </a:p>
          <a:p>
            <a:r>
              <a:t>feeling, in real time.</a:t>
            </a:r>
          </a:p>
          <a:p/>
          <a:p>
            <a:r>
              <a:t>I am &lt;name&gt;, with Muskan, Yashraj and Ankita, mentored by Dr. Girishma</a:t>
            </a:r>
          </a:p>
          <a:p>
            <a:r>
              <a:t>Sharma.</a:t>
            </a:r>
          </a:p>
          <a:p/>
          <a:p>
            <a:r>
              <a:t>One framing note before I start. Since the last review we have gone from</a:t>
            </a:r>
          </a:p>
          <a:p>
            <a:r>
              <a:t>one modality to three, and the honest headline is that the fused system</a:t>
            </a:r>
          </a:p>
          <a:p>
            <a:r>
              <a:t>is better than any single signal and still not stable enough to put in</a:t>
            </a:r>
          </a:p>
          <a:p>
            <a:r>
              <a:t>front of a clinician. I will show you both halves of that,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INTRODUCTION (45s)</a:t>
            </a:r>
          </a:p>
          <a:p/>
          <a:p>
            <a:r>
              <a:t>Emotion recognition is the computational identification of an emotional</a:t>
            </a:r>
          </a:p>
          <a:p>
            <a:r>
              <a:t>state from signals a person emits without being asked - the face, the</a:t>
            </a:r>
          </a:p>
          <a:p>
            <a:r>
              <a:t>voice, the words, and in some of the literature physiological channels</a:t>
            </a:r>
          </a:p>
          <a:p>
            <a:r>
              <a:t>like EEG.</a:t>
            </a:r>
          </a:p>
          <a:p/>
          <a:p>
            <a:r>
              <a:t>The field moved from rule-based coding of facial action units to deep</a:t>
            </a:r>
          </a:p>
          <a:p>
            <a:r>
              <a:t>learning, and the practical consequence is that a single model can now</a:t>
            </a:r>
          </a:p>
          <a:p>
            <a:r>
              <a:t>be handed raw pixels or raw audio instead of hand-designed features.</a:t>
            </a:r>
          </a:p>
          <a:p/>
          <a:p>
            <a:r>
              <a:t>What we are building is the healthcare application of that: a layer a</a:t>
            </a:r>
          </a:p>
          <a:p>
            <a:r>
              <a:t>telemedicine platform can add so the emotional state of a patient is</a:t>
            </a:r>
          </a:p>
          <a:p>
            <a:r>
              <a:t>visible alongside their clinical data, live, during the consultation.</a:t>
            </a:r>
          </a:p>
          <a:p/>
          <a:p>
            <a:r>
              <a:t>Keep one thing in mind for later - "in real time" is the hard part, and</a:t>
            </a:r>
          </a:p>
          <a:p>
            <a:r>
              <a:t>it is where our remaining problem lives.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MOTIVATION (60s)</a:t>
            </a:r>
          </a:p>
          <a:p/>
          <a:p>
            <a:r>
              <a:t>Three beats here.</a:t>
            </a:r>
          </a:p>
          <a:p/>
          <a:p>
            <a:r>
              <a:t>The problem: telemedicine platforms carry clinical data and speech.</a:t>
            </a:r>
          </a:p>
          <a:p>
            <a:r>
              <a:t>They do not carry non-verbal signal. In a physical consultation a doctor</a:t>
            </a:r>
          </a:p>
          <a:p>
            <a:r>
              <a:t>reads posture, hesitation, a flattened voice - over a video call most of</a:t>
            </a:r>
          </a:p>
          <a:p>
            <a:r>
              <a:t>that is either lost or not attended to, because the clinician is looking</a:t>
            </a:r>
          </a:p>
          <a:p>
            <a:r>
              <a:t>at a chart.</a:t>
            </a:r>
          </a:p>
          <a:p/>
          <a:p>
            <a:r>
              <a:t>Why it matters: emotional state affects both diagnosis and whether the</a:t>
            </a:r>
          </a:p>
          <a:p>
            <a:r>
              <a:t>patient actually follows the treatment. And mental health deterioration</a:t>
            </a:r>
          </a:p>
          <a:p>
            <a:r>
              <a:t>in particular shows up in affect before it shows up in anything a</a:t>
            </a:r>
          </a:p>
          <a:p>
            <a:r>
              <a:t>patient volunteers.</a:t>
            </a:r>
          </a:p>
          <a:p/>
          <a:p>
            <a:r>
              <a:t>Our goal: a layer that is real-time, privacy-aware and - the word we</a:t>
            </a:r>
          </a:p>
          <a:p>
            <a:r>
              <a:t>care most about - validated. Plenty of published systems quote 90%+</a:t>
            </a:r>
          </a:p>
          <a:p>
            <a:r>
              <a:t>accuracy. Part of what we will show today is why those numbers usually</a:t>
            </a:r>
          </a:p>
          <a:p>
            <a:r>
              <a:t>do not survive contact with an unseen face.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FOR THIS CYCLE (45s)</a:t>
            </a:r>
          </a:p>
          <a:p/>
          <a:p>
            <a:r>
              <a:t>Four, and I will tell you up front which ones we met.</a:t>
            </a:r>
          </a:p>
          <a:p/>
          <a:p>
            <a:r>
              <a:t>System integration - connect the finished frontend to the Python ML</a:t>
            </a:r>
          </a:p>
          <a:p>
            <a:r>
              <a:t>backend. Done; it is one WebSocket carrying all three modalities, and</a:t>
            </a:r>
          </a:p>
          <a:p>
            <a:r>
              <a:t>I will demo it.</a:t>
            </a:r>
          </a:p>
          <a:p/>
          <a:p>
            <a:r>
              <a:t>Establish the multimodal baseline - extract and fuse video, audio and</a:t>
            </a:r>
          </a:p>
          <a:p>
            <a:r>
              <a:t>text. Done, and measured end to end.</a:t>
            </a:r>
          </a:p>
          <a:p/>
          <a:p>
            <a:r>
              <a:t>Prove the multimodal approach beats single-modality. Done, but the</a:t>
            </a:r>
          </a:p>
          <a:p>
            <a:r>
              <a:t>margin is smaller than we expected, and the reason is interesting</a:t>
            </a:r>
          </a:p>
          <a:p>
            <a:r>
              <a:t>rather than embarrassing. Slide on it later.</a:t>
            </a:r>
          </a:p>
          <a:p/>
          <a:p>
            <a:r>
              <a:t>Finalise the web platform UI. Done - the therapist-facing portal is</a:t>
            </a:r>
          </a:p>
          <a:p>
            <a:r>
              <a:t>working, and it shows not just the answer but which modality produced</a:t>
            </a:r>
          </a:p>
          <a:p>
            <a:r>
              <a:t>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 SECTION DIVIDER (10s)</a:t>
            </a:r>
          </a:p>
          <a:p/>
          <a:p>
            <a:r>
              <a:t>Just a divider. Say the sentence and move on:</a:t>
            </a:r>
          </a:p>
          <a:p/>
          <a:p>
            <a:r>
              <a:t>"The method is three transformers that never talk to each other, and</a:t>
            </a:r>
          </a:p>
          <a:p>
            <a:r>
              <a:t>one piece of arithmetic that combines them."</a:t>
            </a:r>
          </a:p>
          <a:p/>
          <a:p>
            <a:r>
              <a:t>[Note for the team: slides 6 and 7 are blank. Either delete them before</a:t>
            </a:r>
          </a:p>
          <a:p>
            <a:r>
              <a:t>the review or drop the architecture figure into one of them - a blank</a:t>
            </a:r>
          </a:p>
          <a:p>
            <a:r>
              <a:t>slide mid-section reads as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BLANK SLIDE - delete before presenting, or move the architecture figure</a:t>
            </a:r>
          </a:p>
          <a:p>
            <a:r>
              <a:t>here. If it is still in the deck on the day, press Next immediately and</a:t>
            </a:r>
          </a:p>
          <a:p>
            <a:r>
              <a:t>say nothing.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BLANK SLIDE - same as the previous one. Delete or fill.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IN THREE STEPS (2 min - this is a core slide)</a:t>
            </a:r>
          </a:p>
          <a:p/>
          <a:p>
            <a:r>
              <a:t>Step one, read each signal. A Vision Transformer reads the face from</a:t>
            </a:r>
          </a:p>
          <a:p>
            <a:r>
              <a:t>the webcam. A WavLM speech encoder reads tone of voice. A compact BERT</a:t>
            </a:r>
          </a:p>
          <a:p>
            <a:r>
              <a:t>reads typed text. The important design decision is that each one is</a:t>
            </a:r>
          </a:p>
          <a:p>
            <a:r>
              <a:t>trained and evaluated completely independently, so a weak modality is</a:t>
            </a:r>
          </a:p>
          <a:p>
            <a:r>
              <a:t>visible before it ever reaches the fusion. Nothing is hidden by the</a:t>
            </a:r>
          </a:p>
          <a:p>
            <a:r>
              <a:t>averaging.</a:t>
            </a:r>
          </a:p>
          <a:p/>
          <a:p>
            <a:r>
              <a:t>Step two, speak one language. All three emit a probability over the</a:t>
            </a:r>
          </a:p>
          <a:p>
            <a:r>
              <a:t>SAME seven emotions, in the same order: angry, disgust, fear, happy,</a:t>
            </a:r>
          </a:p>
          <a:p>
            <a:r>
              <a:t>neutral, sad, surprise. That shared label space is what makes fusion</a:t>
            </a:r>
          </a:p>
          <a:p>
            <a:r>
              <a:t>arithmetic rather than translation - position three means happy in all</a:t>
            </a:r>
          </a:p>
          <a:p>
            <a:r>
              <a:t>three vectors. Getting the audio model to speak those seven directly</a:t>
            </a:r>
          </a:p>
          <a:p>
            <a:r>
              <a:t>took rebuilding its training corpus, which is the slide after next.</a:t>
            </a:r>
          </a:p>
          <a:p/>
          <a:p>
            <a:r>
              <a:t>Step three, weigh and decide. A weighted logarithmic opinion pool - a</a:t>
            </a:r>
          </a:p>
          <a:p>
            <a:r>
              <a:t>geometric mean, not an average. Geometric because the modalities are</a:t>
            </a:r>
          </a:p>
          <a:p>
            <a:r>
              <a:t>roughly independent given the true emotion, so a class both find</a:t>
            </a:r>
          </a:p>
          <a:p>
            <a:r>
              <a:t>plausible should be reinforced and a class either rules out should be</a:t>
            </a:r>
          </a:p>
          <a:p>
            <a:r>
              <a:t>suppressed. An arithmetic average can never be more confident than its</a:t>
            </a:r>
          </a:p>
          <a:p>
            <a:r>
              <a:t>inputs; a product of experts can.</a:t>
            </a:r>
          </a:p>
          <a:p/>
          <a:p>
            <a:r>
              <a:t>And the weights are not fixed. They track how much THIS observation</a:t>
            </a:r>
          </a:p>
          <a:p>
            <a:r>
              <a:t>deserves trust: face crop quality, how recently the voice was heard,</a:t>
            </a:r>
          </a:p>
          <a:p>
            <a:r>
              <a:t>how long the typed message was.</a:t>
            </a:r>
          </a:p>
          <a:p/>
          <a:p>
            <a:r>
              <a:t>The numbers on the right: 52% face, 50% voice, 33% text measured</a:t>
            </a:r>
          </a:p>
          <a:p>
            <a:r>
              <a:t>alone on data they never trained on, 55.4% fused - plus 3.3 points</a:t>
            </a:r>
          </a:p>
          <a:p>
            <a:r>
              <a:t>over the best single modality.</a:t>
            </a:r>
          </a:p>
          <a:p/>
          <a:p>
            <a:r>
              <a:t>LIKELY QUESTION: "Only 55%?" Answer: seven-class cross-dataset, chance</a:t>
            </a:r>
          </a:p>
          <a:p>
            <a:r>
              <a:t>is 14.3%, and the published range for this exact setting is 40-55%. The</a:t>
            </a:r>
          </a:p>
          <a:p>
            <a:r>
              <a:t>90% numbers in the literature are same-dataset. I have a slide on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ARCHITECTURE (45s)</a:t>
            </a:r>
          </a:p>
          <a:p/>
          <a:p>
            <a:r>
              <a:t>Walk the diagram left to right once, then stop.</a:t>
            </a:r>
          </a:p>
          <a:p/>
          <a:p>
            <a:r>
              <a:t>Three independent encoders, one shared label space, one</a:t>
            </a:r>
          </a:p>
          <a:p>
            <a:r>
              <a:t>reliability-weighted pool. Note what is NOT here: there is no joint</a:t>
            </a:r>
          </a:p>
          <a:p>
            <a:r>
              <a:t>encoder, no cross-attention between modalities, no learned fusion</a:t>
            </a:r>
          </a:p>
          <a:p>
            <a:r>
              <a:t>layer. Every box can be deleted and the system still answers, with the</a:t>
            </a:r>
          </a:p>
          <a:p>
            <a:r>
              <a:t>remaining signals, and tells you it is doing so.</a:t>
            </a:r>
          </a:p>
          <a:p/>
          <a:p>
            <a:r>
              <a:t>That is a deliberate trade. We give up whatever a jointly trained model</a:t>
            </a:r>
          </a:p>
          <a:p>
            <a:r>
              <a:t>would gain, and in exchange we get a system that degrades predictably</a:t>
            </a:r>
          </a:p>
          <a:p>
            <a:r>
              <a:t>and can explain any individual decision - which for a clinical tool is</a:t>
            </a:r>
          </a:p>
          <a:p>
            <a:r>
              <a:t>the better side of the trade.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FLOW (45s)</a:t>
            </a:r>
          </a:p>
          <a:p/>
          <a:p>
            <a:r>
              <a:t>This is the therapist's path, not the model's.</a:t>
            </a:r>
          </a:p>
          <a:p/>
          <a:p>
            <a:r>
              <a:t>They open the portal, start or upload a consultation, and the system</a:t>
            </a:r>
          </a:p>
          <a:p>
            <a:r>
              <a:t>streams back a reading per frame with the weights that produced it.</a:t>
            </a:r>
          </a:p>
          <a:p>
            <a:r>
              <a:t>Nothing is stored that is not needed for the session.</a:t>
            </a:r>
          </a:p>
          <a:p/>
          <a:p>
            <a:r>
              <a:t>One thing to point at: the output is never just a label. It is a</a:t>
            </a:r>
          </a:p>
          <a:p>
            <a:r>
              <a:t>label, a confidence, three per-modality opinions, and a conflict flag.</a:t>
            </a:r>
          </a:p>
          <a:p>
            <a:r>
              <a:t>A clinician who cannot see why a system said "sad" will not use it</a:t>
            </a:r>
          </a:p>
          <a:p>
            <a:r>
              <a:t>twice.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TECHNOLOGY STACK (75s - new slide)</a:t>
            </a:r>
          </a:p>
          <a:p/>
          <a:p>
            <a:r>
              <a:t>Three columns: what trains, what serves, what shows.</a:t>
            </a:r>
          </a:p>
          <a:p/>
          <a:p>
            <a:r>
              <a:t>Train: PyTorch with HuggingFace Transformers for all three encoders.</a:t>
            </a:r>
          </a:p>
          <a:p>
            <a:r>
              <a:t>The face model is fine-tuned from google/vit-base-patch16-224-in21k</a:t>
            </a:r>
          </a:p>
          <a:p>
            <a:r>
              <a:t>over four merged face corpora. WavLM-base-plus and TinyBERT fine-tune</a:t>
            </a:r>
          </a:p>
          <a:p>
            <a:r>
              <a:t>in the same framework. librosa and soundfile condition the audio,</a:t>
            </a:r>
          </a:p>
          <a:p>
            <a:r>
              <a:t>scikit-learn computes every metric. All of the training ran on one</a:t>
            </a:r>
          </a:p>
          <a:p>
            <a:r>
              <a:t>RTX 4060 - no cluster, no cloud credits.</a:t>
            </a:r>
          </a:p>
          <a:p/>
          <a:p>
            <a:r>
              <a:t>Serve: FastAPI and Uvicorn, with one WebSocket carrying video frames,</a:t>
            </a:r>
          </a:p>
          <a:p>
            <a:r>
              <a:t>sixteen-kilohertz PCM and typed text on a single connection. The face</a:t>
            </a:r>
          </a:p>
          <a:p>
            <a:r>
              <a:t>ViT runs through ONNX Runtime on the CUDA provider and falls back to</a:t>
            </a:r>
          </a:p>
          <a:p>
            <a:r>
              <a:t>CPU automatically. WavLM and TinyBERT stay in PyTorch. The fusion pool</a:t>
            </a:r>
          </a:p>
          <a:p>
            <a:r>
              <a:t>itself is about forty lines of NumPy. Face detection and the five</a:t>
            </a:r>
          </a:p>
          <a:p>
            <a:r>
              <a:t>landmarks for alignment come from OpenCV's YuNet.</a:t>
            </a:r>
          </a:p>
          <a:p/>
          <a:p>
            <a:r>
              <a:t>Show: the client is a single HTML file. No React, no build step.</a:t>
            </a:r>
          </a:p>
          <a:p>
            <a:r>
              <a:t>getUserMedia and a canvas for video, an AudioWorklet for audio, and</a:t>
            </a:r>
          </a:p>
          <a:p>
            <a:r>
              <a:t>back-pressure - the browser only sends the next frame when the server</a:t>
            </a:r>
          </a:p>
          <a:p>
            <a:r>
              <a:t>acknowledges the last, so a slow machine drops frame rate instead of</a:t>
            </a:r>
          </a:p>
          <a:p>
            <a:r>
              <a:t>building a queue.</a:t>
            </a:r>
          </a:p>
          <a:p/>
          <a:p>
            <a:r>
              <a:t>The point of the bottom line: a telemedicine deployment cannot assume a</a:t>
            </a:r>
          </a:p>
          <a:p>
            <a:r>
              <a:t>datacentre. Everything here degrades to CPU on one machine, and the</a:t>
            </a:r>
          </a:p>
          <a:p>
            <a:r>
              <a:t>heaviest piece - a 380 MB WavLM checkpoint - is opt-in, so a session</a:t>
            </a:r>
          </a:p>
          <a:p>
            <a:r>
              <a:t>that never uses the microphone never loads it.</a:t>
            </a:r>
          </a:p>
          <a:p/>
          <a:p>
            <a:r>
              <a:t>LIKELY QUESTION: "Why ONNX for one model and PyTorch for the other</a:t>
            </a:r>
          </a:p>
          <a:p>
            <a:r>
              <a:t>two?" Because the face model runs 30 times a second and the other two</a:t>
            </a:r>
          </a:p>
          <a:p>
            <a:r>
              <a:t>about once a second. The ViT was worth exporting and quantising; the</a:t>
            </a:r>
          </a:p>
          <a:p>
            <a:r>
              <a:t>others were not, and keeping them in PyTorch means we can swap</a:t>
            </a:r>
          </a:p>
          <a:p>
            <a:r>
              <a:t>checkpoints without re-exporting.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THREE MODALITIES (75s)</a:t>
            </a:r>
          </a:p>
          <a:p/>
          <a:p>
            <a:r>
              <a:t>The argument is not "more signals are better". It is that these three</a:t>
            </a:r>
          </a:p>
          <a:p>
            <a:r>
              <a:t>fail in different situations.</a:t>
            </a:r>
          </a:p>
          <a:p/>
          <a:p>
            <a:r>
              <a:t>Face: always present, always current - and the weakest cross-dataset.</a:t>
            </a:r>
          </a:p>
          <a:p>
            <a:r>
              <a:t>74% on its own test split, 52% on faces it has never seen. That</a:t>
            </a:r>
          </a:p>
          <a:p>
            <a:r>
              <a:t>22-point drop is the single most important number in this deck. A still</a:t>
            </a:r>
          </a:p>
          <a:p>
            <a:r>
              <a:t>face is also genuinely ambiguous; humans disagree about it too.</a:t>
            </a:r>
          </a:p>
          <a:p/>
          <a:p>
            <a:r>
              <a:t>Voice: carries intensity the face hides. A flat expression with a sharp</a:t>
            </a:r>
          </a:p>
          <a:p>
            <a:r>
              <a:t>voice is still distress. 69% on clear acted speech, 36% in a noisy</a:t>
            </a:r>
          </a:p>
          <a:p>
            <a:r>
              <a:t>room, and nothing at all when nobody is talking.</a:t>
            </a:r>
          </a:p>
          <a:p/>
          <a:p>
            <a:r>
              <a:t>Text: the most explicit signal when it exists - someone typing "I</a:t>
            </a:r>
          </a:p>
          <a:p>
            <a:r>
              <a:t>can't cope" is not ambiguous - but it arrives in bursts and goes stale.</a:t>
            </a:r>
          </a:p>
          <a:p>
            <a:r>
              <a:t>A message from two minutes ago says very little about right now, which</a:t>
            </a:r>
          </a:p>
          <a:p>
            <a:r>
              <a:t>is why text evidence decays with a thirty-second half-life.</a:t>
            </a:r>
          </a:p>
          <a:p/>
          <a:p>
            <a:r>
              <a:t>The consequence: because the three fail independently, the pool can</a:t>
            </a:r>
          </a:p>
          <a:p>
            <a:r>
              <a:t>recover when one is wrong. And because each carries a confidence, the</a:t>
            </a:r>
          </a:p>
          <a:p>
            <a:r>
              <a:t>fusion knows when to stop trusting it rather than being switched off by</a:t>
            </a:r>
          </a:p>
          <a:p>
            <a:r>
              <a:t>hand.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THESE MODELS (2 min - new slide, expect questions here)</a:t>
            </a:r>
          </a:p>
          <a:p/>
          <a:p>
            <a:r>
              <a:t>Each of these was chosen against a measured alternative on the same</a:t>
            </a:r>
          </a:p>
          <a:p>
            <a:r>
              <a:t>data. None of it came off a leaderboard.</a:t>
            </a:r>
          </a:p>
          <a:p/>
          <a:p>
            <a:r>
              <a:t>Face - ViT-Base/16. Why a transformer and not a CNN: angry and sad</a:t>
            </a:r>
          </a:p>
          <a:p>
            <a:r>
              <a:t>differ in how the brow and the mouth move TOGETHER, and self-attention</a:t>
            </a:r>
          </a:p>
          <a:p>
            <a:r>
              <a:t>over sixteen-by-sixteen patches relates two distant regions in a single</a:t>
            </a:r>
          </a:p>
          <a:p>
            <a:r>
              <a:t>layer, where a small-kernel CNN needs depth to reach across the face.</a:t>
            </a:r>
          </a:p>
          <a:p>
            <a:r>
              <a:t>The more important point is the second half of that card: capacity is</a:t>
            </a:r>
          </a:p>
          <a:p>
            <a:r>
              <a:t>not our binding constraint. We tried three things to beat our v4</a:t>
            </a:r>
          </a:p>
          <a:p>
            <a:r>
              <a:t>checkpoint - balanced sampling, label cleaning, and a two-checkpoint</a:t>
            </a:r>
          </a:p>
          <a:p>
            <a:r>
              <a:t>ensemble - and all three measured WORSE on unseen faces. Label cleaning</a:t>
            </a:r>
          </a:p>
          <a:p>
            <a:r>
              <a:t>raised validation accuracy from 77.5% to 81.1% and dropped</a:t>
            </a:r>
          </a:p>
          <a:p>
            <a:r>
              <a:t>unseen-face accuracy from 52.3% to 48.0%. What it removed was the</a:t>
            </a:r>
          </a:p>
          <a:p>
            <a:r>
              <a:t>ambiguous examples, and those are what teach generalisation. So the</a:t>
            </a:r>
          </a:p>
          <a:p>
            <a:r>
              <a:t>lever is data diversity, not a bigger backbone.</a:t>
            </a:r>
          </a:p>
          <a:p/>
          <a:p>
            <a:r>
              <a:t>Voice - WavLM-base-plus. We benchmarked it against this project's own</a:t>
            </a:r>
          </a:p>
          <a:p>
            <a:r>
              <a:t>MFCC CNN, retrained unchanged on the identical speaker-disjoint split.</a:t>
            </a:r>
          </a:p>
          <a:p>
            <a:r>
              <a:t>Macro-F1 went from 0.322 to 0.499 - a 17.7-point gap attributable to</a:t>
            </a:r>
          </a:p>
          <a:p>
            <a:r>
              <a:t>the model alone, because the data and splits were held constant.</a:t>
            </a:r>
          </a:p>
          <a:p>
            <a:r>
              <a:t>Self-supervised pretraining on roughly 94,000 hours of speech is</a:t>
            </a:r>
          </a:p>
          <a:p>
            <a:r>
              <a:t>knowledge our 4,179 clips cannot supply. One detail worth knowing:</a:t>
            </a:r>
          </a:p>
          <a:p>
            <a:r>
              <a:t>we learn a softmax mixture over all thirteen hidden states, and it</a:t>
            </a:r>
          </a:p>
          <a:p>
            <a:r>
              <a:t>settles on layers nine and ten, not the top. The masked-prediction</a:t>
            </a:r>
          </a:p>
          <a:p>
            <a:r>
              <a:t>objective pulls the final layers toward phonetic content, so using</a:t>
            </a:r>
          </a:p>
          <a:p>
            <a:r>
              <a:t>the last layer alone would literally discard the emotion.</a:t>
            </a:r>
          </a:p>
          <a:p/>
          <a:p>
            <a:r>
              <a:t>Text - TinyBERT, four layers, 312 hidden. Benchmarked against</a:t>
            </a:r>
          </a:p>
          <a:p>
            <a:r>
              <a:t>DistilBERT at 67 million parameters and MobileBERT at 24.6 million on</a:t>
            </a:r>
          </a:p>
          <a:p>
            <a:r>
              <a:t>the same split: 88.6 macro-F1 against 89.3 and 89.4. So we give up</a:t>
            </a:r>
          </a:p>
          <a:p>
            <a:r>
              <a:t>0.8 points and get 2.8 milliseconds instead of 10.6 and 16.9, and 7.6</a:t>
            </a:r>
          </a:p>
          <a:p>
            <a:r>
              <a:t>times smaller than BERT-base. BERT-base and RoBERTa were excluded on</a:t>
            </a:r>
          </a:p>
          <a:p>
            <a:r>
              <a:t>the CPU budget, not on accuracy. And the checkpoint we deploy is the</a:t>
            </a:r>
          </a:p>
          <a:p>
            <a:r>
              <a:t>GoEmotions one rather than the better-scoring MTEB one, because</a:t>
            </a:r>
          </a:p>
          <a:p>
            <a:r>
              <a:t>GoEmotions predicts the shared seven directly - the six-class MTEB</a:t>
            </a:r>
          </a:p>
          <a:p>
            <a:r>
              <a:t>head physically cannot say "neutral" or "disgust", and neutral is the</a:t>
            </a:r>
          </a:p>
          <a:p>
            <a:r>
              <a:t>most common state in a real session.</a:t>
            </a:r>
          </a:p>
          <a:p/>
          <a:p>
            <a:r>
              <a:t>Bottom line - why fusion is not a fourth model: a learned fusion head</a:t>
            </a:r>
          </a:p>
          <a:p>
            <a:r>
              <a:t>needs trimodal training data in this label space and none exists. It</a:t>
            </a:r>
          </a:p>
          <a:p>
            <a:r>
              <a:t>would have to be fitted on simulated pairs, and it could not be</a:t>
            </a:r>
          </a:p>
          <a:p>
            <a:r>
              <a:t>audited. The log pool has no parameters to fit, survives a missing</a:t>
            </a:r>
          </a:p>
          <a:p>
            <a:r>
              <a:t>modality, and reports the weight it gave each signal - which is the</a:t>
            </a:r>
          </a:p>
          <a:p>
            <a:r>
              <a:t>thing a clinician actually has to check.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REBUILDING THE AUDIO CORPUS (75s)</a:t>
            </a:r>
          </a:p>
          <a:p/>
          <a:p>
            <a:r>
              <a:t>This slide is about a problem we inherited and had to fix before any</a:t>
            </a:r>
          </a:p>
          <a:p>
            <a:r>
              <a:t>audio number meant anything.</a:t>
            </a:r>
          </a:p>
          <a:p/>
          <a:p>
            <a:r>
              <a:t>The earlier branch shipped an audio model that had never been trained -</a:t>
            </a:r>
          </a:p>
          <a:p>
            <a:r>
              <a:t>the notebook stopped before the training cell - on a corpus missing two</a:t>
            </a:r>
          </a:p>
          <a:p>
            <a:r>
              <a:t>of the seven emotions. No neutral and no disgust, and an 8.6-to-1</a:t>
            </a:r>
          </a:p>
          <a:p>
            <a:r>
              <a:t>imbalance on surprise. A model that cannot emit "neutral" will label</a:t>
            </a:r>
          </a:p>
          <a:p>
            <a:r>
              <a:t>silence as whatever its prior favours, on every single frame. Neutral</a:t>
            </a:r>
          </a:p>
          <a:p>
            <a:r>
              <a:t>is the resting state of a real consultation, so that is fatal, not</a:t>
            </a:r>
          </a:p>
          <a:p>
            <a:r>
              <a:t>cosmetic.</a:t>
            </a:r>
          </a:p>
          <a:p/>
          <a:p>
            <a:r>
              <a:t>So we rebuilt it from four corpora - CREMA-D, RAVDESS, SAVEE and MELD -</a:t>
            </a:r>
          </a:p>
          <a:p>
            <a:r>
              <a:t>about 23,000 clips covering all seven classes.</a:t>
            </a:r>
          </a:p>
          <a:p/>
          <a:p>
            <a:r>
              <a:t>The methodological point is the caption, and I want to dwell on it. We</a:t>
            </a:r>
          </a:p>
          <a:p>
            <a:r>
              <a:t>split by SPEAKER, not by clip. Every acted corpus has each actor</a:t>
            </a:r>
          </a:p>
          <a:p>
            <a:r>
              <a:t>perform every emotion on the same sentences. If you split randomly, the</a:t>
            </a:r>
          </a:p>
          <a:p>
            <a:r>
              <a:t>same actor's voice appears in train and test, and the model can score</a:t>
            </a:r>
          </a:p>
          <a:p>
            <a:r>
              <a:t>by recognising the voice rather than the emotion. That is worth fifteen</a:t>
            </a:r>
          </a:p>
          <a:p>
            <a:r>
              <a:t>to twenty-five points, and it is why a lot of published speech-emotion</a:t>
            </a:r>
          </a:p>
          <a:p>
            <a:r>
              <a:t>numbers look high. Our numbers are lower than the literature partly</a:t>
            </a:r>
          </a:p>
          <a:p>
            <a:r>
              <a:t>because of this choice, and we would make it again.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AUDIO RESULTS (75s)</a:t>
            </a:r>
          </a:p>
          <a:p/>
          <a:p>
            <a:r>
              <a:t>Speaker-disjoint test split, 4,179 clips, seven classes, so chance is</a:t>
            </a:r>
          </a:p>
          <a:p>
            <a:r>
              <a:t>14.3%.</a:t>
            </a:r>
          </a:p>
          <a:p/>
          <a:p>
            <a:r>
              <a:t>The baseline bar is the earlier branch's own MFCC CNN architecture,</a:t>
            </a:r>
          </a:p>
          <a:p>
            <a:r>
              <a:t>imported unchanged and retrained on the same rebuilt data. Same data,</a:t>
            </a:r>
          </a:p>
          <a:p>
            <a:r>
              <a:t>same splits - so the 17.7-point gap isolates the model from the</a:t>
            </a:r>
          </a:p>
          <a:p>
            <a:r>
              <a:t>dataset. 0.322 macro-F1 to 0.499.</a:t>
            </a:r>
          </a:p>
          <a:p/>
          <a:p>
            <a:r>
              <a:t>Now the part I would rather you hear from me than find in the appendix.</a:t>
            </a:r>
          </a:p>
          <a:p>
            <a:r>
              <a:t>The averaged number hides the real finding. Broken out by domain:</a:t>
            </a:r>
          </a:p>
          <a:p>
            <a:r>
              <a:t>69.4% accuracy on acted studio speech, 35.6% on MELD - real dialogue</a:t>
            </a:r>
          </a:p>
          <a:p>
            <a:r>
              <a:t>from a TV show with background noise and a laugh track. Studio speech</a:t>
            </a:r>
          </a:p>
          <a:p>
            <a:r>
              <a:t>works. A noisy room is still hard.</a:t>
            </a:r>
          </a:p>
          <a:p/>
          <a:p>
            <a:r>
              <a:t>And the fusion is told the harder number. The per-class reliabilities</a:t>
            </a:r>
          </a:p>
          <a:p>
            <a:r>
              <a:t>we feed the pool come from the wild domain, not the acted one, so the</a:t>
            </a:r>
          </a:p>
          <a:p>
            <a:r>
              <a:t>system does not over-trust the voice in exactly the conditions a real</a:t>
            </a:r>
          </a:p>
          <a:p>
            <a:r>
              <a:t>consultation resembles.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FUSION ACTUALLY HELP? (90s)</a:t>
            </a:r>
          </a:p>
          <a:p/>
          <a:p>
            <a:r>
              <a:t>MELD test split, 2,523 clips that carry both audio and a transcript.</a:t>
            </a:r>
          </a:p>
          <a:p>
            <a:r>
              <a:t>Solid bars are accuracy, hatched are macro-F1.</a:t>
            </a:r>
          </a:p>
          <a:p/>
          <a:p>
            <a:r>
              <a:t>Yes, it helps: 55.4% fused against 52% for the best single modality -</a:t>
            </a:r>
          </a:p>
          <a:p>
            <a:r>
              <a:t>plus 3.3 points.</a:t>
            </a:r>
          </a:p>
          <a:p/>
          <a:p>
            <a:r>
              <a:t>Two honest qualifications, and I would rather state them than be asked.</a:t>
            </a:r>
          </a:p>
          <a:p/>
          <a:p>
            <a:r>
              <a:t>First, why these are real pairs. MELD ships a transcript per clip, so</a:t>
            </a:r>
          </a:p>
          <a:p>
            <a:r>
              <a:t>the audio and the text describe the same utterance from the same</a:t>
            </a:r>
          </a:p>
          <a:p>
            <a:r>
              <a:t>speaker. A lot of multimodal papers pair a face from one dataset with a</a:t>
            </a:r>
          </a:p>
          <a:p>
            <a:r>
              <a:t>voice from another at random, which manufactures independence that does</a:t>
            </a:r>
          </a:p>
          <a:p>
            <a:r>
              <a:t>not exist and inflates the fusion gain.</a:t>
            </a:r>
          </a:p>
          <a:p/>
          <a:p>
            <a:r>
              <a:t>Second - and this is why our gain is modest - on real data the</a:t>
            </a:r>
          </a:p>
          <a:p>
            <a:r>
              <a:t>modalities fail TOGETHER. A flat delivery tends to come with a flat</a:t>
            </a:r>
          </a:p>
          <a:p>
            <a:r>
              <a:t>sentence. Independently paired data cannot show you that, which is</a:t>
            </a:r>
          </a:p>
          <a:p>
            <a:r>
              <a:t>exactly why it overstates the benefit. Our +3.3 is a smaller number</a:t>
            </a:r>
          </a:p>
          <a:p>
            <a:r>
              <a:t>measured honestly.</a:t>
            </a:r>
          </a:p>
          <a:p/>
          <a:p>
            <a:r>
              <a:t>LIKELY QUESTION: "Is the face leg real in this measurement?" No, and</a:t>
            </a:r>
          </a:p>
          <a:p>
            <a:r>
              <a:t>it is flagged in multimodal.json - MELD has no usable face crops for</a:t>
            </a:r>
          </a:p>
          <a:p>
            <a:r>
              <a:t>our pipeline, so the face leg is simulated from the measured v4</a:t>
            </a:r>
          </a:p>
          <a:p>
            <a:r>
              <a:t>confusion behaviour. The audio-text gain is fully real; the trimodal</a:t>
            </a:r>
          </a:p>
          <a:p>
            <a:r>
              <a:t>figure carries that caveat and we do not hide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SCORING THE MULTIMODALITY (60s)</a:t>
            </a:r>
          </a:p>
          <a:p/>
          <a:p>
            <a:r>
              <a:t>We wanted a single number we could argue about rather than a vague</a:t>
            </a:r>
          </a:p>
          <a:p>
            <a:r>
              <a:t>claim that the system works, so this is a composite of five components</a:t>
            </a:r>
          </a:p>
          <a:p>
            <a:r>
              <a:t>with stated weights.</a:t>
            </a:r>
          </a:p>
          <a:p/>
          <a:p>
            <a:r>
              <a:t>Capability, 0.633 at weight 0.35 - trimodal macro-F1 against a 0.70</a:t>
            </a:r>
          </a:p>
          <a:p>
            <a:r>
              <a:t>ceiling. Fusion gain, 0.222 at 0.25. Calibration, 0.376 at 0.15 - and</a:t>
            </a:r>
          </a:p>
          <a:p>
            <a:r>
              <a:t>audio is the best-calibrated leg. Robustness, 0.609 at 0.15 - the</a:t>
            </a:r>
          </a:p>
          <a:p>
            <a:r>
              <a:t>worst two-modality result as a fraction of all three. Conflict</a:t>
            </a:r>
          </a:p>
          <a:p>
            <a:r>
              <a:t>discrimination, 0.721 at 0.10 - 74.1% correct when the modalities</a:t>
            </a:r>
          </a:p>
          <a:p>
            <a:r>
              <a:t>agree against 52.5% when they clash.</a:t>
            </a:r>
          </a:p>
          <a:p/>
          <a:p>
            <a:r>
              <a:t>Total: 49.7 out of 100.</a:t>
            </a:r>
          </a:p>
          <a:p/>
          <a:p>
            <a:r>
              <a:t>Be explicit about what that is: it is this project's own summary of</a:t>
            </a:r>
          </a:p>
          <a:p>
            <a:r>
              <a:t>"is the pool worth having", not a standard metric. Every component,</a:t>
            </a:r>
          </a:p>
          <a:p>
            <a:r>
              <a:t>its raw value and its weight is written to results/multimodal.json, so</a:t>
            </a:r>
          </a:p>
          <a:p>
            <a:r>
              <a:t>anyone can change a weight and recompute. We publish it precisely</a:t>
            </a:r>
          </a:p>
          <a:p>
            <a:r>
              <a:t>because it is arguable.</a:t>
            </a:r>
          </a:p>
          <a:p/>
          <a:p>
            <a:r>
              <a:t>The one component worth noticing is conflict discrimination. The gap</a:t>
            </a:r>
          </a:p>
          <a:p>
            <a:r>
              <a:t>between 74% and 52.5% means the conflict flag is predictive - when the</a:t>
            </a:r>
          </a:p>
          <a:p>
            <a:r>
              <a:t>system says the modalities disagree, it is genuinely less reliable.</a:t>
            </a:r>
          </a:p>
          <a:p>
            <a:r>
              <a:t>That is a usable warning, not decoration.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 SYSTEM (30s - set up the demo)</a:t>
            </a:r>
          </a:p>
          <a:p/>
          <a:p>
            <a:r>
              <a:t>This is running, not mocked. Face, voice and text fused in real time at</a:t>
            </a:r>
          </a:p>
          <a:p>
            <a:r>
              <a:t>32 frames a second on one laptop GPU, with the reasoning shown</a:t>
            </a:r>
          </a:p>
          <a:p>
            <a:r>
              <a:t>alongside the answer.</a:t>
            </a:r>
          </a:p>
          <a:p/>
          <a:p>
            <a:r>
              <a:t>If demoing live: smile, then type "i am furious" and let them watch the</a:t>
            </a:r>
          </a:p>
          <a:p>
            <a:r>
              <a:t>weights move. If not, the next two slides walk the interface.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SCREENSHOT (20s)</a:t>
            </a:r>
          </a:p>
          <a:p/>
          <a:p>
            <a:r>
              <a:t>Give them a moment to take in the whole interface, then say:</a:t>
            </a:r>
          </a:p>
          <a:p/>
          <a:p>
            <a:r>
              <a:t>"Everything on this screen is produced per frame - the three modality</a:t>
            </a:r>
          </a:p>
          <a:p>
            <a:r>
              <a:t>readings, the weights, the fused answer and the conflict banner. The</a:t>
            </a:r>
          </a:p>
          <a:p>
            <a:r>
              <a:t>next slide pulls out the three parts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INTERFACE (90s)</a:t>
            </a:r>
          </a:p>
          <a:p/>
          <a:p>
            <a:r>
              <a:t>Three things, and they are the design argument of the whole project.</a:t>
            </a:r>
          </a:p>
          <a:p/>
          <a:p>
            <a:r>
              <a:t>Three readings, nothing hidden. On this frame the face says happy, the</a:t>
            </a:r>
          </a:p>
          <a:p>
            <a:r>
              <a:t>voice says angry, the text says happy. A system that showed only a</a:t>
            </a:r>
          </a:p>
          <a:p>
            <a:r>
              <a:t>fused answer would have swallowed that disagreement.</a:t>
            </a:r>
          </a:p>
          <a:p/>
          <a:p>
            <a:r>
              <a:t>Weighted, not averaged. Face 10%, audio 26%, text 63% on this frame.</a:t>
            </a:r>
          </a:p>
          <a:p>
            <a:r>
              <a:t>The face crop was low quality - blurred, badly posed - so it lost</a:t>
            </a:r>
          </a:p>
          <a:p>
            <a:r>
              <a:t>influence automatically. Nobody switched it off; the quality term in</a:t>
            </a:r>
          </a:p>
          <a:p>
            <a:r>
              <a:t>the exponent did it. That is the mechanism from the methodology slide</a:t>
            </a:r>
          </a:p>
          <a:p>
            <a:r>
              <a:t>doing visible work.</a:t>
            </a:r>
          </a:p>
          <a:p/>
          <a:p>
            <a:r>
              <a:t>Disagreement surfaced. When the modalities conflict, the banner says</a:t>
            </a:r>
          </a:p>
          <a:p>
            <a:r>
              <a:t>so. And that flag is predictive, not cosmetic: accuracy drops from 74%</a:t>
            </a:r>
          </a:p>
          <a:p>
            <a:r>
              <a:t>to 53% when it fires. So the right reading of a conflict banner is "ask</a:t>
            </a:r>
          </a:p>
          <a:p>
            <a:r>
              <a:t>the patient rather than trust the label".</a:t>
            </a:r>
          </a:p>
          <a:p/>
          <a:p>
            <a:r>
              <a:t>LIKELY QUESTION: "How do you detect conflict?" Two conditions</a:t>
            </a:r>
          </a:p>
          <a:p>
            <a:r>
              <a:t>together - the modalities' top choices differ AND their Bhattacharyya</a:t>
            </a:r>
          </a:p>
          <a:p>
            <a:r>
              <a:t>overlap is below 0.8. Either alone misfires: a low overlap with the</a:t>
            </a:r>
          </a:p>
          <a:p>
            <a:r>
              <a:t>same top choice is just differing confidence about one emotion, and</a:t>
            </a:r>
          </a:p>
          <a:p>
            <a:r>
              <a:t>differing top choices with high overlap is two near-uniform shrugs.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LABEL WILL NOT SIT STILL (2 min - the most important slide; do not</a:t>
            </a:r>
          </a:p>
          <a:p>
            <a:r>
              <a:t>skip it and do not let it be found by a panel member instead)</a:t>
            </a:r>
          </a:p>
          <a:p/>
          <a:p>
            <a:r>
              <a:t>Frame it before the content: "The system works. It is also not yet</a:t>
            </a:r>
          </a:p>
          <a:p>
            <a:r>
              <a:t>trustworthy in the way a clinical tool has to be, and I want to tell</a:t>
            </a:r>
          </a:p>
          <a:p>
            <a:r>
              <a:t>you exactly why rather than have you discover it in the demo."</a:t>
            </a:r>
          </a:p>
          <a:p/>
          <a:p>
            <a:r>
              <a:t>The symptom: hold a steady expression and the displayed emotion still</a:t>
            </a:r>
          </a:p>
          <a:p>
            <a:r>
              <a:t>changes several times a second. Three measured causes.</a:t>
            </a:r>
          </a:p>
          <a:p/>
          <a:p>
            <a:r>
              <a:t>One, the top-1 is nearly a tie. 52.3% over seven classes means the</a:t>
            </a:r>
          </a:p>
          <a:p>
            <a:r>
              <a:t>leading class and the runner-up are usually within a few points. Any</a:t>
            </a:r>
          </a:p>
          <a:p>
            <a:r>
              <a:t>change in crop, lighting or head pose re-orders them, so the argmax</a:t>
            </a:r>
          </a:p>
          <a:p>
            <a:r>
              <a:t>moves while the face does not. The pairs that swap most are neutral</a:t>
            </a:r>
          </a:p>
          <a:p>
            <a:r>
              <a:t>against sad and angry against disgust - and disgust holds only 0.20 F1</a:t>
            </a:r>
          </a:p>
          <a:p>
            <a:r>
              <a:t>cross-dataset, so it is barely better than a guess.</a:t>
            </a:r>
          </a:p>
          <a:p/>
          <a:p>
            <a:r>
              <a:t>Two, the session prior is wrong. A webcam consultation is roughly 55%</a:t>
            </a:r>
          </a:p>
          <a:p>
            <a:r>
              <a:t>neutral, but the model is calibrated on a balanced set, and a model</a:t>
            </a:r>
          </a:p>
          <a:p>
            <a:r>
              <a:t>carries whatever prior it was calibrated under. Measured under a</a:t>
            </a:r>
          </a:p>
          <a:p>
            <a:r>
              <a:t>realistic prior it emits neutral on 27.5% of frames, sad at 2.2 times</a:t>
            </a:r>
          </a:p>
          <a:p>
            <a:r>
              <a:t>and surprise at 2.1 times their true rate. So nearly every spurious</a:t>
            </a:r>
          </a:p>
          <a:p>
            <a:r>
              <a:t>"surprise" flash a user sees is a neutral face leaking. Correcting the</a:t>
            </a:r>
          </a:p>
          <a:p>
            <a:r>
              <a:t>prior takes accuracy from 56.7% to 72.3% - and we ship the correction</a:t>
            </a:r>
          </a:p>
          <a:p>
            <a:r>
              <a:t>switched OFF, because turning it on would change what every number in</a:t>
            </a:r>
          </a:p>
          <a:p>
            <a:r>
              <a:t>our evaluation harness means. That is the right default for a research</a:t>
            </a:r>
          </a:p>
          <a:p>
            <a:r>
              <a:t>artefact and the wrong default for a product, and we know which one we</a:t>
            </a:r>
          </a:p>
          <a:p>
            <a:r>
              <a:t>are building next.</a:t>
            </a:r>
          </a:p>
          <a:p/>
          <a:p>
            <a:r>
              <a:t>Three, only the face leg is smoothed. There is an exponential moving</a:t>
            </a:r>
          </a:p>
          <a:p>
            <a:r>
              <a:t>average with a 0.6-second time constant and a hysteresis margin inside</a:t>
            </a:r>
          </a:p>
          <a:p>
            <a:r>
              <a:t>the face pipeline. But the fusion engine is stateless by design, so the</a:t>
            </a:r>
          </a:p>
          <a:p>
            <a:r>
              <a:t>number on screen has no temporal filter at all. Worse, its weights move</a:t>
            </a:r>
          </a:p>
          <a:p>
            <a:r>
              <a:t>every frame as audio decays with an eight-second half-life and text</a:t>
            </a:r>
          </a:p>
          <a:p>
            <a:r>
              <a:t>with a thirty-second one - which means the displayed label can change</a:t>
            </a:r>
          </a:p>
          <a:p>
            <a:r>
              <a:t>with no new evidence whatsoever.</a:t>
            </a:r>
          </a:p>
          <a:p/>
          <a:p>
            <a:r>
              <a:t>Then the bottom line, and say it plainly: nothing in this deck measures</a:t>
            </a:r>
          </a:p>
          <a:p>
            <a:r>
              <a:t>this. Every figure we have shown is per-frame accuracy on still images.</a:t>
            </a:r>
          </a:p>
          <a:p>
            <a:r>
              <a:t>Not one metric describes how often the displayed label changes, which</a:t>
            </a:r>
          </a:p>
          <a:p>
            <a:r>
              <a:t>is the first thing a clinician would notice. That is why it is item one</a:t>
            </a:r>
          </a:p>
          <a:p>
            <a:r>
              <a:t>in the future scope.</a:t>
            </a:r>
          </a:p>
          <a:p/>
          <a:p>
            <a:r>
              <a:t>LIKELY QUESTION: "So is the accuracy real?" Yes - per-frame accuracy is</a:t>
            </a:r>
          </a:p>
          <a:p>
            <a:r>
              <a:t>exactly what we measured, honestly, on held-out data. Stability is a</a:t>
            </a:r>
          </a:p>
          <a:p>
            <a:r>
              <a:t>different property that we did not measure, and the fix is a decision</a:t>
            </a:r>
          </a:p>
          <a:p>
            <a:r>
              <a:t>rule, not a better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SCOPE (2 min)</a:t>
            </a:r>
          </a:p>
          <a:p/>
          <a:p>
            <a:r>
              <a:t>Say the organising principle first: this is ordered, not listed. The</a:t>
            </a:r>
          </a:p>
          <a:p>
            <a:r>
              <a:t>instability has to be measured and closed before any clinical claim is</a:t>
            </a:r>
          </a:p>
          <a:p>
            <a:r>
              <a:t>worth making.</a:t>
            </a:r>
          </a:p>
          <a:p/>
          <a:p>
            <a:r>
              <a:t>NEXT - make the live output trustworthy.</a:t>
            </a:r>
          </a:p>
          <a:p/>
          <a:p>
            <a:r>
              <a:t>One, measure stability. Switches per minute, mean dwell time per label,</a:t>
            </a:r>
          </a:p>
          <a:p>
            <a:r>
              <a:t>and the entropy of the displayed sequence, over held-out video, beside</a:t>
            </a:r>
          </a:p>
          <a:p>
            <a:r>
              <a:t>accuracy. A model that is 52% accurate and steady is clinically usable;</a:t>
            </a:r>
          </a:p>
          <a:p>
            <a:r>
              <a:t>one that is 52% accurate and flickering is not - and today our metrics</a:t>
            </a:r>
          </a:p>
          <a:p>
            <a:r>
              <a:t>cannot tell those two apart. This is cheap and it comes first.</a:t>
            </a:r>
          </a:p>
          <a:p/>
          <a:p>
            <a:r>
              <a:t>Two, smooth the decision rather than the leg. Move the EMA and</a:t>
            </a:r>
          </a:p>
          <a:p>
            <a:r>
              <a:t>hysteresis AFTER the pool instead of inside the face pipeline, then</a:t>
            </a:r>
          </a:p>
          <a:p>
            <a:r>
              <a:t>replace both with an explicit dwell-time model - a seven-state hidden</a:t>
            </a:r>
          </a:p>
          <a:p>
            <a:r>
              <a:t>Markov model decoded with Viterbi - so changing the reported emotion</a:t>
            </a:r>
          </a:p>
          <a:p>
            <a:r>
              <a:t>has to be paid for by evidence. And enable the prior correction,</a:t>
            </a:r>
          </a:p>
          <a:p>
            <a:r>
              <a:t>reported as a serving rule so the evaluation numbers stay comparable.</a:t>
            </a:r>
          </a:p>
          <a:p/>
          <a:p>
            <a:r>
              <a:t>Three, report episodes, not frames. A clinician does not need 32 labels</a:t>
            </a:r>
          </a:p>
          <a:p>
            <a:r>
              <a:t>a second. Aggregate to intervals - "two minutes forty predominantly</a:t>
            </a:r>
          </a:p>
          <a:p>
            <a:r>
              <a:t>sad, two flagged conflicts" - with per-frame output available on</a:t>
            </a:r>
          </a:p>
          <a:p>
            <a:r>
              <a:t>request. That also gives us somewhere to put abstention: on a</a:t>
            </a:r>
          </a:p>
          <a:p>
            <a:r>
              <a:t>low-quality or conflicted stretch the honest output is "unknown", and</a:t>
            </a:r>
          </a:p>
          <a:p>
            <a:r>
              <a:t>right now we have no way to say it.</a:t>
            </a:r>
          </a:p>
          <a:p/>
          <a:p>
            <a:r>
              <a:t>THEN - what a clinical claim would require.</a:t>
            </a:r>
          </a:p>
          <a:p/>
          <a:p>
            <a:r>
              <a:t>Four, escape the data ceiling. Our three attempts to beat v4 all</a:t>
            </a:r>
          </a:p>
          <a:p>
            <a:r>
              <a:t>failed, which is evidence that the binding constraint is face</a:t>
            </a:r>
          </a:p>
          <a:p>
            <a:r>
              <a:t>diversity, not capacity. The levers left are the full AffectNet - about</a:t>
            </a:r>
          </a:p>
          <a:p>
            <a:r>
              <a:t>287,000 images against the 27,823 public subset, which needs an</a:t>
            </a:r>
          </a:p>
          <a:p>
            <a:r>
              <a:t>authenticated licence - and a genuinely trimodal corpus like IEMOCAP or</a:t>
            </a:r>
          </a:p>
          <a:p>
            <a:r>
              <a:t>CMU-MOSEI, so fusion can be fitted and tested on real pairs instead of</a:t>
            </a:r>
          </a:p>
          <a:p>
            <a:r>
              <a:t>simulated ones.</a:t>
            </a:r>
          </a:p>
          <a:p/>
          <a:p>
            <a:r>
              <a:t>Five, validate clinically. Every number in this deck comes from acted</a:t>
            </a:r>
          </a:p>
          <a:p>
            <a:r>
              <a:t>corpora or TV dialogue. The phrase "emotionally intelligent</a:t>
            </a:r>
          </a:p>
          <a:p>
            <a:r>
              <a:t>telemedicine" is not earned until we have agreement against clinician</a:t>
            </a:r>
          </a:p>
          <a:p>
            <a:r>
              <a:t>ratings on real consultations, under ethics approval - with accuracy</a:t>
            </a:r>
          </a:p>
          <a:p>
            <a:r>
              <a:t>reported per skin tone, age and gender, because a face model carries</a:t>
            </a:r>
          </a:p>
          <a:p>
            <a:r>
              <a:t>that fairness risk by default and our training data is not balanced on</a:t>
            </a:r>
          </a:p>
          <a:p>
            <a:r>
              <a:t>any of those axes.</a:t>
            </a:r>
          </a:p>
          <a:p/>
          <a:p>
            <a:r>
              <a:t>Six, privacy by construction. Right now frames cross the wire as</a:t>
            </a:r>
          </a:p>
          <a:p>
            <a:r>
              <a:t>Base64 JPEG, which for a medical consultation is the wrong default.</a:t>
            </a:r>
          </a:p>
          <a:p>
            <a:r>
              <a:t>Moving the face leg into the browser with ONNX Runtime Web keeps pixels</a:t>
            </a:r>
          </a:p>
          <a:p>
            <a:r>
              <a:t>on the device and sends only a seven-number probability vector.</a:t>
            </a:r>
          </a:p>
          <a:p>
            <a:r>
              <a:t>Federated fine-tuning is then the route to clinical data that cannot</a:t>
            </a:r>
          </a:p>
          <a:p>
            <a:r>
              <a:t>legally be centralised - which is reference nine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(15s)</a:t>
            </a:r>
          </a:p>
          <a:p/>
          <a:p>
            <a:r>
              <a:t>Do not read these. One sentence:</a:t>
            </a:r>
          </a:p>
          <a:p/>
          <a:p>
            <a:r>
              <a:t>"Ten papers; the ones that shaped the design are four and six on</a:t>
            </a:r>
          </a:p>
          <a:p>
            <a:r>
              <a:t>multimodal fusion, two on real clinical doctor-patient video, and nine</a:t>
            </a:r>
          </a:p>
          <a:p>
            <a:r>
              <a:t>on federated learning, which is where the privacy plan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(30s)</a:t>
            </a:r>
          </a:p>
          <a:p/>
          <a:p>
            <a:r>
              <a:t>Close on the honest version, not a boast:</a:t>
            </a:r>
          </a:p>
          <a:p/>
          <a:p>
            <a:r>
              <a:t>"Three transformers, one shared label space, one interpretable pool.</a:t>
            </a:r>
          </a:p>
          <a:p>
            <a:r>
              <a:t>The fused system beats every single modality by 3.3 points measured on</a:t>
            </a:r>
          </a:p>
          <a:p>
            <a:r>
              <a:t>real pairs with speaker-disjoint splits, and it tells you which signal</a:t>
            </a:r>
          </a:p>
          <a:p>
            <a:r>
              <a:t>drove each decision. It is also not yet stable enough for a clinician,</a:t>
            </a:r>
          </a:p>
          <a:p>
            <a:r>
              <a:t>we know precisely why, and fixing that is a decision rule rather than a</a:t>
            </a:r>
          </a:p>
          <a:p>
            <a:r>
              <a:t>new model.</a:t>
            </a:r>
          </a:p>
          <a:p/>
          <a:p>
            <a:r>
              <a:t>Thank you - happy to take questions."</a:t>
            </a:r>
          </a:p>
          <a:p/>
          <a:p>
            <a:r>
              <a:t>PREPARED ANSWERS:</a:t>
            </a:r>
          </a:p>
          <a:p>
            <a:r>
              <a:t>- "Why is accuracy so low?" Seven-class, cross-dataset, chance 14.3%,</a:t>
            </a:r>
          </a:p>
          <a:p>
            <a:r>
              <a:t>  published range 40-55%. Same-dataset numbers are not comparable, and</a:t>
            </a:r>
          </a:p>
          <a:p>
            <a:r>
              <a:t>  our own FER2013 split had 7.9% train-test image overlap which we</a:t>
            </a:r>
          </a:p>
          <a:p>
            <a:r>
              <a:t>  found and removed.</a:t>
            </a:r>
          </a:p>
          <a:p>
            <a:r>
              <a:t>- "Why not a single end-to-end multimodal model?" No trimodal corpus in</a:t>
            </a:r>
          </a:p>
          <a:p>
            <a:r>
              <a:t>  this label space, and we would lose the per-modality audit trail.</a:t>
            </a:r>
          </a:p>
          <a:p>
            <a:r>
              <a:t>- "What is the single biggest weakness?" Temporal stability, measured</a:t>
            </a:r>
          </a:p>
          <a:p>
            <a:r>
              <a:t>  by nothing today. Slide 21.</a:t>
            </a:r>
          </a:p>
          <a:p>
            <a:r>
              <a:t>- "What would you do with another month?" Items one to three of the</a:t>
            </a:r>
          </a:p>
          <a:p>
            <a:r>
              <a:t>  future scope, in that order.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eg"/><Relationship Id="rId5" Type="http://schemas.openxmlformats.org/officeDocument/2006/relationships/image" Target="../media/image4.png"/><Relationship Id="rId6" Type="http://schemas.openxmlformats.org/officeDocument/2006/relationships/image" Target="../media/image5.sv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eg"/><Relationship Id="rId5" Type="http://schemas.openxmlformats.org/officeDocument/2006/relationships/image" Target="../media/image4.png"/><Relationship Id="rId6" Type="http://schemas.openxmlformats.org/officeDocument/2006/relationships/image" Target="../media/image6.sv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eg"/><Relationship Id="rId5" Type="http://schemas.openxmlformats.org/officeDocument/2006/relationships/image" Target="../media/image4.png"/><Relationship Id="rId6" Type="http://schemas.openxmlformats.org/officeDocument/2006/relationships/image" Target="../media/image7.svg"/><Relationship Id="rId7" Type="http://schemas.openxmlformats.org/officeDocument/2006/relationships/image" Target="../media/image8.sv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3.jpe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19.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3.jpeg"/><Relationship Id="rId4" Type="http://schemas.openxmlformats.org/officeDocument/2006/relationships/image" Target="../media/image4.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21.jpe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22.jpe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eg"/><Relationship Id="rId5" Type="http://schemas.openxmlformats.org/officeDocument/2006/relationships/image" Target="../media/image4.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eg"/><Relationship Id="rId5" Type="http://schemas.openxmlformats.org/officeDocument/2006/relationships/image" Target="../media/image4.png"/><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5400000">
            <a:off x="8888013" y="859470"/>
            <a:ext cx="578976" cy="18354998"/>
            <a:chOff x="0" y="0"/>
            <a:chExt cx="771968" cy="24473330"/>
          </a:xfrm>
        </p:grpSpPr>
        <p:sp>
          <p:nvSpPr>
            <p:cNvPr id="3" name="Freeform 3"/>
            <p:cNvSpPr/>
            <p:nvPr/>
          </p:nvSpPr>
          <p:spPr>
            <a:xfrm>
              <a:off x="0" y="0"/>
              <a:ext cx="771906" cy="24473281"/>
            </a:xfrm>
            <a:custGeom>
              <a:avLst/>
              <a:gdLst/>
              <a:ahLst/>
              <a:cxnLst/>
              <a:rect l="l" t="t" r="r" b="b"/>
              <a:pathLst>
                <a:path w="771906" h="24473281">
                  <a:moveTo>
                    <a:pt x="0" y="0"/>
                  </a:moveTo>
                  <a:lnTo>
                    <a:pt x="771906" y="0"/>
                  </a:lnTo>
                  <a:lnTo>
                    <a:pt x="771906" y="24473281"/>
                  </a:lnTo>
                  <a:lnTo>
                    <a:pt x="0" y="24473281"/>
                  </a:lnTo>
                  <a:lnTo>
                    <a:pt x="0" y="0"/>
                  </a:lnTo>
                  <a:close/>
                </a:path>
              </a:pathLst>
            </a:custGeom>
            <a:blipFill>
              <a:blip r:embed="rId2"/>
              <a:stretch>
                <a:fillRect r="-494469"/>
              </a:stretch>
            </a:blipFill>
          </p:spPr>
        </p:sp>
      </p:grpSp>
      <p:grpSp>
        <p:nvGrpSpPr>
          <p:cNvPr id="4" name="Group 4"/>
          <p:cNvGrpSpPr/>
          <p:nvPr/>
        </p:nvGrpSpPr>
        <p:grpSpPr>
          <a:xfrm rot="5400000">
            <a:off x="6867480" y="2631033"/>
            <a:ext cx="264614" cy="13999572"/>
            <a:chOff x="0" y="0"/>
            <a:chExt cx="352818" cy="18666096"/>
          </a:xfrm>
        </p:grpSpPr>
        <p:sp>
          <p:nvSpPr>
            <p:cNvPr id="5" name="Freeform 5"/>
            <p:cNvSpPr/>
            <p:nvPr/>
          </p:nvSpPr>
          <p:spPr>
            <a:xfrm>
              <a:off x="0" y="0"/>
              <a:ext cx="352806" cy="18666079"/>
            </a:xfrm>
            <a:custGeom>
              <a:avLst/>
              <a:gdLst/>
              <a:ahLst/>
              <a:cxnLst/>
              <a:rect l="l" t="t" r="r" b="b"/>
              <a:pathLst>
                <a:path w="352806" h="18666079">
                  <a:moveTo>
                    <a:pt x="0" y="0"/>
                  </a:moveTo>
                  <a:lnTo>
                    <a:pt x="352806" y="0"/>
                  </a:lnTo>
                  <a:lnTo>
                    <a:pt x="352806" y="18666079"/>
                  </a:lnTo>
                  <a:lnTo>
                    <a:pt x="0" y="18666079"/>
                  </a:lnTo>
                  <a:lnTo>
                    <a:pt x="0" y="0"/>
                  </a:lnTo>
                  <a:close/>
                </a:path>
              </a:pathLst>
            </a:custGeom>
            <a:blipFill>
              <a:blip r:embed="rId3"/>
              <a:stretch>
                <a:fillRect r="-340183"/>
              </a:stretch>
            </a:blipFill>
          </p:spPr>
        </p:sp>
      </p:grpSp>
      <p:grpSp>
        <p:nvGrpSpPr>
          <p:cNvPr id="6" name="Group 6"/>
          <p:cNvGrpSpPr/>
          <p:nvPr/>
        </p:nvGrpSpPr>
        <p:grpSpPr>
          <a:xfrm>
            <a:off x="13798189" y="8819818"/>
            <a:ext cx="4868602" cy="1217151"/>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4"/>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5"/>
              <a:stretch>
                <a:fillRect l="-2" t="-5884" b="-6094"/>
              </a:stretch>
            </a:blipFill>
          </p:spPr>
        </p:sp>
      </p:grpSp>
      <p:sp>
        <p:nvSpPr>
          <p:cNvPr id="10" name="TextBox 10"/>
          <p:cNvSpPr txBox="1"/>
          <p:nvPr/>
        </p:nvSpPr>
        <p:spPr>
          <a:xfrm>
            <a:off x="13230608" y="9707593"/>
            <a:ext cx="3931950" cy="465812"/>
          </a:xfrm>
          <a:prstGeom prst="rect">
            <a:avLst/>
          </a:prstGeom>
        </p:spPr>
        <p:txBody>
          <a:bodyPr lIns="0" tIns="0" rIns="0" bIns="0" rtlCol="0" anchor="t">
            <a:spAutoFit/>
          </a:bodyPr>
          <a:lstStyle/>
          <a:p>
            <a:pPr algn="r">
              <a:lnSpc>
                <a:spcPts val="2160"/>
              </a:lnSpc>
            </a:pPr>
            <a:r>
              <a:rPr lang="en-US" sz="1800">
                <a:solidFill>
                  <a:srgbClr val="FFFFFF"/>
                </a:solidFill>
                <a:latin typeface="Fira Sans"/>
                <a:ea typeface="Fira Sans"/>
                <a:cs typeface="Fira Sans"/>
                <a:sym typeface="Fira Sans"/>
              </a:rPr>
              <a:t>1</a:t>
            </a:r>
          </a:p>
        </p:txBody>
      </p:sp>
      <p:sp>
        <p:nvSpPr>
          <p:cNvPr id="11" name="TextBox 11"/>
          <p:cNvSpPr txBox="1"/>
          <p:nvPr/>
        </p:nvSpPr>
        <p:spPr>
          <a:xfrm>
            <a:off x="2469680" y="1603141"/>
            <a:ext cx="13415641" cy="1420798"/>
          </a:xfrm>
          <a:prstGeom prst="rect">
            <a:avLst/>
          </a:prstGeom>
        </p:spPr>
        <p:txBody>
          <a:bodyPr lIns="0" tIns="0" rIns="0" bIns="0" rtlCol="0" anchor="t">
            <a:spAutoFit/>
          </a:bodyPr>
          <a:lstStyle/>
          <a:p>
            <a:pPr algn="ctr">
              <a:lnSpc>
                <a:spcPts val="5581"/>
              </a:lnSpc>
            </a:pPr>
            <a:r>
              <a:rPr lang="en-US" sz="4651" b="1">
                <a:solidFill>
                  <a:srgbClr val="000000"/>
                </a:solidFill>
                <a:latin typeface="Times New Roman Bold"/>
                <a:ea typeface="Times New Roman Bold"/>
                <a:cs typeface="Times New Roman Bold"/>
                <a:sym typeface="Times New Roman Bold"/>
              </a:rPr>
              <a:t>Telemedicine: An Emotion Recognition App for Remote Patient Assessment</a:t>
            </a:r>
          </a:p>
        </p:txBody>
      </p:sp>
      <p:sp>
        <p:nvSpPr>
          <p:cNvPr id="12" name="TextBox 12"/>
          <p:cNvSpPr txBox="1"/>
          <p:nvPr/>
        </p:nvSpPr>
        <p:spPr>
          <a:xfrm>
            <a:off x="7434465" y="4503482"/>
            <a:ext cx="3419069" cy="431882"/>
          </a:xfrm>
          <a:prstGeom prst="rect">
            <a:avLst/>
          </a:prstGeom>
        </p:spPr>
        <p:txBody>
          <a:bodyPr lIns="0" tIns="0" rIns="0" bIns="0" rtlCol="0" anchor="t">
            <a:spAutoFit/>
          </a:bodyPr>
          <a:lstStyle/>
          <a:p>
            <a:pPr algn="ctr">
              <a:lnSpc>
                <a:spcPts val="3144"/>
              </a:lnSpc>
            </a:pPr>
            <a:r>
              <a:rPr lang="en-US" sz="2620" b="1">
                <a:solidFill>
                  <a:srgbClr val="000000"/>
                </a:solidFill>
                <a:latin typeface="Times New Roman Bold"/>
                <a:ea typeface="Times New Roman Bold"/>
                <a:cs typeface="Times New Roman Bold"/>
                <a:sym typeface="Times New Roman Bold"/>
              </a:rPr>
              <a:t>Presented By</a:t>
            </a:r>
          </a:p>
        </p:txBody>
      </p:sp>
      <p:sp>
        <p:nvSpPr>
          <p:cNvPr id="13" name="TextBox 13"/>
          <p:cNvSpPr txBox="1"/>
          <p:nvPr/>
        </p:nvSpPr>
        <p:spPr>
          <a:xfrm>
            <a:off x="6690085" y="5174066"/>
            <a:ext cx="4907831" cy="1581150"/>
          </a:xfrm>
          <a:prstGeom prst="rect">
            <a:avLst/>
          </a:prstGeom>
        </p:spPr>
        <p:txBody>
          <a:bodyPr lIns="0" tIns="0" rIns="0" bIns="0" rtlCol="0" anchor="t">
            <a:spAutoFit/>
          </a:bodyPr>
          <a:lstStyle/>
          <a:p>
            <a:pPr algn="ctr">
              <a:lnSpc>
                <a:spcPts val="3119"/>
              </a:lnSpc>
              <a:spcBef>
                <a:spcPct val="0"/>
              </a:spcBef>
            </a:pPr>
            <a:r>
              <a:rPr lang="en-US" sz="2599" b="1">
                <a:solidFill>
                  <a:srgbClr val="000000"/>
                </a:solidFill>
                <a:latin typeface="Times New Roman Bold"/>
                <a:ea typeface="Times New Roman Bold"/>
                <a:cs typeface="Times New Roman Bold"/>
                <a:sym typeface="Times New Roman Bold"/>
              </a:rPr>
              <a:t>Muskan Shaikh - 16010123208</a:t>
            </a:r>
          </a:p>
          <a:p>
            <a:pPr algn="ctr">
              <a:lnSpc>
                <a:spcPts val="3119"/>
              </a:lnSpc>
              <a:spcBef>
                <a:spcPct val="0"/>
              </a:spcBef>
            </a:pPr>
            <a:r>
              <a:rPr lang="en-US" sz="2599" b="1">
                <a:solidFill>
                  <a:srgbClr val="000000"/>
                </a:solidFill>
                <a:latin typeface="Times New Roman Bold"/>
                <a:ea typeface="Times New Roman Bold"/>
                <a:cs typeface="Times New Roman Bold"/>
                <a:sym typeface="Times New Roman Bold"/>
              </a:rPr>
              <a:t>Piyush Chaudhary - 16010123234  </a:t>
            </a:r>
          </a:p>
          <a:p>
            <a:pPr algn="ctr">
              <a:lnSpc>
                <a:spcPts val="3119"/>
              </a:lnSpc>
              <a:spcBef>
                <a:spcPct val="0"/>
              </a:spcBef>
            </a:pPr>
            <a:r>
              <a:rPr lang="en-US" sz="2599" b="1">
                <a:solidFill>
                  <a:srgbClr val="000000"/>
                </a:solidFill>
                <a:latin typeface="Times New Roman Bold"/>
                <a:ea typeface="Times New Roman Bold"/>
                <a:cs typeface="Times New Roman Bold"/>
                <a:sym typeface="Times New Roman Bold"/>
              </a:rPr>
              <a:t>Yashraj Ola - 16010123337 </a:t>
            </a:r>
          </a:p>
          <a:p>
            <a:pPr algn="ctr">
              <a:lnSpc>
                <a:spcPts val="3119"/>
              </a:lnSpc>
              <a:spcBef>
                <a:spcPct val="0"/>
              </a:spcBef>
            </a:pPr>
            <a:r>
              <a:rPr lang="en-US" sz="2599" b="1">
                <a:solidFill>
                  <a:srgbClr val="000000"/>
                </a:solidFill>
                <a:latin typeface="Times New Roman Bold"/>
                <a:ea typeface="Times New Roman Bold"/>
                <a:cs typeface="Times New Roman Bold"/>
                <a:sym typeface="Times New Roman Bold"/>
              </a:rPr>
              <a:t>Ankita Kundu - 16010123046</a:t>
            </a:r>
          </a:p>
        </p:txBody>
      </p:sp>
      <p:sp>
        <p:nvSpPr>
          <p:cNvPr id="14" name="TextBox 14"/>
          <p:cNvSpPr txBox="1"/>
          <p:nvPr/>
        </p:nvSpPr>
        <p:spPr>
          <a:xfrm>
            <a:off x="8257858" y="6993341"/>
            <a:ext cx="1839285" cy="409005"/>
          </a:xfrm>
          <a:prstGeom prst="rect">
            <a:avLst/>
          </a:prstGeom>
        </p:spPr>
        <p:txBody>
          <a:bodyPr lIns="0" tIns="0" rIns="0" bIns="0" rtlCol="0" anchor="t">
            <a:spAutoFit/>
          </a:bodyPr>
          <a:lstStyle/>
          <a:p>
            <a:pPr algn="ctr">
              <a:lnSpc>
                <a:spcPts val="3144"/>
              </a:lnSpc>
            </a:pPr>
            <a:r>
              <a:rPr lang="en-US" sz="2620" b="1">
                <a:solidFill>
                  <a:srgbClr val="000000"/>
                </a:solidFill>
                <a:latin typeface="Times New Roman Bold"/>
                <a:ea typeface="Times New Roman Bold"/>
                <a:cs typeface="Times New Roman Bold"/>
                <a:sym typeface="Times New Roman Bold"/>
              </a:rPr>
              <a:t>Mentored by</a:t>
            </a:r>
          </a:p>
        </p:txBody>
      </p:sp>
      <p:sp>
        <p:nvSpPr>
          <p:cNvPr id="15" name="TextBox 15"/>
          <p:cNvSpPr txBox="1"/>
          <p:nvPr/>
        </p:nvSpPr>
        <p:spPr>
          <a:xfrm>
            <a:off x="7578383" y="7590914"/>
            <a:ext cx="3198236" cy="409005"/>
          </a:xfrm>
          <a:prstGeom prst="rect">
            <a:avLst/>
          </a:prstGeom>
        </p:spPr>
        <p:txBody>
          <a:bodyPr lIns="0" tIns="0" rIns="0" bIns="0" rtlCol="0" anchor="t">
            <a:spAutoFit/>
          </a:bodyPr>
          <a:lstStyle/>
          <a:p>
            <a:pPr algn="ctr">
              <a:lnSpc>
                <a:spcPts val="3144"/>
              </a:lnSpc>
            </a:pPr>
            <a:r>
              <a:rPr lang="en-US" sz="2620" b="1">
                <a:solidFill>
                  <a:srgbClr val="000000"/>
                </a:solidFill>
                <a:latin typeface="Times New Roman Bold"/>
                <a:ea typeface="Times New Roman Bold"/>
                <a:cs typeface="Times New Roman Bold"/>
                <a:sym typeface="Times New Roman Bold"/>
              </a:rPr>
              <a:t>Dr. Girishma Sharma </a:t>
            </a:r>
          </a:p>
        </p:txBody>
      </p:sp>
      <p:sp>
        <p:nvSpPr>
          <p:cNvPr id="16" name="Freeform 16"/>
          <p:cNvSpPr/>
          <p:nvPr/>
        </p:nvSpPr>
        <p:spPr>
          <a:xfrm>
            <a:off x="2" y="812538"/>
            <a:ext cx="8760479" cy="8661923"/>
          </a:xfrm>
          <a:custGeom>
            <a:avLst/>
            <a:gdLst/>
            <a:ahLst/>
            <a:cxnLst/>
            <a:rect l="l" t="t" r="r" b="b"/>
            <a:pathLst>
              <a:path w="8760479" h="8661923">
                <a:moveTo>
                  <a:pt x="0" y="0"/>
                </a:moveTo>
                <a:lnTo>
                  <a:pt x="8760479" y="0"/>
                </a:lnTo>
                <a:lnTo>
                  <a:pt x="8760479" y="8661924"/>
                </a:lnTo>
                <a:lnTo>
                  <a:pt x="0" y="8661924"/>
                </a:lnTo>
                <a:lnTo>
                  <a:pt x="0" y="0"/>
                </a:lnTo>
                <a:close/>
              </a:path>
            </a:pathLst>
          </a:custGeom>
          <a:blipFill>
            <a:blip>
              <a:alphaModFix amt="9999"/>
              <a:extLst>
                <a:ext uri="{96DAC541-7B7A-43D3-8B79-37D633B846F1}">
                  <asvg:svgBlip xmlns:asvg="http://schemas.microsoft.com/office/drawing/2016/SVG/main" r:embed="rId6"/>
                </a:ext>
              </a:extLst>
            </a:blip>
            <a:stretch>
              <a:fillRect/>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5400000">
            <a:off x="8888013" y="859470"/>
            <a:ext cx="578976" cy="18354998"/>
            <a:chOff x="0" y="0"/>
            <a:chExt cx="771968" cy="24473330"/>
          </a:xfrm>
        </p:grpSpPr>
        <p:sp>
          <p:nvSpPr>
            <p:cNvPr id="3" name="Freeform 3"/>
            <p:cNvSpPr/>
            <p:nvPr/>
          </p:nvSpPr>
          <p:spPr>
            <a:xfrm>
              <a:off x="0" y="0"/>
              <a:ext cx="771906" cy="24473281"/>
            </a:xfrm>
            <a:custGeom>
              <a:avLst/>
              <a:gdLst/>
              <a:ahLst/>
              <a:cxnLst/>
              <a:rect l="l" t="t" r="r" b="b"/>
              <a:pathLst>
                <a:path w="771906" h="24473281">
                  <a:moveTo>
                    <a:pt x="0" y="0"/>
                  </a:moveTo>
                  <a:lnTo>
                    <a:pt x="771906" y="0"/>
                  </a:lnTo>
                  <a:lnTo>
                    <a:pt x="771906" y="24473281"/>
                  </a:lnTo>
                  <a:lnTo>
                    <a:pt x="0" y="24473281"/>
                  </a:lnTo>
                  <a:lnTo>
                    <a:pt x="0" y="0"/>
                  </a:lnTo>
                  <a:close/>
                </a:path>
              </a:pathLst>
            </a:custGeom>
            <a:blipFill>
              <a:blip r:embed="rId2"/>
              <a:stretch>
                <a:fillRect r="-494469"/>
              </a:stretch>
            </a:blipFill>
          </p:spPr>
        </p:sp>
      </p:grpSp>
      <p:grpSp>
        <p:nvGrpSpPr>
          <p:cNvPr id="4" name="Group 4"/>
          <p:cNvGrpSpPr/>
          <p:nvPr/>
        </p:nvGrpSpPr>
        <p:grpSpPr>
          <a:xfrm rot="5400000">
            <a:off x="6867480" y="2631033"/>
            <a:ext cx="264614" cy="13999572"/>
            <a:chOff x="0" y="0"/>
            <a:chExt cx="352818" cy="18666096"/>
          </a:xfrm>
        </p:grpSpPr>
        <p:sp>
          <p:nvSpPr>
            <p:cNvPr id="5" name="Freeform 5"/>
            <p:cNvSpPr/>
            <p:nvPr/>
          </p:nvSpPr>
          <p:spPr>
            <a:xfrm>
              <a:off x="0" y="0"/>
              <a:ext cx="352806" cy="18666079"/>
            </a:xfrm>
            <a:custGeom>
              <a:avLst/>
              <a:gdLst/>
              <a:ahLst/>
              <a:cxnLst/>
              <a:rect l="l" t="t" r="r" b="b"/>
              <a:pathLst>
                <a:path w="352806" h="18666079">
                  <a:moveTo>
                    <a:pt x="0" y="0"/>
                  </a:moveTo>
                  <a:lnTo>
                    <a:pt x="352806" y="0"/>
                  </a:lnTo>
                  <a:lnTo>
                    <a:pt x="352806" y="18666079"/>
                  </a:lnTo>
                  <a:lnTo>
                    <a:pt x="0" y="18666079"/>
                  </a:lnTo>
                  <a:lnTo>
                    <a:pt x="0" y="0"/>
                  </a:lnTo>
                  <a:close/>
                </a:path>
              </a:pathLst>
            </a:custGeom>
            <a:blipFill>
              <a:blip r:embed="rId3"/>
              <a:stretch>
                <a:fillRect r="-340183"/>
              </a:stretch>
            </a:blipFill>
          </p:spPr>
        </p:sp>
      </p:grpSp>
      <p:grpSp>
        <p:nvGrpSpPr>
          <p:cNvPr id="6" name="Group 6"/>
          <p:cNvGrpSpPr/>
          <p:nvPr/>
        </p:nvGrpSpPr>
        <p:grpSpPr>
          <a:xfrm>
            <a:off x="13798189" y="8819818"/>
            <a:ext cx="4868602" cy="1217151"/>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4"/>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5"/>
              <a:stretch>
                <a:fillRect l="-2" t="-5884" b="-6094"/>
              </a:stretch>
            </a:blipFill>
          </p:spPr>
        </p:sp>
      </p:grpSp>
      <p:sp>
        <p:nvSpPr>
          <p:cNvPr id="10" name="TextBox 10"/>
          <p:cNvSpPr txBox="1"/>
          <p:nvPr/>
        </p:nvSpPr>
        <p:spPr>
          <a:xfrm>
            <a:off x="849964" y="2685794"/>
            <a:ext cx="14901314" cy="2343333"/>
          </a:xfrm>
          <a:prstGeom prst="rect">
            <a:avLst/>
          </a:prstGeom>
        </p:spPr>
        <p:txBody>
          <a:bodyPr lIns="0" tIns="0" rIns="0" bIns="0" rtlCol="0" anchor="t">
            <a:spAutoFit/>
          </a:bodyPr>
          <a:lstStyle/>
          <a:p>
            <a:pPr algn="l">
              <a:lnSpc>
                <a:spcPts val="3719"/>
              </a:lnSpc>
              <a:spcBef>
                <a:spcPct val="0"/>
              </a:spcBef>
            </a:pPr>
            <a:r>
              <a:rPr lang="en-US" sz="3099" b="1">
                <a:solidFill>
                  <a:srgbClr val="000000"/>
                </a:solidFill>
                <a:latin typeface="Fira Sans Bold"/>
                <a:ea typeface="Fira Sans Bold"/>
                <a:cs typeface="Fira Sans Bold"/>
                <a:sym typeface="Fira Sans Bold"/>
              </a:rPr>
              <a:t>What is Emotion Recognition?</a:t>
            </a:r>
          </a:p>
          <a:p>
            <a:pPr marL="669283" lvl="1" indent="-334641" algn="l">
              <a:lnSpc>
                <a:spcPts val="3719"/>
              </a:lnSpc>
              <a:spcBef>
                <a:spcPct val="0"/>
              </a:spcBef>
              <a:buFont typeface="Arial"/>
              <a:buChar char="•"/>
            </a:pPr>
            <a:r>
              <a:rPr lang="en-US" sz="3099">
                <a:solidFill>
                  <a:srgbClr val="000000"/>
                </a:solidFill>
                <a:latin typeface="Fira Sans"/>
                <a:ea typeface="Fira Sans"/>
                <a:cs typeface="Fira Sans"/>
                <a:sym typeface="Fira Sans"/>
              </a:rPr>
              <a:t>Computational identification of human emotional states using AI</a:t>
            </a:r>
          </a:p>
          <a:p>
            <a:pPr marL="669283" lvl="1" indent="-334641" algn="l">
              <a:lnSpc>
                <a:spcPts val="3719"/>
              </a:lnSpc>
              <a:spcBef>
                <a:spcPct val="0"/>
              </a:spcBef>
              <a:buFont typeface="Arial"/>
              <a:buChar char="•"/>
            </a:pPr>
            <a:r>
              <a:rPr lang="en-US" sz="3099">
                <a:solidFill>
                  <a:srgbClr val="000000"/>
                </a:solidFill>
                <a:latin typeface="Fira Sans"/>
                <a:ea typeface="Fira Sans"/>
                <a:cs typeface="Fira Sans"/>
                <a:sym typeface="Fira Sans"/>
              </a:rPr>
              <a:t>Analyzes facial expressions, speech, text &amp; physiological signals</a:t>
            </a:r>
          </a:p>
          <a:p>
            <a:pPr marL="669283" lvl="1" indent="-334641" algn="l">
              <a:lnSpc>
                <a:spcPts val="3719"/>
              </a:lnSpc>
              <a:spcBef>
                <a:spcPct val="0"/>
              </a:spcBef>
              <a:buFont typeface="Arial"/>
              <a:buChar char="•"/>
            </a:pPr>
            <a:r>
              <a:rPr lang="en-US" sz="3099">
                <a:solidFill>
                  <a:srgbClr val="000000"/>
                </a:solidFill>
                <a:latin typeface="Fira Sans"/>
                <a:ea typeface="Fira Sans"/>
                <a:cs typeface="Fira Sans"/>
                <a:sym typeface="Fira Sans"/>
              </a:rPr>
              <a:t>Evolved from simple rule-based systems → advanced deep learning frameworks</a:t>
            </a:r>
          </a:p>
          <a:p>
            <a:pPr algn="l">
              <a:lnSpc>
                <a:spcPts val="3719"/>
              </a:lnSpc>
              <a:spcBef>
                <a:spcPct val="0"/>
              </a:spcBef>
            </a:pPr>
            <a:endParaRPr lang="en-US" sz="3099">
              <a:solidFill>
                <a:srgbClr val="000000"/>
              </a:solidFill>
              <a:latin typeface="Fira Sans"/>
              <a:ea typeface="Fira Sans"/>
              <a:cs typeface="Fira Sans"/>
              <a:sym typeface="Fira Sans"/>
            </a:endParaRPr>
          </a:p>
        </p:txBody>
      </p:sp>
      <p:sp>
        <p:nvSpPr>
          <p:cNvPr id="11" name="Freeform 11"/>
          <p:cNvSpPr/>
          <p:nvPr/>
        </p:nvSpPr>
        <p:spPr>
          <a:xfrm>
            <a:off x="13999573" y="5923026"/>
            <a:ext cx="4002476" cy="2896792"/>
          </a:xfrm>
          <a:custGeom>
            <a:avLst/>
            <a:gdLst/>
            <a:ahLst/>
            <a:cxnLst/>
            <a:rect l="l" t="t" r="r" b="b"/>
            <a:pathLst>
              <a:path w="4002476" h="2896792">
                <a:moveTo>
                  <a:pt x="0" y="0"/>
                </a:moveTo>
                <a:lnTo>
                  <a:pt x="4002476" y="0"/>
                </a:lnTo>
                <a:lnTo>
                  <a:pt x="4002476" y="2896792"/>
                </a:lnTo>
                <a:lnTo>
                  <a:pt x="0" y="2896792"/>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12" name="TextBox 12"/>
          <p:cNvSpPr txBox="1"/>
          <p:nvPr/>
        </p:nvSpPr>
        <p:spPr>
          <a:xfrm>
            <a:off x="13230608" y="9707593"/>
            <a:ext cx="3931950" cy="465812"/>
          </a:xfrm>
          <a:prstGeom prst="rect">
            <a:avLst/>
          </a:prstGeom>
        </p:spPr>
        <p:txBody>
          <a:bodyPr lIns="0" tIns="0" rIns="0" bIns="0" rtlCol="0" anchor="t">
            <a:spAutoFit/>
          </a:bodyPr>
          <a:lstStyle/>
          <a:p>
            <a:pPr algn="r">
              <a:lnSpc>
                <a:spcPts val="2160"/>
              </a:lnSpc>
            </a:pPr>
            <a:r>
              <a:rPr lang="en-US" sz="1800">
                <a:solidFill>
                  <a:srgbClr val="FFFFFF"/>
                </a:solidFill>
                <a:latin typeface="Fira Sans"/>
                <a:ea typeface="Fira Sans"/>
                <a:cs typeface="Fira Sans"/>
                <a:sym typeface="Fira Sans"/>
              </a:rPr>
              <a:t>1</a:t>
            </a:r>
          </a:p>
        </p:txBody>
      </p:sp>
      <p:sp>
        <p:nvSpPr>
          <p:cNvPr id="13" name="TextBox 13"/>
          <p:cNvSpPr txBox="1"/>
          <p:nvPr/>
        </p:nvSpPr>
        <p:spPr>
          <a:xfrm>
            <a:off x="6400800" y="873646"/>
            <a:ext cx="5334000" cy="902170"/>
          </a:xfrm>
          <a:prstGeom prst="rect">
            <a:avLst/>
          </a:prstGeom>
        </p:spPr>
        <p:txBody>
          <a:bodyPr wrap="square" lIns="0" tIns="0" rIns="0" bIns="0" rtlCol="0" anchor="t">
            <a:spAutoFit/>
          </a:bodyPr>
          <a:lstStyle/>
          <a:p>
            <a:pPr algn="ctr">
              <a:lnSpc>
                <a:spcPts val="7279"/>
              </a:lnSpc>
            </a:pPr>
            <a:r>
              <a:rPr lang="en-US" sz="5199" dirty="0">
                <a:solidFill>
                  <a:srgbClr val="009320"/>
                </a:solidFill>
                <a:latin typeface="League Spartan"/>
                <a:ea typeface="League Spartan"/>
                <a:cs typeface="League Spartan"/>
                <a:sym typeface="League Spartan"/>
              </a:rPr>
              <a:t>Introduction</a:t>
            </a:r>
          </a:p>
        </p:txBody>
      </p:sp>
      <p:sp>
        <p:nvSpPr>
          <p:cNvPr id="14" name="TextBox 14"/>
          <p:cNvSpPr txBox="1"/>
          <p:nvPr/>
        </p:nvSpPr>
        <p:spPr>
          <a:xfrm>
            <a:off x="1028700" y="5514902"/>
            <a:ext cx="12201908" cy="2810095"/>
          </a:xfrm>
          <a:prstGeom prst="rect">
            <a:avLst/>
          </a:prstGeom>
        </p:spPr>
        <p:txBody>
          <a:bodyPr lIns="0" tIns="0" rIns="0" bIns="0" rtlCol="0" anchor="t">
            <a:spAutoFit/>
          </a:bodyPr>
          <a:lstStyle/>
          <a:p>
            <a:pPr algn="l">
              <a:lnSpc>
                <a:spcPts val="3719"/>
              </a:lnSpc>
              <a:spcBef>
                <a:spcPct val="0"/>
              </a:spcBef>
            </a:pPr>
            <a:r>
              <a:rPr lang="en-US" sz="3099" b="1" u="none" strike="noStrike">
                <a:solidFill>
                  <a:srgbClr val="000000"/>
                </a:solidFill>
                <a:latin typeface="Fira Sans Bold"/>
                <a:ea typeface="Fira Sans Bold"/>
                <a:cs typeface="Fira Sans Bold"/>
                <a:sym typeface="Fira Sans Bold"/>
              </a:rPr>
              <a:t>Our Application</a:t>
            </a:r>
          </a:p>
          <a:p>
            <a:pPr marL="669283" lvl="1" indent="-334641" algn="l">
              <a:lnSpc>
                <a:spcPts val="3719"/>
              </a:lnSpc>
              <a:spcBef>
                <a:spcPct val="0"/>
              </a:spcBef>
              <a:buFont typeface="Arial"/>
              <a:buChar char="•"/>
            </a:pPr>
            <a:r>
              <a:rPr lang="en-US" sz="3099" u="none" strike="noStrike">
                <a:solidFill>
                  <a:srgbClr val="000000"/>
                </a:solidFill>
                <a:latin typeface="Fira Sans"/>
                <a:ea typeface="Fira Sans"/>
                <a:cs typeface="Fira Sans"/>
                <a:sym typeface="Fira Sans"/>
              </a:rPr>
              <a:t>Building an Emotion Recognition System for Healthcare</a:t>
            </a:r>
          </a:p>
          <a:p>
            <a:pPr marL="669283" lvl="1" indent="-334641" algn="l">
              <a:lnSpc>
                <a:spcPts val="3719"/>
              </a:lnSpc>
              <a:spcBef>
                <a:spcPct val="0"/>
              </a:spcBef>
              <a:buFont typeface="Arial"/>
              <a:buChar char="•"/>
            </a:pPr>
            <a:r>
              <a:rPr lang="en-US" sz="3099" u="none" strike="noStrike">
                <a:solidFill>
                  <a:srgbClr val="000000"/>
                </a:solidFill>
                <a:latin typeface="Fira Sans"/>
                <a:ea typeface="Fira Sans"/>
                <a:cs typeface="Fira Sans"/>
                <a:sym typeface="Fira Sans"/>
              </a:rPr>
              <a:t>Enables remote platforms to detect patient emotional states in real time</a:t>
            </a:r>
          </a:p>
          <a:p>
            <a:pPr marL="669283" lvl="1" indent="-334641" algn="l">
              <a:lnSpc>
                <a:spcPts val="3719"/>
              </a:lnSpc>
              <a:spcBef>
                <a:spcPct val="0"/>
              </a:spcBef>
              <a:buFont typeface="Arial"/>
              <a:buChar char="•"/>
            </a:pPr>
            <a:r>
              <a:rPr lang="en-US" sz="3099" u="none" strike="noStrike">
                <a:solidFill>
                  <a:srgbClr val="000000"/>
                </a:solidFill>
                <a:latin typeface="Fira Sans"/>
                <a:ea typeface="Fira Sans"/>
                <a:cs typeface="Fira Sans"/>
                <a:sym typeface="Fira Sans"/>
              </a:rPr>
              <a:t>Bridges the gap between clinical data and emotional awareness in virtual care</a:t>
            </a:r>
          </a:p>
        </p:txBody>
      </p:sp>
    </p:spTree>
  </p:cSld>
  <p:clrMapOvr>
    <a:masterClrMapping/>
  </p:clrMapOvr>
  <p:transition>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5400000">
            <a:off x="8888013" y="859470"/>
            <a:ext cx="578976" cy="18354998"/>
            <a:chOff x="0" y="0"/>
            <a:chExt cx="771968" cy="24473330"/>
          </a:xfrm>
        </p:grpSpPr>
        <p:sp>
          <p:nvSpPr>
            <p:cNvPr id="3" name="Freeform 3"/>
            <p:cNvSpPr/>
            <p:nvPr/>
          </p:nvSpPr>
          <p:spPr>
            <a:xfrm>
              <a:off x="0" y="0"/>
              <a:ext cx="771906" cy="24473281"/>
            </a:xfrm>
            <a:custGeom>
              <a:avLst/>
              <a:gdLst/>
              <a:ahLst/>
              <a:cxnLst/>
              <a:rect l="l" t="t" r="r" b="b"/>
              <a:pathLst>
                <a:path w="771906" h="24473281">
                  <a:moveTo>
                    <a:pt x="0" y="0"/>
                  </a:moveTo>
                  <a:lnTo>
                    <a:pt x="771906" y="0"/>
                  </a:lnTo>
                  <a:lnTo>
                    <a:pt x="771906" y="24473281"/>
                  </a:lnTo>
                  <a:lnTo>
                    <a:pt x="0" y="24473281"/>
                  </a:lnTo>
                  <a:lnTo>
                    <a:pt x="0" y="0"/>
                  </a:lnTo>
                  <a:close/>
                </a:path>
              </a:pathLst>
            </a:custGeom>
            <a:blipFill>
              <a:blip r:embed="rId2"/>
              <a:stretch>
                <a:fillRect r="-494469"/>
              </a:stretch>
            </a:blipFill>
          </p:spPr>
        </p:sp>
      </p:grpSp>
      <p:grpSp>
        <p:nvGrpSpPr>
          <p:cNvPr id="4" name="Group 4"/>
          <p:cNvGrpSpPr/>
          <p:nvPr/>
        </p:nvGrpSpPr>
        <p:grpSpPr>
          <a:xfrm rot="5400000">
            <a:off x="6867480" y="2631033"/>
            <a:ext cx="264614" cy="13999572"/>
            <a:chOff x="0" y="0"/>
            <a:chExt cx="352818" cy="18666096"/>
          </a:xfrm>
        </p:grpSpPr>
        <p:sp>
          <p:nvSpPr>
            <p:cNvPr id="5" name="Freeform 5"/>
            <p:cNvSpPr/>
            <p:nvPr/>
          </p:nvSpPr>
          <p:spPr>
            <a:xfrm>
              <a:off x="0" y="0"/>
              <a:ext cx="352806" cy="18666079"/>
            </a:xfrm>
            <a:custGeom>
              <a:avLst/>
              <a:gdLst/>
              <a:ahLst/>
              <a:cxnLst/>
              <a:rect l="l" t="t" r="r" b="b"/>
              <a:pathLst>
                <a:path w="352806" h="18666079">
                  <a:moveTo>
                    <a:pt x="0" y="0"/>
                  </a:moveTo>
                  <a:lnTo>
                    <a:pt x="352806" y="0"/>
                  </a:lnTo>
                  <a:lnTo>
                    <a:pt x="352806" y="18666079"/>
                  </a:lnTo>
                  <a:lnTo>
                    <a:pt x="0" y="18666079"/>
                  </a:lnTo>
                  <a:lnTo>
                    <a:pt x="0" y="0"/>
                  </a:lnTo>
                  <a:close/>
                </a:path>
              </a:pathLst>
            </a:custGeom>
            <a:blipFill>
              <a:blip r:embed="rId3"/>
              <a:stretch>
                <a:fillRect r="-340183"/>
              </a:stretch>
            </a:blipFill>
          </p:spPr>
        </p:sp>
      </p:grpSp>
      <p:grpSp>
        <p:nvGrpSpPr>
          <p:cNvPr id="6" name="Group 6"/>
          <p:cNvGrpSpPr/>
          <p:nvPr/>
        </p:nvGrpSpPr>
        <p:grpSpPr>
          <a:xfrm>
            <a:off x="13798189" y="8819818"/>
            <a:ext cx="4868602" cy="1217151"/>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4"/>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5"/>
              <a:stretch>
                <a:fillRect l="-2" t="-5884" b="-6094"/>
              </a:stretch>
            </a:blipFill>
          </p:spPr>
        </p:sp>
      </p:grpSp>
      <p:grpSp>
        <p:nvGrpSpPr>
          <p:cNvPr id="10" name="Group 10"/>
          <p:cNvGrpSpPr/>
          <p:nvPr/>
        </p:nvGrpSpPr>
        <p:grpSpPr>
          <a:xfrm>
            <a:off x="668019" y="3535952"/>
            <a:ext cx="4094439" cy="5283865"/>
            <a:chOff x="0" y="0"/>
            <a:chExt cx="1078357" cy="1391595"/>
          </a:xfrm>
        </p:grpSpPr>
        <p:sp>
          <p:nvSpPr>
            <p:cNvPr id="11" name="Freeform 11"/>
            <p:cNvSpPr/>
            <p:nvPr/>
          </p:nvSpPr>
          <p:spPr>
            <a:xfrm>
              <a:off x="0" y="0"/>
              <a:ext cx="1078357" cy="1391595"/>
            </a:xfrm>
            <a:custGeom>
              <a:avLst/>
              <a:gdLst/>
              <a:ahLst/>
              <a:cxnLst/>
              <a:rect l="l" t="t" r="r" b="b"/>
              <a:pathLst>
                <a:path w="1078357" h="1391595">
                  <a:moveTo>
                    <a:pt x="1078357" y="45380"/>
                  </a:moveTo>
                  <a:lnTo>
                    <a:pt x="1078357" y="1346215"/>
                  </a:lnTo>
                  <a:cubicBezTo>
                    <a:pt x="1078357" y="1371278"/>
                    <a:pt x="1058040" y="1391595"/>
                    <a:pt x="1032977" y="1391595"/>
                  </a:cubicBezTo>
                  <a:lnTo>
                    <a:pt x="45380" y="1391595"/>
                  </a:lnTo>
                  <a:cubicBezTo>
                    <a:pt x="33345" y="1391595"/>
                    <a:pt x="21802" y="1386814"/>
                    <a:pt x="13292" y="1378303"/>
                  </a:cubicBezTo>
                  <a:cubicBezTo>
                    <a:pt x="4781" y="1369793"/>
                    <a:pt x="0" y="1358250"/>
                    <a:pt x="0" y="1346215"/>
                  </a:cubicBezTo>
                  <a:lnTo>
                    <a:pt x="0" y="45380"/>
                  </a:lnTo>
                  <a:cubicBezTo>
                    <a:pt x="0" y="33345"/>
                    <a:pt x="4781" y="21802"/>
                    <a:pt x="13292" y="13292"/>
                  </a:cubicBezTo>
                  <a:cubicBezTo>
                    <a:pt x="21802" y="4781"/>
                    <a:pt x="33345" y="0"/>
                    <a:pt x="45380" y="0"/>
                  </a:cubicBezTo>
                  <a:lnTo>
                    <a:pt x="1032977" y="0"/>
                  </a:lnTo>
                  <a:cubicBezTo>
                    <a:pt x="1045012" y="0"/>
                    <a:pt x="1056555" y="4781"/>
                    <a:pt x="1065066" y="13292"/>
                  </a:cubicBezTo>
                  <a:cubicBezTo>
                    <a:pt x="1073576" y="21802"/>
                    <a:pt x="1078357" y="33345"/>
                    <a:pt x="1078357" y="45380"/>
                  </a:cubicBezTo>
                  <a:close/>
                </a:path>
              </a:pathLst>
            </a:custGeom>
            <a:solidFill>
              <a:srgbClr val="ECF0AF"/>
            </a:solidFill>
          </p:spPr>
        </p:sp>
        <p:sp>
          <p:nvSpPr>
            <p:cNvPr id="12" name="TextBox 12"/>
            <p:cNvSpPr txBox="1"/>
            <p:nvPr/>
          </p:nvSpPr>
          <p:spPr>
            <a:xfrm>
              <a:off x="0" y="-19050"/>
              <a:ext cx="1078357" cy="1410645"/>
            </a:xfrm>
            <a:prstGeom prst="rect">
              <a:avLst/>
            </a:prstGeom>
          </p:spPr>
          <p:txBody>
            <a:bodyPr lIns="50800" tIns="50800" rIns="50800" bIns="50800" rtlCol="0" anchor="ctr"/>
            <a:lstStyle/>
            <a:p>
              <a:pPr algn="ctr">
                <a:lnSpc>
                  <a:spcPts val="3119"/>
                </a:lnSpc>
              </a:pPr>
              <a:endParaRPr/>
            </a:p>
          </p:txBody>
        </p:sp>
      </p:grpSp>
      <p:sp>
        <p:nvSpPr>
          <p:cNvPr id="13" name="Freeform 13"/>
          <p:cNvSpPr/>
          <p:nvPr/>
        </p:nvSpPr>
        <p:spPr>
          <a:xfrm>
            <a:off x="314551" y="3029625"/>
            <a:ext cx="4801377" cy="1012654"/>
          </a:xfrm>
          <a:custGeom>
            <a:avLst/>
            <a:gdLst/>
            <a:ahLst/>
            <a:cxnLst/>
            <a:rect l="l" t="t" r="r" b="b"/>
            <a:pathLst>
              <a:path w="4801377" h="1012654">
                <a:moveTo>
                  <a:pt x="0" y="0"/>
                </a:moveTo>
                <a:lnTo>
                  <a:pt x="4801376" y="0"/>
                </a:lnTo>
                <a:lnTo>
                  <a:pt x="4801376" y="1012654"/>
                </a:lnTo>
                <a:lnTo>
                  <a:pt x="0" y="1012654"/>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14" name="Group 14"/>
          <p:cNvGrpSpPr/>
          <p:nvPr/>
        </p:nvGrpSpPr>
        <p:grpSpPr>
          <a:xfrm>
            <a:off x="6921167" y="3731196"/>
            <a:ext cx="4416135" cy="5088621"/>
            <a:chOff x="0" y="0"/>
            <a:chExt cx="1163082" cy="1340174"/>
          </a:xfrm>
        </p:grpSpPr>
        <p:sp>
          <p:nvSpPr>
            <p:cNvPr id="15" name="Freeform 15"/>
            <p:cNvSpPr/>
            <p:nvPr/>
          </p:nvSpPr>
          <p:spPr>
            <a:xfrm>
              <a:off x="0" y="0"/>
              <a:ext cx="1163082" cy="1340174"/>
            </a:xfrm>
            <a:custGeom>
              <a:avLst/>
              <a:gdLst/>
              <a:ahLst/>
              <a:cxnLst/>
              <a:rect l="l" t="t" r="r" b="b"/>
              <a:pathLst>
                <a:path w="1163082" h="1340174">
                  <a:moveTo>
                    <a:pt x="1163082" y="42074"/>
                  </a:moveTo>
                  <a:lnTo>
                    <a:pt x="1163082" y="1298100"/>
                  </a:lnTo>
                  <a:cubicBezTo>
                    <a:pt x="1163082" y="1321337"/>
                    <a:pt x="1144245" y="1340174"/>
                    <a:pt x="1121008" y="1340174"/>
                  </a:cubicBezTo>
                  <a:lnTo>
                    <a:pt x="42074" y="1340174"/>
                  </a:lnTo>
                  <a:cubicBezTo>
                    <a:pt x="30916" y="1340174"/>
                    <a:pt x="20214" y="1335741"/>
                    <a:pt x="12323" y="1327851"/>
                  </a:cubicBezTo>
                  <a:cubicBezTo>
                    <a:pt x="4433" y="1319960"/>
                    <a:pt x="0" y="1309259"/>
                    <a:pt x="0" y="1298100"/>
                  </a:cubicBezTo>
                  <a:lnTo>
                    <a:pt x="0" y="42074"/>
                  </a:lnTo>
                  <a:cubicBezTo>
                    <a:pt x="0" y="30916"/>
                    <a:pt x="4433" y="20214"/>
                    <a:pt x="12323" y="12323"/>
                  </a:cubicBezTo>
                  <a:cubicBezTo>
                    <a:pt x="20214" y="4433"/>
                    <a:pt x="30916" y="0"/>
                    <a:pt x="42074" y="0"/>
                  </a:cubicBezTo>
                  <a:lnTo>
                    <a:pt x="1121008" y="0"/>
                  </a:lnTo>
                  <a:cubicBezTo>
                    <a:pt x="1132167" y="0"/>
                    <a:pt x="1142869" y="4433"/>
                    <a:pt x="1150759" y="12323"/>
                  </a:cubicBezTo>
                  <a:cubicBezTo>
                    <a:pt x="1158650" y="20214"/>
                    <a:pt x="1163082" y="30916"/>
                    <a:pt x="1163082" y="42074"/>
                  </a:cubicBezTo>
                  <a:close/>
                </a:path>
              </a:pathLst>
            </a:custGeom>
            <a:solidFill>
              <a:srgbClr val="ECF0AF"/>
            </a:solidFill>
          </p:spPr>
        </p:sp>
        <p:sp>
          <p:nvSpPr>
            <p:cNvPr id="16" name="TextBox 16"/>
            <p:cNvSpPr txBox="1"/>
            <p:nvPr/>
          </p:nvSpPr>
          <p:spPr>
            <a:xfrm>
              <a:off x="0" y="-19050"/>
              <a:ext cx="1163082" cy="1359224"/>
            </a:xfrm>
            <a:prstGeom prst="rect">
              <a:avLst/>
            </a:prstGeom>
          </p:spPr>
          <p:txBody>
            <a:bodyPr lIns="50800" tIns="50800" rIns="50800" bIns="50800" rtlCol="0" anchor="ctr"/>
            <a:lstStyle/>
            <a:p>
              <a:pPr algn="ctr">
                <a:lnSpc>
                  <a:spcPts val="3119"/>
                </a:lnSpc>
              </a:pPr>
              <a:endParaRPr/>
            </a:p>
          </p:txBody>
        </p:sp>
      </p:grpSp>
      <p:sp>
        <p:nvSpPr>
          <p:cNvPr id="17" name="Freeform 17"/>
          <p:cNvSpPr/>
          <p:nvPr/>
        </p:nvSpPr>
        <p:spPr>
          <a:xfrm>
            <a:off x="7672207" y="-238954"/>
            <a:ext cx="2914053" cy="3747979"/>
          </a:xfrm>
          <a:custGeom>
            <a:avLst/>
            <a:gdLst/>
            <a:ahLst/>
            <a:cxnLst/>
            <a:rect l="l" t="t" r="r" b="b"/>
            <a:pathLst>
              <a:path w="2914053" h="3747979">
                <a:moveTo>
                  <a:pt x="0" y="0"/>
                </a:moveTo>
                <a:lnTo>
                  <a:pt x="2914054" y="0"/>
                </a:lnTo>
                <a:lnTo>
                  <a:pt x="2914054" y="3747978"/>
                </a:lnTo>
                <a:lnTo>
                  <a:pt x="0" y="3747978"/>
                </a:lnTo>
                <a:lnTo>
                  <a:pt x="0" y="0"/>
                </a:lnTo>
                <a:close/>
              </a:path>
            </a:pathLst>
          </a:custGeom>
          <a:blipFill>
            <a:blip>
              <a:alphaModFix amt="21999"/>
              <a:extLst>
                <a:ext uri="{96DAC541-7B7A-43D3-8B79-37D633B846F1}">
                  <asvg:svgBlip xmlns:asvg="http://schemas.microsoft.com/office/drawing/2016/SVG/main" r:embed="rId7"/>
                </a:ext>
              </a:extLst>
            </a:blip>
            <a:stretch>
              <a:fillRect/>
            </a:stretch>
          </a:blipFill>
        </p:spPr>
      </p:sp>
      <p:sp>
        <p:nvSpPr>
          <p:cNvPr id="18" name="Freeform 18"/>
          <p:cNvSpPr/>
          <p:nvPr/>
        </p:nvSpPr>
        <p:spPr>
          <a:xfrm>
            <a:off x="6743312" y="3029625"/>
            <a:ext cx="4801377" cy="1012654"/>
          </a:xfrm>
          <a:custGeom>
            <a:avLst/>
            <a:gdLst/>
            <a:ahLst/>
            <a:cxnLst/>
            <a:rect l="l" t="t" r="r" b="b"/>
            <a:pathLst>
              <a:path w="4801377" h="1012654">
                <a:moveTo>
                  <a:pt x="0" y="0"/>
                </a:moveTo>
                <a:lnTo>
                  <a:pt x="4801376" y="0"/>
                </a:lnTo>
                <a:lnTo>
                  <a:pt x="4801376" y="1012654"/>
                </a:lnTo>
                <a:lnTo>
                  <a:pt x="0" y="1012654"/>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19" name="Group 19"/>
          <p:cNvGrpSpPr/>
          <p:nvPr/>
        </p:nvGrpSpPr>
        <p:grpSpPr>
          <a:xfrm>
            <a:off x="12988515" y="3535952"/>
            <a:ext cx="4416135" cy="5283865"/>
            <a:chOff x="0" y="0"/>
            <a:chExt cx="1163082" cy="1391595"/>
          </a:xfrm>
        </p:grpSpPr>
        <p:sp>
          <p:nvSpPr>
            <p:cNvPr id="20" name="Freeform 20"/>
            <p:cNvSpPr/>
            <p:nvPr/>
          </p:nvSpPr>
          <p:spPr>
            <a:xfrm>
              <a:off x="0" y="0"/>
              <a:ext cx="1163082" cy="1391595"/>
            </a:xfrm>
            <a:custGeom>
              <a:avLst/>
              <a:gdLst/>
              <a:ahLst/>
              <a:cxnLst/>
              <a:rect l="l" t="t" r="r" b="b"/>
              <a:pathLst>
                <a:path w="1163082" h="1391595">
                  <a:moveTo>
                    <a:pt x="1163082" y="42074"/>
                  </a:moveTo>
                  <a:lnTo>
                    <a:pt x="1163082" y="1349521"/>
                  </a:lnTo>
                  <a:cubicBezTo>
                    <a:pt x="1163082" y="1372758"/>
                    <a:pt x="1144245" y="1391595"/>
                    <a:pt x="1121008" y="1391595"/>
                  </a:cubicBezTo>
                  <a:lnTo>
                    <a:pt x="42074" y="1391595"/>
                  </a:lnTo>
                  <a:cubicBezTo>
                    <a:pt x="30916" y="1391595"/>
                    <a:pt x="20214" y="1387162"/>
                    <a:pt x="12323" y="1379272"/>
                  </a:cubicBezTo>
                  <a:cubicBezTo>
                    <a:pt x="4433" y="1371381"/>
                    <a:pt x="0" y="1360679"/>
                    <a:pt x="0" y="1349521"/>
                  </a:cubicBezTo>
                  <a:lnTo>
                    <a:pt x="0" y="42074"/>
                  </a:lnTo>
                  <a:cubicBezTo>
                    <a:pt x="0" y="30916"/>
                    <a:pt x="4433" y="20214"/>
                    <a:pt x="12323" y="12323"/>
                  </a:cubicBezTo>
                  <a:cubicBezTo>
                    <a:pt x="20214" y="4433"/>
                    <a:pt x="30916" y="0"/>
                    <a:pt x="42074" y="0"/>
                  </a:cubicBezTo>
                  <a:lnTo>
                    <a:pt x="1121008" y="0"/>
                  </a:lnTo>
                  <a:cubicBezTo>
                    <a:pt x="1132167" y="0"/>
                    <a:pt x="1142869" y="4433"/>
                    <a:pt x="1150759" y="12323"/>
                  </a:cubicBezTo>
                  <a:cubicBezTo>
                    <a:pt x="1158650" y="20214"/>
                    <a:pt x="1163082" y="30916"/>
                    <a:pt x="1163082" y="42074"/>
                  </a:cubicBezTo>
                  <a:close/>
                </a:path>
              </a:pathLst>
            </a:custGeom>
            <a:solidFill>
              <a:srgbClr val="ECF0AF"/>
            </a:solidFill>
          </p:spPr>
        </p:sp>
        <p:sp>
          <p:nvSpPr>
            <p:cNvPr id="21" name="TextBox 21"/>
            <p:cNvSpPr txBox="1"/>
            <p:nvPr/>
          </p:nvSpPr>
          <p:spPr>
            <a:xfrm>
              <a:off x="0" y="-19050"/>
              <a:ext cx="1163082" cy="1410645"/>
            </a:xfrm>
            <a:prstGeom prst="rect">
              <a:avLst/>
            </a:prstGeom>
          </p:spPr>
          <p:txBody>
            <a:bodyPr lIns="50800" tIns="50800" rIns="50800" bIns="50800" rtlCol="0" anchor="ctr"/>
            <a:lstStyle/>
            <a:p>
              <a:pPr algn="ctr">
                <a:lnSpc>
                  <a:spcPts val="3119"/>
                </a:lnSpc>
              </a:pPr>
              <a:endParaRPr/>
            </a:p>
          </p:txBody>
        </p:sp>
      </p:grpSp>
      <p:sp>
        <p:nvSpPr>
          <p:cNvPr id="22" name="Freeform 22"/>
          <p:cNvSpPr/>
          <p:nvPr/>
        </p:nvSpPr>
        <p:spPr>
          <a:xfrm>
            <a:off x="12795894" y="3029625"/>
            <a:ext cx="4801377" cy="1012654"/>
          </a:xfrm>
          <a:custGeom>
            <a:avLst/>
            <a:gdLst/>
            <a:ahLst/>
            <a:cxnLst/>
            <a:rect l="l" t="t" r="r" b="b"/>
            <a:pathLst>
              <a:path w="4801377" h="1012654">
                <a:moveTo>
                  <a:pt x="0" y="0"/>
                </a:moveTo>
                <a:lnTo>
                  <a:pt x="4801377" y="0"/>
                </a:lnTo>
                <a:lnTo>
                  <a:pt x="4801377" y="1012654"/>
                </a:lnTo>
                <a:lnTo>
                  <a:pt x="0" y="1012654"/>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3" name="TextBox 23"/>
          <p:cNvSpPr txBox="1"/>
          <p:nvPr/>
        </p:nvSpPr>
        <p:spPr>
          <a:xfrm>
            <a:off x="13360795" y="4431390"/>
            <a:ext cx="3671575" cy="3086100"/>
          </a:xfrm>
          <a:prstGeom prst="rect">
            <a:avLst/>
          </a:prstGeom>
        </p:spPr>
        <p:txBody>
          <a:bodyPr lIns="0" tIns="0" rIns="0" bIns="0" rtlCol="0" anchor="t">
            <a:spAutoFit/>
          </a:bodyPr>
          <a:lstStyle/>
          <a:p>
            <a:pPr marL="496567" lvl="1" indent="-248284" algn="l">
              <a:lnSpc>
                <a:spcPts val="2759"/>
              </a:lnSpc>
              <a:spcBef>
                <a:spcPct val="0"/>
              </a:spcBef>
              <a:buFont typeface="Arial"/>
              <a:buChar char="•"/>
            </a:pPr>
            <a:r>
              <a:rPr lang="en-US" sz="2299" u="none" strike="noStrike">
                <a:solidFill>
                  <a:srgbClr val="000000"/>
                </a:solidFill>
                <a:latin typeface="Canva Sans"/>
                <a:ea typeface="Canva Sans"/>
                <a:cs typeface="Canva Sans"/>
                <a:sym typeface="Canva Sans"/>
              </a:rPr>
              <a:t>Build a real-time, privacy-aware &amp; clinically validated emotion recognition layer</a:t>
            </a:r>
          </a:p>
          <a:p>
            <a:pPr marL="496567" lvl="1" indent="-248284" algn="l">
              <a:lnSpc>
                <a:spcPts val="2759"/>
              </a:lnSpc>
              <a:spcBef>
                <a:spcPct val="0"/>
              </a:spcBef>
              <a:buFont typeface="Arial"/>
              <a:buChar char="•"/>
            </a:pPr>
            <a:r>
              <a:rPr lang="en-US" sz="2299" u="none" strike="noStrike">
                <a:solidFill>
                  <a:srgbClr val="000000"/>
                </a:solidFill>
                <a:latin typeface="Canva Sans"/>
                <a:ea typeface="Canva Sans"/>
                <a:cs typeface="Canva Sans"/>
                <a:sym typeface="Canva Sans"/>
              </a:rPr>
              <a:t>Make telemedicine not just clinically capable but emotionally intelligent</a:t>
            </a:r>
          </a:p>
        </p:txBody>
      </p:sp>
      <p:sp>
        <p:nvSpPr>
          <p:cNvPr id="24" name="TextBox 24"/>
          <p:cNvSpPr txBox="1"/>
          <p:nvPr/>
        </p:nvSpPr>
        <p:spPr>
          <a:xfrm>
            <a:off x="13230608" y="9707593"/>
            <a:ext cx="3931950" cy="465812"/>
          </a:xfrm>
          <a:prstGeom prst="rect">
            <a:avLst/>
          </a:prstGeom>
        </p:spPr>
        <p:txBody>
          <a:bodyPr lIns="0" tIns="0" rIns="0" bIns="0" rtlCol="0" anchor="t">
            <a:spAutoFit/>
          </a:bodyPr>
          <a:lstStyle/>
          <a:p>
            <a:pPr algn="r">
              <a:lnSpc>
                <a:spcPts val="2160"/>
              </a:lnSpc>
            </a:pPr>
            <a:r>
              <a:rPr lang="en-US" sz="1800">
                <a:solidFill>
                  <a:srgbClr val="FFFFFF"/>
                </a:solidFill>
                <a:latin typeface="Fira Sans"/>
                <a:ea typeface="Fira Sans"/>
                <a:cs typeface="Fira Sans"/>
                <a:sym typeface="Fira Sans"/>
              </a:rPr>
              <a:t>1</a:t>
            </a:r>
          </a:p>
        </p:txBody>
      </p:sp>
      <p:sp>
        <p:nvSpPr>
          <p:cNvPr id="25" name="TextBox 25"/>
          <p:cNvSpPr txBox="1"/>
          <p:nvPr/>
        </p:nvSpPr>
        <p:spPr>
          <a:xfrm>
            <a:off x="6743311" y="1143844"/>
            <a:ext cx="4479519" cy="887132"/>
          </a:xfrm>
          <a:prstGeom prst="rect">
            <a:avLst/>
          </a:prstGeom>
        </p:spPr>
        <p:txBody>
          <a:bodyPr wrap="square" lIns="0" tIns="0" rIns="0" bIns="0" rtlCol="0" anchor="t">
            <a:spAutoFit/>
          </a:bodyPr>
          <a:lstStyle/>
          <a:p>
            <a:pPr algn="ctr">
              <a:lnSpc>
                <a:spcPts val="7279"/>
              </a:lnSpc>
            </a:pPr>
            <a:r>
              <a:rPr lang="en-US" sz="5199" b="1" dirty="0">
                <a:solidFill>
                  <a:srgbClr val="000000"/>
                </a:solidFill>
                <a:latin typeface="Canva Sans Bold"/>
                <a:ea typeface="Canva Sans Bold"/>
                <a:cs typeface="Canva Sans Bold"/>
                <a:sym typeface="Canva Sans Bold"/>
              </a:rPr>
              <a:t>Motivation</a:t>
            </a:r>
          </a:p>
        </p:txBody>
      </p:sp>
      <p:sp>
        <p:nvSpPr>
          <p:cNvPr id="26" name="TextBox 26"/>
          <p:cNvSpPr txBox="1"/>
          <p:nvPr/>
        </p:nvSpPr>
        <p:spPr>
          <a:xfrm>
            <a:off x="1356285" y="3321658"/>
            <a:ext cx="2606115" cy="397545"/>
          </a:xfrm>
          <a:prstGeom prst="rect">
            <a:avLst/>
          </a:prstGeom>
        </p:spPr>
        <p:txBody>
          <a:bodyPr wrap="square" lIns="0" tIns="0" rIns="0" bIns="0" rtlCol="0" anchor="t">
            <a:spAutoFit/>
          </a:bodyPr>
          <a:lstStyle/>
          <a:p>
            <a:pPr algn="ctr">
              <a:lnSpc>
                <a:spcPts val="3119"/>
              </a:lnSpc>
              <a:spcBef>
                <a:spcPct val="0"/>
              </a:spcBef>
            </a:pPr>
            <a:r>
              <a:rPr lang="en-US" sz="2599" b="1" dirty="0">
                <a:solidFill>
                  <a:srgbClr val="FFFFFF"/>
                </a:solidFill>
                <a:latin typeface="Times New Roman Bold"/>
                <a:ea typeface="Times New Roman Bold"/>
                <a:cs typeface="Times New Roman Bold"/>
                <a:sym typeface="Times New Roman Bold"/>
              </a:rPr>
              <a:t>The Problem</a:t>
            </a:r>
          </a:p>
        </p:txBody>
      </p:sp>
      <p:sp>
        <p:nvSpPr>
          <p:cNvPr id="27" name="TextBox 27"/>
          <p:cNvSpPr txBox="1"/>
          <p:nvPr/>
        </p:nvSpPr>
        <p:spPr>
          <a:xfrm>
            <a:off x="865642" y="4218107"/>
            <a:ext cx="3699194" cy="4114800"/>
          </a:xfrm>
          <a:prstGeom prst="rect">
            <a:avLst/>
          </a:prstGeom>
        </p:spPr>
        <p:txBody>
          <a:bodyPr lIns="0" tIns="0" rIns="0" bIns="0" rtlCol="0" anchor="t">
            <a:spAutoFit/>
          </a:bodyPr>
          <a:lstStyle/>
          <a:p>
            <a:pPr marL="496567" lvl="1" indent="-248284" algn="l">
              <a:lnSpc>
                <a:spcPts val="2759"/>
              </a:lnSpc>
              <a:buFont typeface="Arial"/>
              <a:buChar char="•"/>
            </a:pPr>
            <a:r>
              <a:rPr lang="en-US" sz="2299">
                <a:solidFill>
                  <a:srgbClr val="000000"/>
                </a:solidFill>
                <a:latin typeface="Canva Sans"/>
                <a:ea typeface="Canva Sans"/>
                <a:cs typeface="Canva Sans"/>
                <a:sym typeface="Canva Sans"/>
              </a:rPr>
              <a:t>Telemedicine platforms focus only on clinical data &amp; verbal communication</a:t>
            </a:r>
          </a:p>
          <a:p>
            <a:pPr marL="496567" lvl="1" indent="-248284" algn="l">
              <a:lnSpc>
                <a:spcPts val="2759"/>
              </a:lnSpc>
              <a:buFont typeface="Arial"/>
              <a:buChar char="•"/>
            </a:pPr>
            <a:r>
              <a:rPr lang="en-US" sz="2299">
                <a:solidFill>
                  <a:srgbClr val="000000"/>
                </a:solidFill>
                <a:latin typeface="Canva Sans"/>
                <a:ea typeface="Canva Sans"/>
                <a:cs typeface="Canva Sans"/>
                <a:sym typeface="Canva Sans"/>
              </a:rPr>
              <a:t>Patient emotional states go completely unnoticed in remote consultations</a:t>
            </a:r>
          </a:p>
          <a:p>
            <a:pPr marL="496567" lvl="1" indent="-248284" algn="l">
              <a:lnSpc>
                <a:spcPts val="2759"/>
              </a:lnSpc>
              <a:buFont typeface="Arial"/>
              <a:buChar char="•"/>
            </a:pPr>
            <a:r>
              <a:rPr lang="en-US" sz="2299">
                <a:solidFill>
                  <a:srgbClr val="000000"/>
                </a:solidFill>
                <a:latin typeface="Canva Sans"/>
                <a:ea typeface="Canva Sans"/>
                <a:cs typeface="Canva Sans"/>
                <a:sym typeface="Canva Sans"/>
              </a:rPr>
              <a:t>Doctors lose critical non-verbal cues they would naturally observe in person</a:t>
            </a:r>
          </a:p>
        </p:txBody>
      </p:sp>
      <p:sp>
        <p:nvSpPr>
          <p:cNvPr id="28" name="TextBox 28"/>
          <p:cNvSpPr txBox="1"/>
          <p:nvPr/>
        </p:nvSpPr>
        <p:spPr>
          <a:xfrm>
            <a:off x="6776813" y="3321658"/>
            <a:ext cx="4801377" cy="409538"/>
          </a:xfrm>
          <a:prstGeom prst="rect">
            <a:avLst/>
          </a:prstGeom>
        </p:spPr>
        <p:txBody>
          <a:bodyPr lIns="0" tIns="0" rIns="0" bIns="0" rtlCol="0" anchor="t">
            <a:spAutoFit/>
          </a:bodyPr>
          <a:lstStyle/>
          <a:p>
            <a:pPr marL="0" lvl="0" indent="0" algn="ctr">
              <a:lnSpc>
                <a:spcPts val="3119"/>
              </a:lnSpc>
              <a:spcBef>
                <a:spcPct val="0"/>
              </a:spcBef>
            </a:pPr>
            <a:r>
              <a:rPr lang="en-US" sz="2599" b="1" u="none" strike="noStrike">
                <a:solidFill>
                  <a:srgbClr val="FFFFFF"/>
                </a:solidFill>
                <a:latin typeface="Times New Roman Bold"/>
                <a:ea typeface="Times New Roman Bold"/>
                <a:cs typeface="Times New Roman Bold"/>
                <a:sym typeface="Times New Roman Bold"/>
              </a:rPr>
              <a:t>Why It Matters</a:t>
            </a:r>
          </a:p>
        </p:txBody>
      </p:sp>
      <p:sp>
        <p:nvSpPr>
          <p:cNvPr id="29" name="TextBox 29"/>
          <p:cNvSpPr txBox="1"/>
          <p:nvPr/>
        </p:nvSpPr>
        <p:spPr>
          <a:xfrm>
            <a:off x="12827214" y="3321658"/>
            <a:ext cx="4801377" cy="409538"/>
          </a:xfrm>
          <a:prstGeom prst="rect">
            <a:avLst/>
          </a:prstGeom>
        </p:spPr>
        <p:txBody>
          <a:bodyPr lIns="0" tIns="0" rIns="0" bIns="0" rtlCol="0" anchor="t">
            <a:spAutoFit/>
          </a:bodyPr>
          <a:lstStyle/>
          <a:p>
            <a:pPr marL="0" lvl="0" indent="0" algn="ctr">
              <a:lnSpc>
                <a:spcPts val="3119"/>
              </a:lnSpc>
              <a:spcBef>
                <a:spcPct val="0"/>
              </a:spcBef>
            </a:pPr>
            <a:r>
              <a:rPr lang="en-US" sz="2599" b="1">
                <a:solidFill>
                  <a:srgbClr val="FFFFFF"/>
                </a:solidFill>
                <a:latin typeface="Times New Roman Bold"/>
                <a:ea typeface="Times New Roman Bold"/>
                <a:cs typeface="Times New Roman Bold"/>
                <a:sym typeface="Times New Roman Bold"/>
              </a:rPr>
              <a:t>Our Goal</a:t>
            </a:r>
          </a:p>
        </p:txBody>
      </p:sp>
      <p:sp>
        <p:nvSpPr>
          <p:cNvPr id="30" name="TextBox 30"/>
          <p:cNvSpPr txBox="1"/>
          <p:nvPr/>
        </p:nvSpPr>
        <p:spPr>
          <a:xfrm>
            <a:off x="7065169" y="4431390"/>
            <a:ext cx="4157662" cy="3086100"/>
          </a:xfrm>
          <a:prstGeom prst="rect">
            <a:avLst/>
          </a:prstGeom>
        </p:spPr>
        <p:txBody>
          <a:bodyPr lIns="0" tIns="0" rIns="0" bIns="0" rtlCol="0" anchor="t">
            <a:spAutoFit/>
          </a:bodyPr>
          <a:lstStyle/>
          <a:p>
            <a:pPr marL="496567" lvl="1" indent="-248284" algn="l">
              <a:lnSpc>
                <a:spcPts val="2759"/>
              </a:lnSpc>
              <a:spcBef>
                <a:spcPct val="0"/>
              </a:spcBef>
              <a:buFont typeface="Arial"/>
              <a:buChar char="•"/>
            </a:pPr>
            <a:r>
              <a:rPr lang="en-US" sz="2299" u="none" strike="noStrike">
                <a:solidFill>
                  <a:srgbClr val="000000"/>
                </a:solidFill>
                <a:latin typeface="Canva Sans"/>
                <a:ea typeface="Canva Sans"/>
                <a:cs typeface="Canva Sans"/>
                <a:sym typeface="Canva Sans"/>
              </a:rPr>
              <a:t>Emotions directly impact diagnosis accuracy &amp; treatment adherence</a:t>
            </a:r>
          </a:p>
          <a:p>
            <a:pPr marL="496567" lvl="1" indent="-248284" algn="l">
              <a:lnSpc>
                <a:spcPts val="2759"/>
              </a:lnSpc>
              <a:spcBef>
                <a:spcPct val="0"/>
              </a:spcBef>
              <a:buFont typeface="Arial"/>
              <a:buChar char="•"/>
            </a:pPr>
            <a:r>
              <a:rPr lang="en-US" sz="2299" u="none" strike="noStrike">
                <a:solidFill>
                  <a:srgbClr val="000000"/>
                </a:solidFill>
                <a:latin typeface="Canva Sans"/>
                <a:ea typeface="Canva Sans"/>
                <a:cs typeface="Canva Sans"/>
                <a:sym typeface="Canva Sans"/>
              </a:rPr>
              <a:t>Mental health issues often go undetected in virtual settings</a:t>
            </a:r>
          </a:p>
          <a:p>
            <a:pPr marL="496567" lvl="1" indent="-248284" algn="l">
              <a:lnSpc>
                <a:spcPts val="2759"/>
              </a:lnSpc>
              <a:spcBef>
                <a:spcPct val="0"/>
              </a:spcBef>
              <a:buFont typeface="Arial"/>
              <a:buChar char="•"/>
            </a:pPr>
            <a:r>
              <a:rPr lang="en-US" sz="2299" u="none" strike="noStrike">
                <a:solidFill>
                  <a:srgbClr val="000000"/>
                </a:solidFill>
                <a:latin typeface="Canva Sans"/>
                <a:ea typeface="Canva Sans"/>
                <a:cs typeface="Canva Sans"/>
                <a:sym typeface="Canva Sans"/>
              </a:rPr>
              <a:t>Early emotional cues can flag deteriorating mental health before it's critical</a:t>
            </a:r>
          </a:p>
        </p:txBody>
      </p:sp>
    </p:spTree>
  </p:cSld>
  <p:clrMapOvr>
    <a:masterClrMapping/>
  </p:clrMapOvr>
  <p:transition>
    <p:cove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5400000">
            <a:off x="8888013" y="859470"/>
            <a:ext cx="578976" cy="18354998"/>
            <a:chOff x="0" y="0"/>
            <a:chExt cx="771968" cy="24473330"/>
          </a:xfrm>
        </p:grpSpPr>
        <p:sp>
          <p:nvSpPr>
            <p:cNvPr id="3" name="Freeform 3"/>
            <p:cNvSpPr/>
            <p:nvPr/>
          </p:nvSpPr>
          <p:spPr>
            <a:xfrm>
              <a:off x="0" y="0"/>
              <a:ext cx="771906" cy="24473281"/>
            </a:xfrm>
            <a:custGeom>
              <a:avLst/>
              <a:gdLst/>
              <a:ahLst/>
              <a:cxnLst/>
              <a:rect l="l" t="t" r="r" b="b"/>
              <a:pathLst>
                <a:path w="771906" h="24473281">
                  <a:moveTo>
                    <a:pt x="0" y="0"/>
                  </a:moveTo>
                  <a:lnTo>
                    <a:pt x="771906" y="0"/>
                  </a:lnTo>
                  <a:lnTo>
                    <a:pt x="771906" y="24473281"/>
                  </a:lnTo>
                  <a:lnTo>
                    <a:pt x="0" y="24473281"/>
                  </a:lnTo>
                  <a:lnTo>
                    <a:pt x="0" y="0"/>
                  </a:lnTo>
                  <a:close/>
                </a:path>
              </a:pathLst>
            </a:custGeom>
            <a:blipFill>
              <a:blip r:embed="rId2"/>
              <a:stretch>
                <a:fillRect r="-494469"/>
              </a:stretch>
            </a:blipFill>
          </p:spPr>
        </p:sp>
      </p:grpSp>
      <p:grpSp>
        <p:nvGrpSpPr>
          <p:cNvPr id="4" name="Group 4"/>
          <p:cNvGrpSpPr/>
          <p:nvPr/>
        </p:nvGrpSpPr>
        <p:grpSpPr>
          <a:xfrm rot="5400000">
            <a:off x="6867480" y="2631033"/>
            <a:ext cx="264614" cy="13999572"/>
            <a:chOff x="0" y="0"/>
            <a:chExt cx="352818" cy="18666096"/>
          </a:xfrm>
        </p:grpSpPr>
        <p:sp>
          <p:nvSpPr>
            <p:cNvPr id="5" name="Freeform 5"/>
            <p:cNvSpPr/>
            <p:nvPr/>
          </p:nvSpPr>
          <p:spPr>
            <a:xfrm>
              <a:off x="0" y="0"/>
              <a:ext cx="352806" cy="18666079"/>
            </a:xfrm>
            <a:custGeom>
              <a:avLst/>
              <a:gdLst/>
              <a:ahLst/>
              <a:cxnLst/>
              <a:rect l="l" t="t" r="r" b="b"/>
              <a:pathLst>
                <a:path w="352806" h="18666079">
                  <a:moveTo>
                    <a:pt x="0" y="0"/>
                  </a:moveTo>
                  <a:lnTo>
                    <a:pt x="352806" y="0"/>
                  </a:lnTo>
                  <a:lnTo>
                    <a:pt x="352806" y="18666079"/>
                  </a:lnTo>
                  <a:lnTo>
                    <a:pt x="0" y="18666079"/>
                  </a:lnTo>
                  <a:lnTo>
                    <a:pt x="0" y="0"/>
                  </a:lnTo>
                  <a:close/>
                </a:path>
              </a:pathLst>
            </a:custGeom>
            <a:blipFill>
              <a:blip r:embed="rId3"/>
              <a:stretch>
                <a:fillRect r="-340183"/>
              </a:stretch>
            </a:blipFill>
          </p:spPr>
        </p:sp>
      </p:grpSp>
      <p:grpSp>
        <p:nvGrpSpPr>
          <p:cNvPr id="6" name="Group 6"/>
          <p:cNvGrpSpPr/>
          <p:nvPr/>
        </p:nvGrpSpPr>
        <p:grpSpPr>
          <a:xfrm>
            <a:off x="16902182" y="0"/>
            <a:ext cx="1452818" cy="968896"/>
            <a:chOff x="0" y="0"/>
            <a:chExt cx="1937090" cy="1291861"/>
          </a:xfrm>
        </p:grpSpPr>
        <p:sp>
          <p:nvSpPr>
            <p:cNvPr id="7" name="Freeform 7"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4"/>
              <a:stretch>
                <a:fillRect l="-2" t="-5884" b="-6094"/>
              </a:stretch>
            </a:blipFill>
          </p:spPr>
        </p:sp>
      </p:grpSp>
      <p:grpSp>
        <p:nvGrpSpPr>
          <p:cNvPr id="8" name="Group 8"/>
          <p:cNvGrpSpPr/>
          <p:nvPr/>
        </p:nvGrpSpPr>
        <p:grpSpPr>
          <a:xfrm>
            <a:off x="13999573" y="8856405"/>
            <a:ext cx="4355427" cy="1088857"/>
            <a:chOff x="0" y="0"/>
            <a:chExt cx="6491470" cy="1622868"/>
          </a:xfrm>
        </p:grpSpPr>
        <p:sp>
          <p:nvSpPr>
            <p:cNvPr id="9" name="Freeform 9"/>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5"/>
              <a:stretch>
                <a:fillRect t="-478" b="-478"/>
              </a:stretch>
            </a:blipFill>
          </p:spPr>
        </p:sp>
      </p:grpSp>
      <p:grpSp>
        <p:nvGrpSpPr>
          <p:cNvPr id="10" name="Group 10"/>
          <p:cNvGrpSpPr/>
          <p:nvPr/>
        </p:nvGrpSpPr>
        <p:grpSpPr>
          <a:xfrm>
            <a:off x="597105" y="2390948"/>
            <a:ext cx="3973343" cy="6141052"/>
            <a:chOff x="0" y="0"/>
            <a:chExt cx="1046477" cy="1617396"/>
          </a:xfrm>
        </p:grpSpPr>
        <p:sp>
          <p:nvSpPr>
            <p:cNvPr id="11" name="Freeform 11"/>
            <p:cNvSpPr/>
            <p:nvPr/>
          </p:nvSpPr>
          <p:spPr>
            <a:xfrm>
              <a:off x="0" y="0"/>
              <a:ext cx="1046477" cy="1617396"/>
            </a:xfrm>
            <a:custGeom>
              <a:avLst/>
              <a:gdLst/>
              <a:ahLst/>
              <a:cxnLst/>
              <a:rect l="l" t="t" r="r" b="b"/>
              <a:pathLst>
                <a:path w="1046477" h="1617396">
                  <a:moveTo>
                    <a:pt x="101320" y="0"/>
                  </a:moveTo>
                  <a:lnTo>
                    <a:pt x="945157" y="0"/>
                  </a:lnTo>
                  <a:cubicBezTo>
                    <a:pt x="1001114" y="0"/>
                    <a:pt x="1046477" y="45363"/>
                    <a:pt x="1046477" y="101320"/>
                  </a:cubicBezTo>
                  <a:lnTo>
                    <a:pt x="1046477" y="1516076"/>
                  </a:lnTo>
                  <a:cubicBezTo>
                    <a:pt x="1046477" y="1542948"/>
                    <a:pt x="1035802" y="1568719"/>
                    <a:pt x="1016801" y="1587720"/>
                  </a:cubicBezTo>
                  <a:cubicBezTo>
                    <a:pt x="997800" y="1606722"/>
                    <a:pt x="972029" y="1617396"/>
                    <a:pt x="945157" y="1617396"/>
                  </a:cubicBezTo>
                  <a:lnTo>
                    <a:pt x="101320" y="1617396"/>
                  </a:lnTo>
                  <a:cubicBezTo>
                    <a:pt x="74448" y="1617396"/>
                    <a:pt x="48677" y="1606722"/>
                    <a:pt x="29676" y="1587720"/>
                  </a:cubicBezTo>
                  <a:cubicBezTo>
                    <a:pt x="10675" y="1568719"/>
                    <a:pt x="0" y="1542948"/>
                    <a:pt x="0" y="1516076"/>
                  </a:cubicBezTo>
                  <a:lnTo>
                    <a:pt x="0" y="101320"/>
                  </a:lnTo>
                  <a:cubicBezTo>
                    <a:pt x="0" y="74448"/>
                    <a:pt x="10675" y="48677"/>
                    <a:pt x="29676" y="29676"/>
                  </a:cubicBezTo>
                  <a:cubicBezTo>
                    <a:pt x="48677" y="10675"/>
                    <a:pt x="74448" y="0"/>
                    <a:pt x="101320" y="0"/>
                  </a:cubicBezTo>
                  <a:close/>
                </a:path>
              </a:pathLst>
            </a:custGeom>
            <a:solidFill>
              <a:srgbClr val="99ACFF"/>
            </a:solidFill>
          </p:spPr>
        </p:sp>
        <p:sp>
          <p:nvSpPr>
            <p:cNvPr id="12" name="TextBox 12"/>
            <p:cNvSpPr txBox="1"/>
            <p:nvPr/>
          </p:nvSpPr>
          <p:spPr>
            <a:xfrm>
              <a:off x="0" y="-9525"/>
              <a:ext cx="1046477" cy="1626921"/>
            </a:xfrm>
            <a:prstGeom prst="rect">
              <a:avLst/>
            </a:prstGeom>
          </p:spPr>
          <p:txBody>
            <a:bodyPr lIns="50800" tIns="50800" rIns="50800" bIns="50800" rtlCol="0" anchor="ctr"/>
            <a:lstStyle/>
            <a:p>
              <a:pPr algn="ctr">
                <a:lnSpc>
                  <a:spcPts val="2160"/>
                </a:lnSpc>
              </a:pPr>
              <a:endParaRPr/>
            </a:p>
          </p:txBody>
        </p:sp>
      </p:grpSp>
      <p:sp>
        <p:nvSpPr>
          <p:cNvPr id="13" name="TextBox 13"/>
          <p:cNvSpPr txBox="1"/>
          <p:nvPr/>
        </p:nvSpPr>
        <p:spPr>
          <a:xfrm>
            <a:off x="13230608" y="9707593"/>
            <a:ext cx="3931950" cy="465812"/>
          </a:xfrm>
          <a:prstGeom prst="rect">
            <a:avLst/>
          </a:prstGeom>
        </p:spPr>
        <p:txBody>
          <a:bodyPr lIns="0" tIns="0" rIns="0" bIns="0" rtlCol="0" anchor="t">
            <a:spAutoFit/>
          </a:bodyPr>
          <a:lstStyle/>
          <a:p>
            <a:pPr algn="r">
              <a:lnSpc>
                <a:spcPts val="2160"/>
              </a:lnSpc>
            </a:pPr>
            <a:r>
              <a:rPr lang="en-US" sz="1800">
                <a:solidFill>
                  <a:srgbClr val="FFFFFF"/>
                </a:solidFill>
                <a:latin typeface="Fira Sans"/>
                <a:ea typeface="Fira Sans"/>
                <a:cs typeface="Fira Sans"/>
                <a:sym typeface="Fira Sans"/>
              </a:rPr>
              <a:t>1</a:t>
            </a:r>
          </a:p>
        </p:txBody>
      </p:sp>
      <p:sp>
        <p:nvSpPr>
          <p:cNvPr id="14" name="TextBox 14"/>
          <p:cNvSpPr txBox="1"/>
          <p:nvPr/>
        </p:nvSpPr>
        <p:spPr>
          <a:xfrm>
            <a:off x="7037709" y="873646"/>
            <a:ext cx="4316091" cy="887095"/>
          </a:xfrm>
          <a:prstGeom prst="rect">
            <a:avLst/>
          </a:prstGeom>
        </p:spPr>
        <p:txBody>
          <a:bodyPr wrap="square" lIns="0" tIns="0" rIns="0" bIns="0" rtlCol="0" anchor="t">
            <a:spAutoFit/>
          </a:bodyPr>
          <a:lstStyle/>
          <a:p>
            <a:pPr algn="ctr">
              <a:lnSpc>
                <a:spcPts val="7279"/>
              </a:lnSpc>
            </a:pPr>
            <a:r>
              <a:rPr lang="en-US" sz="5199" b="1" u="sng" dirty="0">
                <a:solidFill>
                  <a:srgbClr val="004AAD"/>
                </a:solidFill>
                <a:latin typeface="Canva Sans Bold"/>
                <a:ea typeface="Canva Sans Bold"/>
                <a:cs typeface="Canva Sans Bold"/>
                <a:sym typeface="Canva Sans Bold"/>
              </a:rPr>
              <a:t>Objectives</a:t>
            </a:r>
          </a:p>
        </p:txBody>
      </p:sp>
      <p:grpSp>
        <p:nvGrpSpPr>
          <p:cNvPr id="15" name="Group 15"/>
          <p:cNvGrpSpPr/>
          <p:nvPr/>
        </p:nvGrpSpPr>
        <p:grpSpPr>
          <a:xfrm>
            <a:off x="4949819" y="2390948"/>
            <a:ext cx="3973343" cy="6141052"/>
            <a:chOff x="0" y="0"/>
            <a:chExt cx="1046477" cy="1617396"/>
          </a:xfrm>
        </p:grpSpPr>
        <p:sp>
          <p:nvSpPr>
            <p:cNvPr id="16" name="Freeform 16"/>
            <p:cNvSpPr/>
            <p:nvPr/>
          </p:nvSpPr>
          <p:spPr>
            <a:xfrm>
              <a:off x="0" y="0"/>
              <a:ext cx="1046477" cy="1617396"/>
            </a:xfrm>
            <a:custGeom>
              <a:avLst/>
              <a:gdLst/>
              <a:ahLst/>
              <a:cxnLst/>
              <a:rect l="l" t="t" r="r" b="b"/>
              <a:pathLst>
                <a:path w="1046477" h="1617396">
                  <a:moveTo>
                    <a:pt x="101320" y="0"/>
                  </a:moveTo>
                  <a:lnTo>
                    <a:pt x="945157" y="0"/>
                  </a:lnTo>
                  <a:cubicBezTo>
                    <a:pt x="1001114" y="0"/>
                    <a:pt x="1046477" y="45363"/>
                    <a:pt x="1046477" y="101320"/>
                  </a:cubicBezTo>
                  <a:lnTo>
                    <a:pt x="1046477" y="1516076"/>
                  </a:lnTo>
                  <a:cubicBezTo>
                    <a:pt x="1046477" y="1542948"/>
                    <a:pt x="1035802" y="1568719"/>
                    <a:pt x="1016801" y="1587720"/>
                  </a:cubicBezTo>
                  <a:cubicBezTo>
                    <a:pt x="997800" y="1606722"/>
                    <a:pt x="972029" y="1617396"/>
                    <a:pt x="945157" y="1617396"/>
                  </a:cubicBezTo>
                  <a:lnTo>
                    <a:pt x="101320" y="1617396"/>
                  </a:lnTo>
                  <a:cubicBezTo>
                    <a:pt x="74448" y="1617396"/>
                    <a:pt x="48677" y="1606722"/>
                    <a:pt x="29676" y="1587720"/>
                  </a:cubicBezTo>
                  <a:cubicBezTo>
                    <a:pt x="10675" y="1568719"/>
                    <a:pt x="0" y="1542948"/>
                    <a:pt x="0" y="1516076"/>
                  </a:cubicBezTo>
                  <a:lnTo>
                    <a:pt x="0" y="101320"/>
                  </a:lnTo>
                  <a:cubicBezTo>
                    <a:pt x="0" y="74448"/>
                    <a:pt x="10675" y="48677"/>
                    <a:pt x="29676" y="29676"/>
                  </a:cubicBezTo>
                  <a:cubicBezTo>
                    <a:pt x="48677" y="10675"/>
                    <a:pt x="74448" y="0"/>
                    <a:pt x="101320" y="0"/>
                  </a:cubicBezTo>
                  <a:close/>
                </a:path>
              </a:pathLst>
            </a:custGeom>
            <a:solidFill>
              <a:srgbClr val="BEA1F7"/>
            </a:solidFill>
            <a:ln cap="rnd">
              <a:noFill/>
              <a:prstDash val="solid"/>
              <a:round/>
            </a:ln>
          </p:spPr>
        </p:sp>
        <p:sp>
          <p:nvSpPr>
            <p:cNvPr id="17" name="TextBox 17"/>
            <p:cNvSpPr txBox="1"/>
            <p:nvPr/>
          </p:nvSpPr>
          <p:spPr>
            <a:xfrm>
              <a:off x="0" y="-9525"/>
              <a:ext cx="1046477" cy="1626921"/>
            </a:xfrm>
            <a:prstGeom prst="rect">
              <a:avLst/>
            </a:prstGeom>
          </p:spPr>
          <p:txBody>
            <a:bodyPr lIns="50800" tIns="50800" rIns="50800" bIns="50800" rtlCol="0" anchor="ctr"/>
            <a:lstStyle/>
            <a:p>
              <a:pPr marL="0" lvl="0" indent="0" algn="ctr">
                <a:lnSpc>
                  <a:spcPts val="2160"/>
                </a:lnSpc>
                <a:spcBef>
                  <a:spcPct val="0"/>
                </a:spcBef>
              </a:pPr>
              <a:endParaRPr/>
            </a:p>
          </p:txBody>
        </p:sp>
      </p:grpSp>
      <p:grpSp>
        <p:nvGrpSpPr>
          <p:cNvPr id="18" name="Group 18"/>
          <p:cNvGrpSpPr/>
          <p:nvPr/>
        </p:nvGrpSpPr>
        <p:grpSpPr>
          <a:xfrm>
            <a:off x="9302534" y="2390948"/>
            <a:ext cx="3973343" cy="6141052"/>
            <a:chOff x="0" y="0"/>
            <a:chExt cx="1046477" cy="1617396"/>
          </a:xfrm>
        </p:grpSpPr>
        <p:sp>
          <p:nvSpPr>
            <p:cNvPr id="19" name="Freeform 19"/>
            <p:cNvSpPr/>
            <p:nvPr/>
          </p:nvSpPr>
          <p:spPr>
            <a:xfrm>
              <a:off x="0" y="0"/>
              <a:ext cx="1046477" cy="1617396"/>
            </a:xfrm>
            <a:custGeom>
              <a:avLst/>
              <a:gdLst/>
              <a:ahLst/>
              <a:cxnLst/>
              <a:rect l="l" t="t" r="r" b="b"/>
              <a:pathLst>
                <a:path w="1046477" h="1617396">
                  <a:moveTo>
                    <a:pt x="101320" y="0"/>
                  </a:moveTo>
                  <a:lnTo>
                    <a:pt x="945157" y="0"/>
                  </a:lnTo>
                  <a:cubicBezTo>
                    <a:pt x="1001114" y="0"/>
                    <a:pt x="1046477" y="45363"/>
                    <a:pt x="1046477" y="101320"/>
                  </a:cubicBezTo>
                  <a:lnTo>
                    <a:pt x="1046477" y="1516076"/>
                  </a:lnTo>
                  <a:cubicBezTo>
                    <a:pt x="1046477" y="1542948"/>
                    <a:pt x="1035802" y="1568719"/>
                    <a:pt x="1016801" y="1587720"/>
                  </a:cubicBezTo>
                  <a:cubicBezTo>
                    <a:pt x="997800" y="1606722"/>
                    <a:pt x="972029" y="1617396"/>
                    <a:pt x="945157" y="1617396"/>
                  </a:cubicBezTo>
                  <a:lnTo>
                    <a:pt x="101320" y="1617396"/>
                  </a:lnTo>
                  <a:cubicBezTo>
                    <a:pt x="74448" y="1617396"/>
                    <a:pt x="48677" y="1606722"/>
                    <a:pt x="29676" y="1587720"/>
                  </a:cubicBezTo>
                  <a:cubicBezTo>
                    <a:pt x="10675" y="1568719"/>
                    <a:pt x="0" y="1542948"/>
                    <a:pt x="0" y="1516076"/>
                  </a:cubicBezTo>
                  <a:lnTo>
                    <a:pt x="0" y="101320"/>
                  </a:lnTo>
                  <a:cubicBezTo>
                    <a:pt x="0" y="74448"/>
                    <a:pt x="10675" y="48677"/>
                    <a:pt x="29676" y="29676"/>
                  </a:cubicBezTo>
                  <a:cubicBezTo>
                    <a:pt x="48677" y="10675"/>
                    <a:pt x="74448" y="0"/>
                    <a:pt x="101320" y="0"/>
                  </a:cubicBezTo>
                  <a:close/>
                </a:path>
              </a:pathLst>
            </a:custGeom>
            <a:solidFill>
              <a:srgbClr val="CEA8F0"/>
            </a:solidFill>
            <a:ln cap="rnd">
              <a:noFill/>
              <a:prstDash val="solid"/>
              <a:round/>
            </a:ln>
          </p:spPr>
        </p:sp>
        <p:sp>
          <p:nvSpPr>
            <p:cNvPr id="20" name="TextBox 20"/>
            <p:cNvSpPr txBox="1"/>
            <p:nvPr/>
          </p:nvSpPr>
          <p:spPr>
            <a:xfrm>
              <a:off x="0" y="-9525"/>
              <a:ext cx="1046477" cy="1626921"/>
            </a:xfrm>
            <a:prstGeom prst="rect">
              <a:avLst/>
            </a:prstGeom>
          </p:spPr>
          <p:txBody>
            <a:bodyPr lIns="50800" tIns="50800" rIns="50800" bIns="50800" rtlCol="0" anchor="ctr"/>
            <a:lstStyle/>
            <a:p>
              <a:pPr marL="0" lvl="0" indent="0" algn="ctr">
                <a:lnSpc>
                  <a:spcPts val="2160"/>
                </a:lnSpc>
                <a:spcBef>
                  <a:spcPct val="0"/>
                </a:spcBef>
              </a:pPr>
              <a:endParaRPr/>
            </a:p>
          </p:txBody>
        </p:sp>
      </p:grpSp>
      <p:grpSp>
        <p:nvGrpSpPr>
          <p:cNvPr id="21" name="Group 21"/>
          <p:cNvGrpSpPr/>
          <p:nvPr/>
        </p:nvGrpSpPr>
        <p:grpSpPr>
          <a:xfrm>
            <a:off x="13655248" y="2390948"/>
            <a:ext cx="3973343" cy="6141052"/>
            <a:chOff x="0" y="0"/>
            <a:chExt cx="1046477" cy="1617396"/>
          </a:xfrm>
        </p:grpSpPr>
        <p:sp>
          <p:nvSpPr>
            <p:cNvPr id="22" name="Freeform 22"/>
            <p:cNvSpPr/>
            <p:nvPr/>
          </p:nvSpPr>
          <p:spPr>
            <a:xfrm>
              <a:off x="0" y="0"/>
              <a:ext cx="1046477" cy="1617396"/>
            </a:xfrm>
            <a:custGeom>
              <a:avLst/>
              <a:gdLst/>
              <a:ahLst/>
              <a:cxnLst/>
              <a:rect l="l" t="t" r="r" b="b"/>
              <a:pathLst>
                <a:path w="1046477" h="1617396">
                  <a:moveTo>
                    <a:pt x="101320" y="0"/>
                  </a:moveTo>
                  <a:lnTo>
                    <a:pt x="945157" y="0"/>
                  </a:lnTo>
                  <a:cubicBezTo>
                    <a:pt x="1001114" y="0"/>
                    <a:pt x="1046477" y="45363"/>
                    <a:pt x="1046477" y="101320"/>
                  </a:cubicBezTo>
                  <a:lnTo>
                    <a:pt x="1046477" y="1516076"/>
                  </a:lnTo>
                  <a:cubicBezTo>
                    <a:pt x="1046477" y="1542948"/>
                    <a:pt x="1035802" y="1568719"/>
                    <a:pt x="1016801" y="1587720"/>
                  </a:cubicBezTo>
                  <a:cubicBezTo>
                    <a:pt x="997800" y="1606722"/>
                    <a:pt x="972029" y="1617396"/>
                    <a:pt x="945157" y="1617396"/>
                  </a:cubicBezTo>
                  <a:lnTo>
                    <a:pt x="101320" y="1617396"/>
                  </a:lnTo>
                  <a:cubicBezTo>
                    <a:pt x="74448" y="1617396"/>
                    <a:pt x="48677" y="1606722"/>
                    <a:pt x="29676" y="1587720"/>
                  </a:cubicBezTo>
                  <a:cubicBezTo>
                    <a:pt x="10675" y="1568719"/>
                    <a:pt x="0" y="1542948"/>
                    <a:pt x="0" y="1516076"/>
                  </a:cubicBezTo>
                  <a:lnTo>
                    <a:pt x="0" y="101320"/>
                  </a:lnTo>
                  <a:cubicBezTo>
                    <a:pt x="0" y="74448"/>
                    <a:pt x="10675" y="48677"/>
                    <a:pt x="29676" y="29676"/>
                  </a:cubicBezTo>
                  <a:cubicBezTo>
                    <a:pt x="48677" y="10675"/>
                    <a:pt x="74448" y="0"/>
                    <a:pt x="101320" y="0"/>
                  </a:cubicBezTo>
                  <a:close/>
                </a:path>
              </a:pathLst>
            </a:custGeom>
            <a:solidFill>
              <a:srgbClr val="E1A8F0"/>
            </a:solidFill>
            <a:ln cap="rnd">
              <a:noFill/>
              <a:prstDash val="solid"/>
              <a:round/>
            </a:ln>
          </p:spPr>
        </p:sp>
        <p:sp>
          <p:nvSpPr>
            <p:cNvPr id="23" name="TextBox 23"/>
            <p:cNvSpPr txBox="1"/>
            <p:nvPr/>
          </p:nvSpPr>
          <p:spPr>
            <a:xfrm>
              <a:off x="0" y="-9525"/>
              <a:ext cx="1046477" cy="1626921"/>
            </a:xfrm>
            <a:prstGeom prst="rect">
              <a:avLst/>
            </a:prstGeom>
          </p:spPr>
          <p:txBody>
            <a:bodyPr lIns="50800" tIns="50800" rIns="50800" bIns="50800" rtlCol="0" anchor="ctr"/>
            <a:lstStyle/>
            <a:p>
              <a:pPr marL="0" lvl="0" indent="0" algn="ctr">
                <a:lnSpc>
                  <a:spcPts val="2160"/>
                </a:lnSpc>
                <a:spcBef>
                  <a:spcPct val="0"/>
                </a:spcBef>
              </a:pPr>
              <a:endParaRPr/>
            </a:p>
          </p:txBody>
        </p:sp>
      </p:grpSp>
      <p:sp>
        <p:nvSpPr>
          <p:cNvPr id="24" name="TextBox 24"/>
          <p:cNvSpPr txBox="1"/>
          <p:nvPr/>
        </p:nvSpPr>
        <p:spPr>
          <a:xfrm>
            <a:off x="919817" y="3225718"/>
            <a:ext cx="3327918" cy="4750703"/>
          </a:xfrm>
          <a:prstGeom prst="rect">
            <a:avLst/>
          </a:prstGeom>
        </p:spPr>
        <p:txBody>
          <a:bodyPr lIns="0" tIns="0" rIns="0" bIns="0" rtlCol="0" anchor="t">
            <a:spAutoFit/>
          </a:bodyPr>
          <a:lstStyle/>
          <a:p>
            <a:pPr algn="ctr">
              <a:lnSpc>
                <a:spcPts val="3780"/>
              </a:lnSpc>
            </a:pPr>
            <a:r>
              <a:rPr lang="en-US" sz="2700">
                <a:solidFill>
                  <a:srgbClr val="000000"/>
                </a:solidFill>
                <a:latin typeface="Canva Sans"/>
                <a:ea typeface="Canva Sans"/>
                <a:cs typeface="Canva Sans"/>
                <a:sym typeface="Canva Sans"/>
              </a:rPr>
              <a:t>Establish the Multimodal Baseline: Validate the Python-based architecture designed to extract and fuse data from video, audio, and text inputs. </a:t>
            </a:r>
          </a:p>
          <a:p>
            <a:pPr algn="ctr">
              <a:lnSpc>
                <a:spcPts val="3780"/>
              </a:lnSpc>
            </a:pPr>
            <a:endParaRPr lang="en-US" sz="2700">
              <a:solidFill>
                <a:srgbClr val="000000"/>
              </a:solidFill>
              <a:latin typeface="Canva Sans"/>
              <a:ea typeface="Canva Sans"/>
              <a:cs typeface="Canva Sans"/>
              <a:sym typeface="Canva Sans"/>
            </a:endParaRPr>
          </a:p>
        </p:txBody>
      </p:sp>
      <p:sp>
        <p:nvSpPr>
          <p:cNvPr id="25" name="TextBox 25"/>
          <p:cNvSpPr txBox="1"/>
          <p:nvPr/>
        </p:nvSpPr>
        <p:spPr>
          <a:xfrm>
            <a:off x="5317390" y="3225718"/>
            <a:ext cx="3327918" cy="4274490"/>
          </a:xfrm>
          <a:prstGeom prst="rect">
            <a:avLst/>
          </a:prstGeom>
        </p:spPr>
        <p:txBody>
          <a:bodyPr lIns="0" tIns="0" rIns="0" bIns="0" rtlCol="0" anchor="t">
            <a:spAutoFit/>
          </a:bodyPr>
          <a:lstStyle/>
          <a:p>
            <a:pPr algn="ctr">
              <a:lnSpc>
                <a:spcPts val="3780"/>
              </a:lnSpc>
            </a:pPr>
            <a:r>
              <a:rPr lang="en-US" sz="2700">
                <a:solidFill>
                  <a:srgbClr val="000000"/>
                </a:solidFill>
                <a:latin typeface="Canva Sans"/>
                <a:ea typeface="Canva Sans"/>
                <a:cs typeface="Canva Sans"/>
                <a:sym typeface="Canva Sans"/>
              </a:rPr>
              <a:t>Prove Accuracy: Ensure the combined multimodal approach successfully outperforms single-modality emotion recognition. </a:t>
            </a:r>
          </a:p>
        </p:txBody>
      </p:sp>
      <p:sp>
        <p:nvSpPr>
          <p:cNvPr id="26" name="TextBox 26"/>
          <p:cNvSpPr txBox="1"/>
          <p:nvPr/>
        </p:nvSpPr>
        <p:spPr>
          <a:xfrm>
            <a:off x="9666112" y="3225718"/>
            <a:ext cx="3327918" cy="4750703"/>
          </a:xfrm>
          <a:prstGeom prst="rect">
            <a:avLst/>
          </a:prstGeom>
        </p:spPr>
        <p:txBody>
          <a:bodyPr lIns="0" tIns="0" rIns="0" bIns="0" rtlCol="0" anchor="t">
            <a:spAutoFit/>
          </a:bodyPr>
          <a:lstStyle/>
          <a:p>
            <a:pPr algn="ctr">
              <a:lnSpc>
                <a:spcPts val="3780"/>
              </a:lnSpc>
            </a:pPr>
            <a:r>
              <a:rPr lang="en-US" sz="2700">
                <a:solidFill>
                  <a:srgbClr val="000000"/>
                </a:solidFill>
                <a:latin typeface="Canva Sans"/>
                <a:ea typeface="Canva Sans"/>
                <a:cs typeface="Canva Sans"/>
                <a:sym typeface="Canva Sans"/>
              </a:rPr>
              <a:t>Finalize the Web Platform UI: Complete the intuitive portal designed for therapists to securely upload consultation files and review automated insights. </a:t>
            </a:r>
          </a:p>
        </p:txBody>
      </p:sp>
      <p:sp>
        <p:nvSpPr>
          <p:cNvPr id="27" name="TextBox 27"/>
          <p:cNvSpPr txBox="1"/>
          <p:nvPr/>
        </p:nvSpPr>
        <p:spPr>
          <a:xfrm>
            <a:off x="13931382" y="2987612"/>
            <a:ext cx="3327918" cy="5226917"/>
          </a:xfrm>
          <a:prstGeom prst="rect">
            <a:avLst/>
          </a:prstGeom>
        </p:spPr>
        <p:txBody>
          <a:bodyPr lIns="0" tIns="0" rIns="0" bIns="0" rtlCol="0" anchor="t">
            <a:spAutoFit/>
          </a:bodyPr>
          <a:lstStyle/>
          <a:p>
            <a:pPr algn="ctr">
              <a:lnSpc>
                <a:spcPts val="3780"/>
              </a:lnSpc>
            </a:pPr>
            <a:r>
              <a:rPr lang="en-US" sz="2700">
                <a:solidFill>
                  <a:srgbClr val="000000"/>
                </a:solidFill>
                <a:latin typeface="Canva Sans"/>
                <a:ea typeface="Canva Sans"/>
                <a:cs typeface="Canva Sans"/>
                <a:sym typeface="Canva Sans"/>
              </a:rPr>
              <a:t>System Integration: Connect the completed frontend web interface with the Python machine learning backend to enable seamless data routing and secure file processing.</a:t>
            </a:r>
          </a:p>
        </p:txBody>
      </p:sp>
    </p:spTree>
  </p:cSld>
  <p:clrMapOvr>
    <a:masterClrMapping/>
  </p:clrMapOvr>
  <p:transition>
    <p:cove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121140"/>
            <a:ext cx="1257300" cy="1185739"/>
            <a:chOff x="0" y="0"/>
            <a:chExt cx="1676400" cy="1580985"/>
          </a:xfrm>
        </p:grpSpPr>
        <p:sp>
          <p:nvSpPr>
            <p:cNvPr id="3" name="Freeform 3"/>
            <p:cNvSpPr/>
            <p:nvPr/>
          </p:nvSpPr>
          <p:spPr>
            <a:xfrm>
              <a:off x="0" y="0"/>
              <a:ext cx="1676400" cy="1581023"/>
            </a:xfrm>
            <a:custGeom>
              <a:avLst/>
              <a:gdLst/>
              <a:ahLst/>
              <a:cxnLst/>
              <a:rect l="l" t="t" r="r" b="b"/>
              <a:pathLst>
                <a:path w="1676400" h="1581023">
                  <a:moveTo>
                    <a:pt x="0" y="0"/>
                  </a:moveTo>
                  <a:lnTo>
                    <a:pt x="1676400" y="0"/>
                  </a:lnTo>
                  <a:lnTo>
                    <a:pt x="1676400" y="1581023"/>
                  </a:lnTo>
                  <a:lnTo>
                    <a:pt x="0" y="1581023"/>
                  </a:lnTo>
                  <a:close/>
                </a:path>
              </a:pathLst>
            </a:custGeom>
            <a:solidFill>
              <a:srgbClr val="A42530"/>
            </a:solidFill>
          </p:spPr>
        </p:sp>
      </p:grpSp>
      <p:grpSp>
        <p:nvGrpSpPr>
          <p:cNvPr id="4" name="Group 4"/>
          <p:cNvGrpSpPr/>
          <p:nvPr/>
        </p:nvGrpSpPr>
        <p:grpSpPr>
          <a:xfrm>
            <a:off x="15254411" y="9534525"/>
            <a:ext cx="3033589" cy="772354"/>
            <a:chOff x="0" y="0"/>
            <a:chExt cx="4044785" cy="1029805"/>
          </a:xfrm>
        </p:grpSpPr>
        <p:sp>
          <p:nvSpPr>
            <p:cNvPr id="5" name="Freeform 5"/>
            <p:cNvSpPr/>
            <p:nvPr/>
          </p:nvSpPr>
          <p:spPr>
            <a:xfrm>
              <a:off x="0" y="0"/>
              <a:ext cx="4044823" cy="1029843"/>
            </a:xfrm>
            <a:custGeom>
              <a:avLst/>
              <a:gdLst/>
              <a:ahLst/>
              <a:cxnLst/>
              <a:rect l="l" t="t" r="r" b="b"/>
              <a:pathLst>
                <a:path w="4044823" h="1029843">
                  <a:moveTo>
                    <a:pt x="0" y="0"/>
                  </a:moveTo>
                  <a:lnTo>
                    <a:pt x="4044823" y="0"/>
                  </a:lnTo>
                  <a:lnTo>
                    <a:pt x="4044823" y="1029843"/>
                  </a:lnTo>
                  <a:lnTo>
                    <a:pt x="0" y="1029843"/>
                  </a:lnTo>
                  <a:close/>
                </a:path>
              </a:pathLst>
            </a:custGeom>
            <a:solidFill>
              <a:srgbClr val="D9222A"/>
            </a:solidFill>
          </p:spPr>
        </p:sp>
      </p:grpSp>
      <p:grpSp>
        <p:nvGrpSpPr>
          <p:cNvPr id="6" name="Group 6"/>
          <p:cNvGrpSpPr/>
          <p:nvPr/>
        </p:nvGrpSpPr>
        <p:grpSpPr>
          <a:xfrm>
            <a:off x="1257300" y="9594894"/>
            <a:ext cx="13997121" cy="772354"/>
            <a:chOff x="0" y="0"/>
            <a:chExt cx="18662828" cy="1029805"/>
          </a:xfrm>
        </p:grpSpPr>
        <p:sp>
          <p:nvSpPr>
            <p:cNvPr id="7" name="Freeform 7"/>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8" name="Group 8"/>
          <p:cNvGrpSpPr/>
          <p:nvPr/>
        </p:nvGrpSpPr>
        <p:grpSpPr>
          <a:xfrm>
            <a:off x="8142813" y="812740"/>
            <a:ext cx="4658986" cy="6883384"/>
            <a:chOff x="0" y="0"/>
            <a:chExt cx="5904662" cy="8723798"/>
          </a:xfrm>
        </p:grpSpPr>
        <p:sp>
          <p:nvSpPr>
            <p:cNvPr id="9" name="Freeform 9"/>
            <p:cNvSpPr/>
            <p:nvPr/>
          </p:nvSpPr>
          <p:spPr>
            <a:xfrm>
              <a:off x="0" y="0"/>
              <a:ext cx="5904611" cy="8723810"/>
            </a:xfrm>
            <a:custGeom>
              <a:avLst/>
              <a:gdLst/>
              <a:ahLst/>
              <a:cxnLst/>
              <a:rect l="l" t="t" r="r" b="b"/>
              <a:pathLst>
                <a:path w="5904611" h="8723810">
                  <a:moveTo>
                    <a:pt x="0" y="0"/>
                  </a:moveTo>
                  <a:lnTo>
                    <a:pt x="5904611" y="0"/>
                  </a:lnTo>
                  <a:lnTo>
                    <a:pt x="5904611" y="8723810"/>
                  </a:lnTo>
                  <a:lnTo>
                    <a:pt x="0" y="8723810"/>
                  </a:lnTo>
                  <a:lnTo>
                    <a:pt x="0" y="0"/>
                  </a:lnTo>
                  <a:close/>
                </a:path>
              </a:pathLst>
            </a:custGeom>
            <a:blipFill>
              <a:blip r:embed="rId2"/>
              <a:stretch>
                <a:fillRect l="-4651" r="-9096" b="-11413"/>
              </a:stretch>
            </a:blipFill>
          </p:spPr>
        </p:sp>
      </p:grpSp>
      <p:sp>
        <p:nvSpPr>
          <p:cNvPr id="10" name="TextBox 10"/>
          <p:cNvSpPr txBox="1"/>
          <p:nvPr/>
        </p:nvSpPr>
        <p:spPr>
          <a:xfrm>
            <a:off x="11391736" y="336490"/>
            <a:ext cx="2176422" cy="428625"/>
          </a:xfrm>
          <a:prstGeom prst="rect">
            <a:avLst/>
          </a:prstGeom>
        </p:spPr>
        <p:txBody>
          <a:bodyPr lIns="0" tIns="0" rIns="0" bIns="0" rtlCol="0" anchor="t">
            <a:spAutoFit/>
          </a:bodyPr>
          <a:lstStyle/>
          <a:p>
            <a:pPr algn="ctr">
              <a:lnSpc>
                <a:spcPts val="3239"/>
              </a:lnSpc>
            </a:pPr>
            <a:r>
              <a:rPr lang="en-US" sz="2699" b="1">
                <a:solidFill>
                  <a:srgbClr val="000000"/>
                </a:solidFill>
                <a:latin typeface="Times New Roman Bold"/>
                <a:ea typeface="Times New Roman Bold"/>
                <a:cs typeface="Times New Roman Bold"/>
                <a:sym typeface="Times New Roman Bold"/>
              </a:rPr>
              <a:t>Transformer</a:t>
            </a:r>
          </a:p>
        </p:txBody>
      </p:sp>
      <p:sp>
        <p:nvSpPr>
          <p:cNvPr id="11" name="TextBox 11"/>
          <p:cNvSpPr txBox="1"/>
          <p:nvPr/>
        </p:nvSpPr>
        <p:spPr>
          <a:xfrm>
            <a:off x="1806210" y="326965"/>
            <a:ext cx="4677661" cy="485775"/>
          </a:xfrm>
          <a:prstGeom prst="rect">
            <a:avLst/>
          </a:prstGeom>
        </p:spPr>
        <p:txBody>
          <a:bodyPr lIns="0" tIns="0" rIns="0" bIns="0" rtlCol="0" anchor="t">
            <a:spAutoFit/>
          </a:bodyPr>
          <a:lstStyle/>
          <a:p>
            <a:pPr algn="ctr">
              <a:lnSpc>
                <a:spcPts val="3600"/>
              </a:lnSpc>
            </a:pPr>
            <a:r>
              <a:rPr lang="en-US" sz="3000" b="1">
                <a:solidFill>
                  <a:srgbClr val="000000"/>
                </a:solidFill>
                <a:latin typeface="Times New Roman Bold"/>
                <a:ea typeface="Times New Roman Bold"/>
                <a:cs typeface="Times New Roman Bold"/>
                <a:sym typeface="Times New Roman Bold"/>
              </a:rPr>
              <a:t>Methodology</a:t>
            </a:r>
          </a:p>
        </p:txBody>
      </p:sp>
      <p:grpSp>
        <p:nvGrpSpPr>
          <p:cNvPr id="12" name="Group 12"/>
          <p:cNvGrpSpPr/>
          <p:nvPr/>
        </p:nvGrpSpPr>
        <p:grpSpPr>
          <a:xfrm>
            <a:off x="16902182" y="0"/>
            <a:ext cx="1452818" cy="968896"/>
            <a:chOff x="0" y="0"/>
            <a:chExt cx="1937090" cy="1291861"/>
          </a:xfrm>
        </p:grpSpPr>
        <p:sp>
          <p:nvSpPr>
            <p:cNvPr id="13" name="Freeform 13"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grpSp>
        <p:nvGrpSpPr>
          <p:cNvPr id="14" name="Group 14"/>
          <p:cNvGrpSpPr/>
          <p:nvPr/>
        </p:nvGrpSpPr>
        <p:grpSpPr>
          <a:xfrm>
            <a:off x="13773708" y="9150097"/>
            <a:ext cx="4868602" cy="1217151"/>
            <a:chOff x="0" y="0"/>
            <a:chExt cx="6491470" cy="1622868"/>
          </a:xfrm>
        </p:grpSpPr>
        <p:sp>
          <p:nvSpPr>
            <p:cNvPr id="15" name="Freeform 15"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4"/>
              <a:stretch>
                <a:fillRect b="-3"/>
              </a:stretch>
            </a:blipFill>
          </p:spPr>
        </p:sp>
      </p:grpSp>
      <p:grpSp>
        <p:nvGrpSpPr>
          <p:cNvPr id="16" name="Group 16"/>
          <p:cNvGrpSpPr/>
          <p:nvPr/>
        </p:nvGrpSpPr>
        <p:grpSpPr>
          <a:xfrm>
            <a:off x="258291" y="933822"/>
            <a:ext cx="7430599" cy="8066236"/>
            <a:chOff x="0" y="0"/>
            <a:chExt cx="11134725" cy="12087225"/>
          </a:xfrm>
        </p:grpSpPr>
        <p:sp>
          <p:nvSpPr>
            <p:cNvPr id="17" name="Freeform 17"/>
            <p:cNvSpPr/>
            <p:nvPr/>
          </p:nvSpPr>
          <p:spPr>
            <a:xfrm>
              <a:off x="0" y="0"/>
              <a:ext cx="11134725" cy="12087225"/>
            </a:xfrm>
            <a:custGeom>
              <a:avLst/>
              <a:gdLst/>
              <a:ahLst/>
              <a:cxnLst/>
              <a:rect l="l" t="t" r="r" b="b"/>
              <a:pathLst>
                <a:path w="11134725" h="12087225">
                  <a:moveTo>
                    <a:pt x="0" y="0"/>
                  </a:moveTo>
                  <a:lnTo>
                    <a:pt x="11134725" y="0"/>
                  </a:lnTo>
                  <a:lnTo>
                    <a:pt x="11134725" y="12087225"/>
                  </a:lnTo>
                  <a:lnTo>
                    <a:pt x="0" y="12087225"/>
                  </a:lnTo>
                  <a:lnTo>
                    <a:pt x="0" y="0"/>
                  </a:lnTo>
                  <a:close/>
                </a:path>
              </a:pathLst>
            </a:custGeom>
            <a:blipFill>
              <a:blip r:embed="rId5"/>
              <a:stretch>
                <a:fillRect l="-29399" t="-6292" r="-36766" b="-8511"/>
              </a:stretch>
            </a:blipFill>
          </p:spPr>
        </p:sp>
      </p:grpSp>
      <p:grpSp>
        <p:nvGrpSpPr>
          <p:cNvPr id="18" name="Group 18"/>
          <p:cNvGrpSpPr/>
          <p:nvPr/>
        </p:nvGrpSpPr>
        <p:grpSpPr>
          <a:xfrm>
            <a:off x="14677761" y="4781664"/>
            <a:ext cx="2052228" cy="3369554"/>
            <a:chOff x="0" y="0"/>
            <a:chExt cx="2736304" cy="4492739"/>
          </a:xfrm>
        </p:grpSpPr>
        <p:sp>
          <p:nvSpPr>
            <p:cNvPr id="19" name="Freeform 19"/>
            <p:cNvSpPr/>
            <p:nvPr/>
          </p:nvSpPr>
          <p:spPr>
            <a:xfrm>
              <a:off x="0" y="0"/>
              <a:ext cx="2736342" cy="4492752"/>
            </a:xfrm>
            <a:custGeom>
              <a:avLst/>
              <a:gdLst/>
              <a:ahLst/>
              <a:cxnLst/>
              <a:rect l="l" t="t" r="r" b="b"/>
              <a:pathLst>
                <a:path w="2736342" h="4492752">
                  <a:moveTo>
                    <a:pt x="0" y="0"/>
                  </a:moveTo>
                  <a:lnTo>
                    <a:pt x="2736342" y="0"/>
                  </a:lnTo>
                  <a:lnTo>
                    <a:pt x="2736342" y="4492752"/>
                  </a:lnTo>
                  <a:lnTo>
                    <a:pt x="0" y="4492752"/>
                  </a:lnTo>
                  <a:lnTo>
                    <a:pt x="0" y="0"/>
                  </a:lnTo>
                  <a:close/>
                </a:path>
              </a:pathLst>
            </a:custGeom>
            <a:blipFill>
              <a:blip r:embed="rId6"/>
              <a:stretch>
                <a:fillRect l="-16246" t="-2376" r="-172123"/>
              </a:stretch>
            </a:blipFill>
          </p:spPr>
        </p:sp>
      </p:grpSp>
      <p:sp>
        <p:nvSpPr>
          <p:cNvPr id="21" name="Freeform 21"/>
          <p:cNvSpPr/>
          <p:nvPr/>
        </p:nvSpPr>
        <p:spPr>
          <a:xfrm>
            <a:off x="14591665" y="1135885"/>
            <a:ext cx="2224374" cy="3369564"/>
          </a:xfrm>
          <a:custGeom>
            <a:avLst/>
            <a:gdLst/>
            <a:ahLst/>
            <a:cxnLst/>
            <a:rect l="l" t="t" r="r" b="b"/>
            <a:pathLst>
              <a:path w="2965831" h="4492752">
                <a:moveTo>
                  <a:pt x="0" y="0"/>
                </a:moveTo>
                <a:lnTo>
                  <a:pt x="2965831" y="0"/>
                </a:lnTo>
                <a:lnTo>
                  <a:pt x="2965831" y="4492752"/>
                </a:lnTo>
                <a:lnTo>
                  <a:pt x="0" y="4492752"/>
                </a:lnTo>
                <a:lnTo>
                  <a:pt x="0" y="0"/>
                </a:lnTo>
                <a:close/>
              </a:path>
            </a:pathLst>
          </a:custGeom>
          <a:blipFill>
            <a:blip r:embed="rId6"/>
            <a:stretch>
              <a:fillRect l="-163156" t="-2376" r="-2900"/>
            </a:stretch>
          </a:blipFill>
        </p:spPr>
      </p:sp>
      <p:grpSp>
        <p:nvGrpSpPr>
          <p:cNvPr id="22" name="Group 22"/>
          <p:cNvGrpSpPr/>
          <p:nvPr/>
        </p:nvGrpSpPr>
        <p:grpSpPr>
          <a:xfrm>
            <a:off x="12211710" y="7044138"/>
            <a:ext cx="4203821" cy="2214162"/>
            <a:chOff x="0" y="0"/>
            <a:chExt cx="5605094" cy="2952217"/>
          </a:xfrm>
        </p:grpSpPr>
        <p:sp>
          <p:nvSpPr>
            <p:cNvPr id="23" name="Freeform 23"/>
            <p:cNvSpPr/>
            <p:nvPr/>
          </p:nvSpPr>
          <p:spPr>
            <a:xfrm>
              <a:off x="0" y="0"/>
              <a:ext cx="5605145" cy="2952242"/>
            </a:xfrm>
            <a:custGeom>
              <a:avLst/>
              <a:gdLst/>
              <a:ahLst/>
              <a:cxnLst/>
              <a:rect l="l" t="t" r="r" b="b"/>
              <a:pathLst>
                <a:path w="5605145" h="2952242">
                  <a:moveTo>
                    <a:pt x="0" y="0"/>
                  </a:moveTo>
                  <a:lnTo>
                    <a:pt x="5605145" y="0"/>
                  </a:lnTo>
                  <a:lnTo>
                    <a:pt x="5605145" y="2952242"/>
                  </a:lnTo>
                  <a:lnTo>
                    <a:pt x="0" y="2952242"/>
                  </a:lnTo>
                  <a:lnTo>
                    <a:pt x="0" y="0"/>
                  </a:lnTo>
                  <a:close/>
                </a:path>
              </a:pathLst>
            </a:custGeom>
            <a:blipFill>
              <a:blip r:embed="rId7"/>
              <a:stretch>
                <a:fillRect/>
              </a:stretch>
            </a:blipFill>
          </p:spPr>
        </p:sp>
      </p:grpSp>
    </p:spTree>
  </p:cSld>
  <p:clrMapOvr>
    <a:masterClrMapping/>
  </p:clrMapOvr>
  <p:transition>
    <p:cove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121140"/>
            <a:ext cx="1257300" cy="1185739"/>
            <a:chOff x="0" y="0"/>
            <a:chExt cx="1676400" cy="1580985"/>
          </a:xfrm>
        </p:grpSpPr>
        <p:sp>
          <p:nvSpPr>
            <p:cNvPr id="3" name="Freeform 3"/>
            <p:cNvSpPr/>
            <p:nvPr/>
          </p:nvSpPr>
          <p:spPr>
            <a:xfrm>
              <a:off x="0" y="0"/>
              <a:ext cx="1676400" cy="1581023"/>
            </a:xfrm>
            <a:custGeom>
              <a:avLst/>
              <a:gdLst/>
              <a:ahLst/>
              <a:cxnLst/>
              <a:rect l="l" t="t" r="r" b="b"/>
              <a:pathLst>
                <a:path w="1676400" h="1581023">
                  <a:moveTo>
                    <a:pt x="0" y="0"/>
                  </a:moveTo>
                  <a:lnTo>
                    <a:pt x="1676400" y="0"/>
                  </a:lnTo>
                  <a:lnTo>
                    <a:pt x="1676400" y="1581023"/>
                  </a:lnTo>
                  <a:lnTo>
                    <a:pt x="0" y="1581023"/>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370827" y="9341517"/>
            <a:ext cx="3917173" cy="979293"/>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Freeform 10"/>
          <p:cNvSpPr/>
          <p:nvPr/>
        </p:nvSpPr>
        <p:spPr>
          <a:xfrm>
            <a:off x="1475133" y="1197438"/>
            <a:ext cx="15337733" cy="6949910"/>
          </a:xfrm>
          <a:custGeom>
            <a:avLst/>
            <a:gdLst/>
            <a:ahLst/>
            <a:cxnLst/>
            <a:rect l="l" t="t" r="r" b="b"/>
            <a:pathLst>
              <a:path w="15337733" h="6949910">
                <a:moveTo>
                  <a:pt x="0" y="0"/>
                </a:moveTo>
                <a:lnTo>
                  <a:pt x="15337734" y="0"/>
                </a:lnTo>
                <a:lnTo>
                  <a:pt x="15337734" y="6949911"/>
                </a:lnTo>
                <a:lnTo>
                  <a:pt x="0" y="6949911"/>
                </a:lnTo>
                <a:lnTo>
                  <a:pt x="0" y="0"/>
                </a:lnTo>
                <a:close/>
              </a:path>
            </a:pathLst>
          </a:custGeom>
          <a:blipFill>
            <a:blip r:embed="rId4"/>
            <a:stretch>
              <a:fillRect/>
            </a:stretch>
          </a:blipFill>
        </p:spPr>
        <p:txBody>
          <a:bodyPr/>
          <a:lstStyle/>
          <a:p>
            <a:endParaRPr lang="en-IN" dirty="0"/>
          </a:p>
        </p:txBody>
      </p:sp>
    </p:spTree>
  </p:cSld>
  <p:clrMapOvr>
    <a:masterClrMapping/>
  </p:clrMapOvr>
  <p:transition>
    <p:cove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Freeform 10"/>
          <p:cNvSpPr/>
          <p:nvPr/>
        </p:nvSpPr>
        <p:spPr>
          <a:xfrm>
            <a:off x="1129501" y="1028700"/>
            <a:ext cx="16028999" cy="7533629"/>
          </a:xfrm>
          <a:custGeom>
            <a:avLst/>
            <a:gdLst/>
            <a:ahLst/>
            <a:cxnLst/>
            <a:rect l="l" t="t" r="r" b="b"/>
            <a:pathLst>
              <a:path w="16028999" h="7533629">
                <a:moveTo>
                  <a:pt x="0" y="0"/>
                </a:moveTo>
                <a:lnTo>
                  <a:pt x="16028998" y="0"/>
                </a:lnTo>
                <a:lnTo>
                  <a:pt x="16028998" y="7533629"/>
                </a:lnTo>
                <a:lnTo>
                  <a:pt x="0" y="7533629"/>
                </a:lnTo>
                <a:lnTo>
                  <a:pt x="0" y="0"/>
                </a:lnTo>
                <a:close/>
              </a:path>
            </a:pathLst>
          </a:custGeom>
          <a:blipFill>
            <a:blip r:embed="rId4"/>
            <a:stretch>
              <a:fillRect/>
            </a:stretch>
          </a:blipFill>
        </p:spPr>
      </p:sp>
    </p:spTree>
  </p:cSld>
  <p:clrMapOvr>
    <a:masterClrMapping/>
  </p:clrMapOvr>
  <p:transition>
    <p:cove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9"/>
          <p:cNvSpPr txBox="1"/>
          <p:nvPr/>
        </p:nvSpPr>
        <p:spPr>
          <a:xfrm>
            <a:off x="6312741" y="545515"/>
            <a:ext cx="3886200" cy="707886"/>
          </a:xfrm>
          <a:prstGeom prst="rect">
            <a:avLst/>
          </a:prstGeom>
          <a:noFill/>
        </p:spPr>
        <p:txBody>
          <a:bodyPr wrap="square" anchor="t">
            <a:spAutoFit/>
          </a:bodyPr>
          <a:lstStyle/>
          <a:p>
            <a:pPr algn="l">
              <a:spcBef>
                <a:spcPts val="0"/>
              </a:spcBef>
            </a:pPr>
            <a:r>
              <a:rPr sz="4000" b="1" dirty="0">
                <a:solidFill>
                  <a:srgbClr val="004AAD"/>
                </a:solidFill>
                <a:latin typeface="Canva Sans Bold"/>
              </a:rPr>
              <a:t>Methodology</a:t>
            </a:r>
          </a:p>
        </p:txBody>
      </p:sp>
      <p:sp>
        <p:nvSpPr>
          <p:cNvPr id="11" name="TextBox 10"/>
          <p:cNvSpPr txBox="1"/>
          <p:nvPr/>
        </p:nvSpPr>
        <p:spPr>
          <a:xfrm>
            <a:off x="1143000" y="8082272"/>
            <a:ext cx="15910559" cy="400110"/>
          </a:xfrm>
          <a:prstGeom prst="rect">
            <a:avLst/>
          </a:prstGeom>
          <a:noFill/>
        </p:spPr>
        <p:txBody>
          <a:bodyPr wrap="square" anchor="t">
            <a:spAutoFit/>
          </a:bodyPr>
          <a:lstStyle/>
          <a:p>
            <a:pPr algn="l">
              <a:spcBef>
                <a:spcPts val="0"/>
              </a:spcBef>
            </a:pPr>
            <a:r>
              <a:rPr sz="2000" b="0" dirty="0">
                <a:solidFill>
                  <a:schemeClr val="tx2"/>
                </a:solidFill>
                <a:latin typeface="Canva Sans"/>
              </a:rPr>
              <a:t>Three encoders read three signals; one pool decides. Every stage is measured on its own before anything is combined.</a:t>
            </a:r>
          </a:p>
        </p:txBody>
      </p:sp>
      <p:sp>
        <p:nvSpPr>
          <p:cNvPr id="12" name="Rectangle 11"/>
          <p:cNvSpPr/>
          <p:nvPr/>
        </p:nvSpPr>
        <p:spPr>
          <a:xfrm>
            <a:off x="1143000" y="2514600"/>
            <a:ext cx="4892040" cy="50292"/>
          </a:xfrm>
          <a:prstGeom prst="rect">
            <a:avLst/>
          </a:prstGeom>
          <a:solidFill>
            <a:srgbClr val="004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3000" y="2715768"/>
            <a:ext cx="4892040" cy="3877985"/>
          </a:xfrm>
          <a:prstGeom prst="rect">
            <a:avLst/>
          </a:prstGeom>
          <a:solidFill>
            <a:schemeClr val="accent1">
              <a:lumMod val="20000"/>
              <a:lumOff val="80000"/>
            </a:schemeClr>
          </a:solidFill>
          <a:ln>
            <a:noFill/>
          </a:ln>
        </p:spPr>
        <p:style>
          <a:lnRef idx="2">
            <a:schemeClr val="accent1"/>
          </a:lnRef>
          <a:fillRef idx="1">
            <a:schemeClr val="lt1"/>
          </a:fillRef>
          <a:effectRef idx="0">
            <a:schemeClr val="accent1"/>
          </a:effectRef>
          <a:fontRef idx="minor">
            <a:schemeClr val="dk1"/>
          </a:fontRef>
        </p:style>
        <p:txBody>
          <a:bodyPr wrap="square" anchor="t">
            <a:spAutoFit/>
          </a:bodyPr>
          <a:lstStyle/>
          <a:p>
            <a:pPr algn="l">
              <a:spcBef>
                <a:spcPts val="0"/>
              </a:spcBef>
            </a:pPr>
            <a:r>
              <a:rPr sz="2300" b="1" dirty="0">
                <a:solidFill>
                  <a:srgbClr val="004AAD"/>
                </a:solidFill>
                <a:latin typeface="Canva Sans Bold"/>
              </a:rPr>
              <a:t>1 · Read each signal</a:t>
            </a:r>
            <a:endParaRPr lang="en-US" sz="2300" b="1" dirty="0">
              <a:solidFill>
                <a:srgbClr val="004AAD"/>
              </a:solidFill>
              <a:latin typeface="Canva Sans Bold"/>
            </a:endParaRPr>
          </a:p>
          <a:p>
            <a:pPr algn="l">
              <a:spcBef>
                <a:spcPts val="0"/>
              </a:spcBef>
            </a:pPr>
            <a:endParaRPr sz="2300" b="1" dirty="0">
              <a:solidFill>
                <a:srgbClr val="004AAD"/>
              </a:solidFill>
              <a:latin typeface="Canva Sans Bold"/>
            </a:endParaRPr>
          </a:p>
          <a:p>
            <a:pPr>
              <a:spcBef>
                <a:spcPts val="900"/>
              </a:spcBef>
            </a:pPr>
            <a:r>
              <a:rPr sz="1700" b="0" dirty="0">
                <a:solidFill>
                  <a:srgbClr val="1E2936"/>
                </a:solidFill>
                <a:latin typeface="Canva Sans"/>
              </a:rPr>
              <a:t>A Vision Transformer reads the face from the webcam. A </a:t>
            </a:r>
            <a:r>
              <a:rPr sz="1700" b="0" dirty="0" err="1">
                <a:solidFill>
                  <a:srgbClr val="1E2936"/>
                </a:solidFill>
                <a:latin typeface="Canva Sans"/>
              </a:rPr>
              <a:t>WavLM</a:t>
            </a:r>
            <a:r>
              <a:rPr sz="1700" b="0" dirty="0">
                <a:solidFill>
                  <a:srgbClr val="1E2936"/>
                </a:solidFill>
                <a:latin typeface="Canva Sans"/>
              </a:rPr>
              <a:t> speech encoder reads tone of voice from the microphone. A compact BERT reads the words that are typed.
Each is trained and evaluated independently, so a weak modality is visible before it ever reaches the fusion.</a:t>
            </a:r>
            <a:endParaRPr lang="en-US" sz="1700" b="0" dirty="0">
              <a:solidFill>
                <a:srgbClr val="1E2936"/>
              </a:solidFill>
              <a:latin typeface="Canva Sans"/>
            </a:endParaRPr>
          </a:p>
          <a:p>
            <a:pPr>
              <a:spcBef>
                <a:spcPts val="900"/>
              </a:spcBef>
            </a:pPr>
            <a:endParaRPr sz="1700" b="0" dirty="0">
              <a:solidFill>
                <a:srgbClr val="1E2936"/>
              </a:solidFill>
              <a:latin typeface="Canva Sans"/>
            </a:endParaRPr>
          </a:p>
        </p:txBody>
      </p:sp>
      <p:sp>
        <p:nvSpPr>
          <p:cNvPr id="14" name="Rectangle 13"/>
          <p:cNvSpPr/>
          <p:nvPr/>
        </p:nvSpPr>
        <p:spPr>
          <a:xfrm>
            <a:off x="6675120" y="2514600"/>
            <a:ext cx="4892040" cy="50292"/>
          </a:xfrm>
          <a:prstGeom prst="rect">
            <a:avLst/>
          </a:prstGeom>
          <a:solidFill>
            <a:srgbClr val="004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75120" y="2715768"/>
            <a:ext cx="4892040" cy="3847207"/>
          </a:xfrm>
          <a:prstGeom prst="rect">
            <a:avLst/>
          </a:prstGeom>
          <a:solidFill>
            <a:schemeClr val="accent1">
              <a:lumMod val="20000"/>
              <a:lumOff val="80000"/>
            </a:schemeClr>
          </a:solidFill>
        </p:spPr>
        <p:txBody>
          <a:bodyPr wrap="square" anchor="t">
            <a:spAutoFit/>
          </a:bodyPr>
          <a:lstStyle/>
          <a:p>
            <a:pPr algn="l">
              <a:spcBef>
                <a:spcPts val="0"/>
              </a:spcBef>
            </a:pPr>
            <a:r>
              <a:rPr sz="2300" b="1" dirty="0">
                <a:solidFill>
                  <a:srgbClr val="004AAD"/>
                </a:solidFill>
                <a:latin typeface="Canva Sans Bold"/>
              </a:rPr>
              <a:t>2 · Speak one language</a:t>
            </a:r>
            <a:endParaRPr lang="en-US" sz="2300" b="1" dirty="0">
              <a:solidFill>
                <a:srgbClr val="004AAD"/>
              </a:solidFill>
              <a:latin typeface="Canva Sans Bold"/>
            </a:endParaRPr>
          </a:p>
          <a:p>
            <a:pPr algn="l">
              <a:spcBef>
                <a:spcPts val="0"/>
              </a:spcBef>
            </a:pPr>
            <a:endParaRPr sz="2300" b="1" dirty="0">
              <a:solidFill>
                <a:srgbClr val="004AAD"/>
              </a:solidFill>
              <a:latin typeface="Canva Sans Bold"/>
            </a:endParaRPr>
          </a:p>
          <a:p>
            <a:pPr>
              <a:spcBef>
                <a:spcPts val="900"/>
              </a:spcBef>
            </a:pPr>
            <a:r>
              <a:rPr sz="1700" b="0" dirty="0">
                <a:solidFill>
                  <a:srgbClr val="1E2936"/>
                </a:solidFill>
                <a:latin typeface="Canva Sans"/>
              </a:rPr>
              <a:t>All three emit a probability over the SAME seven emotions, in the same order.
That shared label space is what makes fusion arithmetic rather than translation - vector positions already mean the same thing.</a:t>
            </a:r>
            <a:endParaRPr lang="en-US" sz="1700" b="0" dirty="0">
              <a:solidFill>
                <a:srgbClr val="1E2936"/>
              </a:solidFill>
              <a:latin typeface="Canva Sans"/>
            </a:endParaRPr>
          </a:p>
          <a:p>
            <a:pPr>
              <a:spcBef>
                <a:spcPts val="900"/>
              </a:spcBef>
            </a:pPr>
            <a:endParaRPr lang="en-IN" sz="1700" dirty="0">
              <a:solidFill>
                <a:srgbClr val="1E2936"/>
              </a:solidFill>
              <a:latin typeface="Canva Sans"/>
            </a:endParaRPr>
          </a:p>
          <a:p>
            <a:pPr>
              <a:spcBef>
                <a:spcPts val="900"/>
              </a:spcBef>
            </a:pPr>
            <a:endParaRPr lang="en-IN" sz="1700" b="0" dirty="0">
              <a:solidFill>
                <a:srgbClr val="1E2936"/>
              </a:solidFill>
              <a:latin typeface="Canva Sans"/>
            </a:endParaRPr>
          </a:p>
          <a:p>
            <a:pPr>
              <a:spcBef>
                <a:spcPts val="900"/>
              </a:spcBef>
            </a:pPr>
            <a:endParaRPr lang="en-IN" sz="1700" dirty="0">
              <a:solidFill>
                <a:srgbClr val="1E2936"/>
              </a:solidFill>
              <a:latin typeface="Canva Sans"/>
            </a:endParaRPr>
          </a:p>
        </p:txBody>
      </p:sp>
      <p:sp>
        <p:nvSpPr>
          <p:cNvPr id="16" name="Rectangle 15"/>
          <p:cNvSpPr/>
          <p:nvPr/>
        </p:nvSpPr>
        <p:spPr>
          <a:xfrm>
            <a:off x="12207240" y="2514600"/>
            <a:ext cx="4892040" cy="50292"/>
          </a:xfrm>
          <a:prstGeom prst="rect">
            <a:avLst/>
          </a:prstGeom>
          <a:solidFill>
            <a:srgbClr val="004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207240" y="2715768"/>
            <a:ext cx="4892040" cy="3993401"/>
          </a:xfrm>
          <a:prstGeom prst="rect">
            <a:avLst/>
          </a:prstGeom>
          <a:solidFill>
            <a:schemeClr val="accent1">
              <a:lumMod val="20000"/>
              <a:lumOff val="80000"/>
            </a:schemeClr>
          </a:solidFill>
        </p:spPr>
        <p:txBody>
          <a:bodyPr wrap="square" anchor="t">
            <a:spAutoFit/>
          </a:bodyPr>
          <a:lstStyle/>
          <a:p>
            <a:pPr algn="l">
              <a:spcBef>
                <a:spcPts val="0"/>
              </a:spcBef>
            </a:pPr>
            <a:r>
              <a:rPr lang="en-IN" sz="2300" b="1" dirty="0">
                <a:solidFill>
                  <a:srgbClr val="004AAD"/>
                </a:solidFill>
                <a:latin typeface="Canva Sans Bold"/>
              </a:rPr>
              <a:t>3 · Weigh, then decide</a:t>
            </a:r>
          </a:p>
          <a:p>
            <a:pPr algn="l">
              <a:spcBef>
                <a:spcPts val="0"/>
              </a:spcBef>
            </a:pPr>
            <a:endParaRPr lang="en-IN" sz="2300" b="1" dirty="0">
              <a:solidFill>
                <a:srgbClr val="004AAD"/>
              </a:solidFill>
              <a:latin typeface="Canva Sans Bold"/>
            </a:endParaRPr>
          </a:p>
          <a:p>
            <a:pPr>
              <a:spcBef>
                <a:spcPts val="900"/>
              </a:spcBef>
            </a:pPr>
            <a:r>
              <a:rPr sz="1700" b="0" dirty="0">
                <a:solidFill>
                  <a:srgbClr val="1E2936"/>
                </a:solidFill>
                <a:latin typeface="Canva Sans"/>
              </a:rPr>
              <a:t>A weighted logarithmic opinion pool combines them. The weight on each modality is not fixed</a:t>
            </a:r>
            <a:endParaRPr lang="en-US" sz="1700" b="0" dirty="0">
              <a:solidFill>
                <a:srgbClr val="1E2936"/>
              </a:solidFill>
              <a:latin typeface="Canva Sans"/>
            </a:endParaRPr>
          </a:p>
          <a:p>
            <a:pPr>
              <a:spcBef>
                <a:spcPts val="900"/>
              </a:spcBef>
            </a:pPr>
            <a:endParaRPr lang="en-IN" sz="1700" dirty="0">
              <a:solidFill>
                <a:srgbClr val="1E2936"/>
              </a:solidFill>
              <a:latin typeface="Canva Sans"/>
            </a:endParaRPr>
          </a:p>
          <a:p>
            <a:pPr>
              <a:spcBef>
                <a:spcPts val="900"/>
              </a:spcBef>
            </a:pPr>
            <a:r>
              <a:rPr sz="1700" b="0" dirty="0">
                <a:solidFill>
                  <a:srgbClr val="1E2936"/>
                </a:solidFill>
                <a:latin typeface="Canva Sans"/>
              </a:rPr>
              <a:t> it tracks how much THIS observation deserves to be trusted - image quality, how recently the voice was heard, how long the message was.</a:t>
            </a:r>
            <a:endParaRPr lang="en-US" sz="1700" b="0" dirty="0">
              <a:solidFill>
                <a:srgbClr val="1E2936"/>
              </a:solidFill>
              <a:latin typeface="Canva Sans"/>
            </a:endParaRPr>
          </a:p>
          <a:p>
            <a:pPr>
              <a:spcBef>
                <a:spcPts val="900"/>
              </a:spcBef>
            </a:pPr>
            <a:endParaRPr lang="en-IN" sz="1700" b="0" dirty="0">
              <a:solidFill>
                <a:srgbClr val="1E2936"/>
              </a:solidFill>
              <a:latin typeface="Canva Sans"/>
            </a:endParaRPr>
          </a:p>
          <a:p>
            <a:pPr>
              <a:spcBef>
                <a:spcPts val="900"/>
              </a:spcBef>
            </a:pPr>
            <a:endParaRPr sz="1700" b="0" dirty="0">
              <a:solidFill>
                <a:srgbClr val="1E2936"/>
              </a:solidFill>
              <a:latin typeface="Canva Sans"/>
            </a:endParaRPr>
          </a:p>
        </p:txBody>
      </p:sp>
      <p:sp>
        <p:nvSpPr>
          <p:cNvPr id="18" name="TextBox 17"/>
          <p:cNvSpPr txBox="1"/>
          <p:nvPr/>
        </p:nvSpPr>
        <p:spPr>
          <a:xfrm>
            <a:off x="1106837" y="6743983"/>
            <a:ext cx="4892040" cy="954107"/>
          </a:xfrm>
          <a:prstGeom prst="rect">
            <a:avLst/>
          </a:prstGeom>
          <a:noFill/>
        </p:spPr>
        <p:txBody>
          <a:bodyPr wrap="square" anchor="t">
            <a:spAutoFit/>
          </a:bodyPr>
          <a:lstStyle/>
          <a:p>
            <a:pPr algn="l">
              <a:spcBef>
                <a:spcPts val="0"/>
              </a:spcBef>
            </a:pPr>
            <a:r>
              <a:rPr sz="1900" b="1" dirty="0">
                <a:solidFill>
                  <a:srgbClr val="1F8A4C"/>
                </a:solidFill>
                <a:latin typeface="Canva Sans Bold"/>
              </a:rPr>
              <a:t>face 52% · voice 50% · text 33%</a:t>
            </a:r>
          </a:p>
          <a:p>
            <a:pPr>
              <a:spcBef>
                <a:spcPts val="600"/>
              </a:spcBef>
            </a:pPr>
            <a:r>
              <a:rPr sz="1600" b="0" dirty="0">
                <a:solidFill>
                  <a:srgbClr val="5A6472"/>
                </a:solidFill>
                <a:latin typeface="Canva Sans"/>
              </a:rPr>
              <a:t>each measured alone, on data it was never trained on</a:t>
            </a:r>
          </a:p>
        </p:txBody>
      </p:sp>
      <p:sp>
        <p:nvSpPr>
          <p:cNvPr id="19" name="TextBox 18"/>
          <p:cNvSpPr txBox="1"/>
          <p:nvPr/>
        </p:nvSpPr>
        <p:spPr>
          <a:xfrm>
            <a:off x="6675120" y="6743974"/>
            <a:ext cx="4892040" cy="954107"/>
          </a:xfrm>
          <a:prstGeom prst="rect">
            <a:avLst/>
          </a:prstGeom>
          <a:noFill/>
        </p:spPr>
        <p:txBody>
          <a:bodyPr wrap="square" anchor="t">
            <a:spAutoFit/>
          </a:bodyPr>
          <a:lstStyle/>
          <a:p>
            <a:pPr algn="l">
              <a:spcBef>
                <a:spcPts val="0"/>
              </a:spcBef>
            </a:pPr>
            <a:r>
              <a:rPr sz="1900" b="1" dirty="0">
                <a:solidFill>
                  <a:srgbClr val="1F8A4C"/>
                </a:solidFill>
                <a:latin typeface="Canva Sans Bold"/>
              </a:rPr>
              <a:t>7 classes, one order</a:t>
            </a:r>
          </a:p>
          <a:p>
            <a:pPr>
              <a:spcBef>
                <a:spcPts val="600"/>
              </a:spcBef>
            </a:pPr>
            <a:r>
              <a:rPr sz="1600" b="0" dirty="0">
                <a:solidFill>
                  <a:srgbClr val="5A6472"/>
                </a:solidFill>
                <a:latin typeface="Canva Sans"/>
              </a:rPr>
              <a:t>angry · disgust · fear · happy · neutral · sad · surprise</a:t>
            </a:r>
          </a:p>
        </p:txBody>
      </p:sp>
      <p:sp>
        <p:nvSpPr>
          <p:cNvPr id="20" name="TextBox 19"/>
          <p:cNvSpPr txBox="1"/>
          <p:nvPr/>
        </p:nvSpPr>
        <p:spPr>
          <a:xfrm>
            <a:off x="12243403" y="6867084"/>
            <a:ext cx="4892040" cy="707886"/>
          </a:xfrm>
          <a:prstGeom prst="rect">
            <a:avLst/>
          </a:prstGeom>
          <a:noFill/>
        </p:spPr>
        <p:txBody>
          <a:bodyPr wrap="square" anchor="t">
            <a:spAutoFit/>
          </a:bodyPr>
          <a:lstStyle/>
          <a:p>
            <a:pPr algn="l">
              <a:spcBef>
                <a:spcPts val="0"/>
              </a:spcBef>
            </a:pPr>
            <a:r>
              <a:rPr sz="1900" b="1" dirty="0">
                <a:solidFill>
                  <a:srgbClr val="1F8A4C"/>
                </a:solidFill>
                <a:latin typeface="Canva Sans Bold"/>
              </a:rPr>
              <a:t>55.4% fused</a:t>
            </a:r>
          </a:p>
          <a:p>
            <a:pPr>
              <a:spcBef>
                <a:spcPts val="600"/>
              </a:spcBef>
            </a:pPr>
            <a:r>
              <a:rPr sz="1600" b="0" dirty="0">
                <a:solidFill>
                  <a:srgbClr val="5A6472"/>
                </a:solidFill>
                <a:latin typeface="Canva Sans"/>
              </a:rPr>
              <a:t>+3.3 accuracy over</a:t>
            </a:r>
            <a:r>
              <a:rPr lang="en-IN" sz="1600" dirty="0">
                <a:solidFill>
                  <a:srgbClr val="5A6472"/>
                </a:solidFill>
                <a:latin typeface="Canva Sans"/>
              </a:rPr>
              <a:t>the</a:t>
            </a:r>
            <a:r>
              <a:rPr sz="1600" b="0" dirty="0">
                <a:solidFill>
                  <a:srgbClr val="5A6472"/>
                </a:solidFill>
                <a:latin typeface="Canva Sans"/>
              </a:rPr>
              <a:t> best single modality</a:t>
            </a:r>
          </a:p>
        </p:txBody>
      </p:sp>
      <p:sp>
        <p:nvSpPr>
          <p:cNvPr id="21" name="TextBox 20"/>
          <p:cNvSpPr txBox="1"/>
          <p:nvPr/>
        </p:nvSpPr>
        <p:spPr>
          <a:xfrm>
            <a:off x="1143000" y="8366760"/>
            <a:ext cx="16002000" cy="400110"/>
          </a:xfrm>
          <a:prstGeom prst="rect">
            <a:avLst/>
          </a:prstGeom>
          <a:noFill/>
        </p:spPr>
        <p:txBody>
          <a:bodyPr wrap="square" anchor="t">
            <a:spAutoFit/>
          </a:bodyPr>
          <a:lstStyle/>
          <a:p>
            <a:pPr algn="l">
              <a:spcBef>
                <a:spcPts val="0"/>
              </a:spcBef>
            </a:pPr>
            <a:r>
              <a:rPr sz="2000" b="0" dirty="0">
                <a:solidFill>
                  <a:srgbClr val="5A6472"/>
                </a:solidFill>
                <a:latin typeface="Canva Sans"/>
              </a:rPr>
              <a:t>Design rule throughout: a modality that is uncertain should lose influence automatically, not be switched off by hand.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9"/>
          <p:cNvSpPr txBox="1"/>
          <p:nvPr/>
        </p:nvSpPr>
        <p:spPr>
          <a:xfrm>
            <a:off x="1143000" y="475488"/>
            <a:ext cx="16002000" cy="1234440"/>
          </a:xfrm>
          <a:prstGeom prst="rect">
            <a:avLst/>
          </a:prstGeom>
          <a:noFill/>
        </p:spPr>
        <p:txBody>
          <a:bodyPr wrap="square" anchor="t">
            <a:spAutoFit/>
          </a:bodyPr>
          <a:lstStyle/>
          <a:p>
            <a:pPr algn="l">
              <a:spcBef>
                <a:spcPts val="0"/>
              </a:spcBef>
            </a:pPr>
            <a:r>
              <a:rPr sz="4000" b="1">
                <a:solidFill>
                  <a:srgbClr val="004AAD"/>
                </a:solidFill>
                <a:latin typeface="Canva Sans Bold"/>
              </a:rPr>
              <a:t>System Architecture</a:t>
            </a:r>
          </a:p>
        </p:txBody>
      </p:sp>
      <p:sp>
        <p:nvSpPr>
          <p:cNvPr id="11" name="TextBox 10"/>
          <p:cNvSpPr txBox="1"/>
          <p:nvPr/>
        </p:nvSpPr>
        <p:spPr>
          <a:xfrm>
            <a:off x="1170432" y="1389888"/>
            <a:ext cx="15910559" cy="548640"/>
          </a:xfrm>
          <a:prstGeom prst="rect">
            <a:avLst/>
          </a:prstGeom>
          <a:noFill/>
        </p:spPr>
        <p:txBody>
          <a:bodyPr wrap="square" anchor="t">
            <a:spAutoFit/>
          </a:bodyPr>
          <a:lstStyle/>
          <a:p>
            <a:pPr algn="l">
              <a:spcBef>
                <a:spcPts val="0"/>
              </a:spcBef>
            </a:pPr>
            <a:r>
              <a:rPr sz="1700" b="0">
                <a:solidFill>
                  <a:srgbClr val="5A6472"/>
                </a:solidFill>
                <a:latin typeface="Canva Sans"/>
              </a:rPr>
              <a:t>Three independent encoders, one shared label space, one reliability-weighted pool.</a:t>
            </a:r>
          </a:p>
        </p:txBody>
      </p:sp>
      <p:pic>
        <p:nvPicPr>
          <p:cNvPr id="14" name="Picture 13">
            <a:extLst>
              <a:ext uri="{FF2B5EF4-FFF2-40B4-BE49-F238E27FC236}">
                <a16:creationId xmlns:a16="http://schemas.microsoft.com/office/drawing/2014/main" id="{57F8992A-96D1-A430-0173-97E3D72B057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57300" y="2311602"/>
            <a:ext cx="15283129" cy="658551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9"/>
          <p:cNvSpPr txBox="1"/>
          <p:nvPr/>
        </p:nvSpPr>
        <p:spPr>
          <a:xfrm>
            <a:off x="1143000" y="475488"/>
            <a:ext cx="16002000" cy="1234440"/>
          </a:xfrm>
          <a:prstGeom prst="rect">
            <a:avLst/>
          </a:prstGeom>
          <a:noFill/>
        </p:spPr>
        <p:txBody>
          <a:bodyPr wrap="square" anchor="t">
            <a:spAutoFit/>
          </a:bodyPr>
          <a:lstStyle/>
          <a:p>
            <a:pPr algn="l">
              <a:spcBef>
                <a:spcPts val="0"/>
              </a:spcBef>
            </a:pPr>
            <a:r>
              <a:rPr sz="4000" b="1">
                <a:solidFill>
                  <a:srgbClr val="004AAD"/>
                </a:solidFill>
                <a:latin typeface="Canva Sans Bold"/>
              </a:rPr>
              <a:t>User Flow</a:t>
            </a:r>
          </a:p>
        </p:txBody>
      </p:sp>
      <p:pic>
        <p:nvPicPr>
          <p:cNvPr id="12" name="Picture 11" descr="diagram_userflow.png"/>
          <p:cNvPicPr>
            <a:picLocks noChangeAspect="1"/>
          </p:cNvPicPr>
          <p:nvPr/>
        </p:nvPicPr>
        <p:blipFill>
          <a:blip r:embed="rId4"/>
          <a:stretch>
            <a:fillRect/>
          </a:stretch>
        </p:blipFill>
        <p:spPr>
          <a:xfrm>
            <a:off x="2191896" y="1200730"/>
            <a:ext cx="13904208" cy="812690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Title"/>
          <p:cNvSpPr txBox="1"/>
          <p:nvPr/>
        </p:nvSpPr>
        <p:spPr>
          <a:xfrm>
            <a:off x="1143000" y="475488"/>
            <a:ext cx="16002000" cy="777240"/>
          </a:xfrm>
          <a:prstGeom prst="rect">
            <a:avLst/>
          </a:prstGeom>
          <a:noFill/>
        </p:spPr>
        <p:txBody>
          <a:bodyPr wrap="square" anchor="t">
            <a:spAutoFit/>
          </a:bodyPr>
          <a:lstStyle/>
          <a:p>
            <a:pPr algn="l">
              <a:spcBef>
                <a:spcPts val="0"/>
              </a:spcBef>
            </a:pPr>
            <a:r>
              <a:rPr lang="en-US" sz="4000" b="1" dirty="0">
                <a:solidFill>
                  <a:srgbClr val="004AAD"/>
                </a:solidFill>
                <a:latin typeface="Canva Sans Bold"/>
              </a:rPr>
              <a:t>Technology Stack</a:t>
            </a:r>
            <a:endParaRPr lang="en-US" sz="4000" b="1" dirty="0">
              <a:solidFill>
                <a:srgbClr val="004AAD"/>
              </a:solidFill>
              <a:latin typeface="Canva Sans Bold"/>
            </a:endParaRPr>
          </a:p>
        </p:txBody>
      </p:sp>
      <p:sp>
        <p:nvSpPr>
          <p:cNvPr id="11" name="TextBox Subtitle"/>
          <p:cNvSpPr txBox="1"/>
          <p:nvPr/>
        </p:nvSpPr>
        <p:spPr>
          <a:xfrm>
            <a:off x="1170432" y="1389888"/>
            <a:ext cx="15910560" cy="548640"/>
          </a:xfrm>
          <a:prstGeom prst="rect">
            <a:avLst/>
          </a:prstGeom>
          <a:noFill/>
        </p:spPr>
        <p:txBody>
          <a:bodyPr wrap="square" anchor="t">
            <a:spAutoFit/>
          </a:bodyPr>
          <a:lstStyle/>
          <a:p>
            <a:pPr algn="l">
              <a:spcBef>
                <a:spcPts val="0"/>
              </a:spcBef>
            </a:pPr>
            <a:r>
              <a:rPr lang="en-US" sz="1700" b="0" dirty="0">
                <a:solidFill>
                  <a:srgbClr val="1E2936"/>
                </a:solidFill>
                <a:latin typeface="Canva Sans"/>
              </a:rPr>
              <a:t>Three models, one process, no framework on the client - every choice sized to run on a single machine with one GPU.</a:t>
            </a:r>
            <a:endParaRPr lang="en-US" sz="1700" b="0" dirty="0">
              <a:solidFill>
                <a:srgbClr val="1E2936"/>
              </a:solidFill>
              <a:latin typeface="Canva Sans"/>
            </a:endParaRPr>
          </a:p>
        </p:txBody>
      </p:sp>
      <p:sp>
        <p:nvSpPr>
          <p:cNvPr id="100" name="Rule 100"/>
          <p:cNvSpPr/>
          <p:nvPr/>
        </p:nvSpPr>
        <p:spPr>
          <a:xfrm>
            <a:off x="1143000" y="2697480"/>
            <a:ext cx="4892040" cy="50292"/>
          </a:xfrm>
          <a:prstGeom prst="rect">
            <a:avLst/>
          </a:prstGeom>
          <a:solidFill>
            <a:srgbClr val="1C9CC0"/>
          </a:solidFill>
          <a:ln>
            <a:noFill/>
          </a:ln>
          <a:effectLst/>
        </p:spPr>
        <p:txBody>
          <a:bodyPr rtlCol="0" anchor="ctr"/>
          <a:lstStyle/>
          <a:p>
            <a:pPr algn="ctr"/>
            <a:endParaRPr/>
          </a:p>
        </p:txBody>
      </p:sp>
      <p:sp>
        <p:nvSpPr>
          <p:cNvPr id="101" name="Card 101"/>
          <p:cNvSpPr txBox="1"/>
          <p:nvPr/>
        </p:nvSpPr>
        <p:spPr>
          <a:xfrm>
            <a:off x="1143000" y="2880360"/>
            <a:ext cx="4892040" cy="3931920"/>
          </a:xfrm>
          <a:prstGeom prst="rect">
            <a:avLst/>
          </a:prstGeom>
          <a:solidFill>
            <a:schemeClr val="accent1">
              <a:lumMod val="20000"/>
              <a:lumOff val="80000"/>
            </a:schemeClr>
          </a:solidFill>
        </p:spPr>
        <p:txBody>
          <a:bodyPr wrap="square" anchor="t">
            <a:spAutoFit/>
          </a:bodyPr>
          <a:lstStyle/>
          <a:p>
            <a:pPr algn="ctr">
              <a:spcBef>
                <a:spcPts val="0"/>
              </a:spcBef>
            </a:pPr>
            <a:r>
              <a:rPr lang="en-US" sz="2600" b="1" dirty="0">
                <a:solidFill>
                  <a:srgbClr val="1C9CC0"/>
                </a:solidFill>
                <a:latin typeface="Canva Sans Bold"/>
              </a:rPr>
              <a:t>Train</a:t>
            </a:r>
            <a:endParaRPr lang="en-US" sz="2600" b="1" dirty="0">
              <a:solidFill>
                <a:srgbClr val="1C9CC0"/>
              </a:solidFill>
              <a:latin typeface="Canva Sans Bold"/>
            </a:endParaRPr>
          </a:p>
          <a:p>
            <a:pPr algn="l">
              <a:spcBef>
                <a:spcPts val="900"/>
              </a:spcBef>
            </a:pPr>
            <a:r>
              <a:rPr lang="en-US" sz="1600" b="0" dirty="0">
                <a:solidFill>
                  <a:srgbClr val="1E2936"/>
                </a:solidFill>
                <a:latin typeface="Canva Sans"/>
              </a:rPr>
              <a:t>PyTorch 2.x with HuggingFace Transformers for all three encoders. The face ViT is fine-tuned from google/vit-base-patch16-224-in21k over four merged corpora; WavLM-base+ and TinyBERT are fine-tuned in the same framework. librosa and soundfile condition audio, scikit-learn computes every metric, and one RTX 4060 did all of the training.</a:t>
            </a:r>
            <a:endParaRPr lang="en-US" sz="1600" b="0" dirty="0">
              <a:solidFill>
                <a:srgbClr val="1E2936"/>
              </a:solidFill>
              <a:latin typeface="Canva Sans"/>
            </a:endParaRPr>
          </a:p>
        </p:txBody>
      </p:sp>
      <p:sp>
        <p:nvSpPr>
          <p:cNvPr id="102" name="Rule 102"/>
          <p:cNvSpPr/>
          <p:nvPr/>
        </p:nvSpPr>
        <p:spPr>
          <a:xfrm>
            <a:off x="6675120" y="2697480"/>
            <a:ext cx="4892040" cy="50292"/>
          </a:xfrm>
          <a:prstGeom prst="rect">
            <a:avLst/>
          </a:prstGeom>
          <a:solidFill>
            <a:srgbClr val="B06E00"/>
          </a:solidFill>
          <a:ln>
            <a:noFill/>
          </a:ln>
          <a:effectLst/>
        </p:spPr>
        <p:txBody>
          <a:bodyPr rtlCol="0" anchor="ctr"/>
          <a:lstStyle/>
          <a:p>
            <a:pPr algn="ctr"/>
            <a:endParaRPr/>
          </a:p>
        </p:txBody>
      </p:sp>
      <p:sp>
        <p:nvSpPr>
          <p:cNvPr id="103" name="Card 103"/>
          <p:cNvSpPr txBox="1"/>
          <p:nvPr/>
        </p:nvSpPr>
        <p:spPr>
          <a:xfrm>
            <a:off x="6675120" y="2880360"/>
            <a:ext cx="4892040" cy="3931920"/>
          </a:xfrm>
          <a:prstGeom prst="rect">
            <a:avLst/>
          </a:prstGeom>
          <a:solidFill>
            <a:schemeClr val="accent2">
              <a:lumMod val="20000"/>
              <a:lumOff val="80000"/>
            </a:schemeClr>
          </a:solidFill>
        </p:spPr>
        <p:txBody>
          <a:bodyPr wrap="square" anchor="t">
            <a:spAutoFit/>
          </a:bodyPr>
          <a:lstStyle/>
          <a:p>
            <a:pPr algn="ctr">
              <a:spcBef>
                <a:spcPts val="0"/>
              </a:spcBef>
            </a:pPr>
            <a:r>
              <a:rPr lang="en-US" sz="2600" b="1" dirty="0">
                <a:solidFill>
                  <a:srgbClr val="B06E00"/>
                </a:solidFill>
                <a:latin typeface="Canva Sans Bold"/>
              </a:rPr>
              <a:t>Serve</a:t>
            </a:r>
            <a:endParaRPr lang="en-US" sz="2600" b="1" dirty="0">
              <a:solidFill>
                <a:srgbClr val="B06E00"/>
              </a:solidFill>
              <a:latin typeface="Canva Sans Bold"/>
            </a:endParaRPr>
          </a:p>
          <a:p>
            <a:pPr algn="l">
              <a:spcBef>
                <a:spcPts val="900"/>
              </a:spcBef>
            </a:pPr>
            <a:r>
              <a:rPr lang="en-US" sz="1600" b="0" dirty="0">
                <a:solidFill>
                  <a:srgbClr val="1E2936"/>
                </a:solidFill>
                <a:latin typeface="Canva Sans"/>
              </a:rPr>
              <a:t>FastAPI and Uvicorn behind a single WebSocket that carries video frames, 16 kHz PCM and typed text on one connection. The face ViT runs through ONNX Runtime on the CUDA provider and falls back to CPU; WavLM and TinyBERT stay in PyTorch. OpenCV's YuNet detector supplies the five landmarks the aligned crop needs. The pool itself is NumPy.</a:t>
            </a:r>
            <a:endParaRPr lang="en-US" sz="1600" b="0" dirty="0">
              <a:solidFill>
                <a:srgbClr val="1E2936"/>
              </a:solidFill>
              <a:latin typeface="Canva Sans"/>
            </a:endParaRPr>
          </a:p>
        </p:txBody>
      </p:sp>
      <p:sp>
        <p:nvSpPr>
          <p:cNvPr id="104" name="Rule 104"/>
          <p:cNvSpPr/>
          <p:nvPr/>
        </p:nvSpPr>
        <p:spPr>
          <a:xfrm>
            <a:off x="12207240" y="2697480"/>
            <a:ext cx="4892040" cy="50292"/>
          </a:xfrm>
          <a:prstGeom prst="rect">
            <a:avLst/>
          </a:prstGeom>
          <a:solidFill>
            <a:srgbClr val="7A5EA6"/>
          </a:solidFill>
          <a:ln>
            <a:noFill/>
          </a:ln>
          <a:effectLst/>
        </p:spPr>
        <p:txBody>
          <a:bodyPr rtlCol="0" anchor="ctr"/>
          <a:lstStyle/>
          <a:p>
            <a:pPr algn="ctr"/>
            <a:endParaRPr/>
          </a:p>
        </p:txBody>
      </p:sp>
      <p:sp>
        <p:nvSpPr>
          <p:cNvPr id="105" name="Card 105"/>
          <p:cNvSpPr txBox="1"/>
          <p:nvPr/>
        </p:nvSpPr>
        <p:spPr>
          <a:xfrm>
            <a:off x="12207240" y="2880360"/>
            <a:ext cx="4892040" cy="3931920"/>
          </a:xfrm>
          <a:prstGeom prst="rect">
            <a:avLst/>
          </a:prstGeom>
          <a:solidFill>
            <a:schemeClr val="accent4">
              <a:lumMod val="20000"/>
              <a:lumOff val="80000"/>
            </a:schemeClr>
          </a:solidFill>
        </p:spPr>
        <p:txBody>
          <a:bodyPr wrap="square" anchor="t">
            <a:spAutoFit/>
          </a:bodyPr>
          <a:lstStyle/>
          <a:p>
            <a:pPr algn="ctr">
              <a:spcBef>
                <a:spcPts val="0"/>
              </a:spcBef>
            </a:pPr>
            <a:r>
              <a:rPr lang="en-US" sz="2600" b="1" dirty="0">
                <a:solidFill>
                  <a:srgbClr val="7A5EA6"/>
                </a:solidFill>
                <a:latin typeface="Canva Sans Bold"/>
              </a:rPr>
              <a:t>Show</a:t>
            </a:r>
            <a:endParaRPr lang="en-US" sz="2600" b="1" dirty="0">
              <a:solidFill>
                <a:srgbClr val="7A5EA6"/>
              </a:solidFill>
              <a:latin typeface="Canva Sans Bold"/>
            </a:endParaRPr>
          </a:p>
          <a:p>
            <a:pPr algn="l">
              <a:spcBef>
                <a:spcPts val="900"/>
              </a:spcBef>
            </a:pPr>
            <a:r>
              <a:rPr lang="en-US" sz="1600" b="0" dirty="0">
                <a:solidFill>
                  <a:srgbClr val="1E2936"/>
                </a:solidFill>
                <a:latin typeface="Canva Sans"/>
              </a:rPr>
              <a:t>The client is one HTML file - no framework, no build step. getUserMedia and a canvas produce Base64 JPEG frames paced on server acknowledgements; an AudioWorklet produces mono 16 kHz windows. Every fusion constant lives in reliability.json as data, so a weight can be retuned and cited without touching code.</a:t>
            </a:r>
            <a:endParaRPr lang="en-US" sz="1600" b="0" dirty="0">
              <a:solidFill>
                <a:srgbClr val="1E2936"/>
              </a:solidFill>
              <a:latin typeface="Canva Sans"/>
            </a:endParaRPr>
          </a:p>
        </p:txBody>
      </p:sp>
      <p:sp>
        <p:nvSpPr>
          <p:cNvPr id="106" name="Footer 106"/>
          <p:cNvSpPr txBox="1"/>
          <p:nvPr/>
        </p:nvSpPr>
        <p:spPr>
          <a:xfrm>
            <a:off x="1143000" y="7040880"/>
            <a:ext cx="16002000" cy="973328"/>
          </a:xfrm>
          <a:prstGeom prst="rect">
            <a:avLst/>
          </a:prstGeom>
          <a:noFill/>
        </p:spPr>
        <p:txBody>
          <a:bodyPr wrap="square" anchor="t">
            <a:spAutoFit/>
          </a:bodyPr>
          <a:lstStyle/>
          <a:p>
            <a:pPr algn="l">
              <a:spcBef>
                <a:spcPts val="0"/>
              </a:spcBef>
            </a:pPr>
            <a:r>
              <a:rPr lang="en-US" sz="2000" b="1" dirty="0">
                <a:solidFill>
                  <a:srgbClr val="1E2936"/>
                </a:solidFill>
                <a:latin typeface="Canva Sans Bold"/>
              </a:rPr>
              <a:t>Why it is this boring</a:t>
            </a:r>
            <a:endParaRPr lang="en-US" sz="2000" b="1" dirty="0">
              <a:solidFill>
                <a:srgbClr val="1E2936"/>
              </a:solidFill>
              <a:latin typeface="Canva Sans Bold"/>
            </a:endParaRPr>
          </a:p>
          <a:p>
            <a:pPr algn="l">
              <a:spcBef>
                <a:spcPts val="600"/>
              </a:spcBef>
            </a:pPr>
            <a:r>
              <a:rPr lang="en-US" sz="1600" b="0" dirty="0">
                <a:solidFill>
                  <a:srgbClr val="1E2936"/>
                </a:solidFill>
                <a:latin typeface="Canva Sans"/>
              </a:rPr>
              <a:t>A telemedicine deployment cannot assume a datacentre. Every component here degrades to CPU on one machine, and the heaviest piece - the 380 MB WavLM checkpoint - is opt-in, so a session that never uses the microphone never pays for it.</a:t>
            </a:r>
            <a:endParaRPr lang="en-US" sz="1600" b="0" dirty="0">
              <a:solidFill>
                <a:srgbClr val="1E2936"/>
              </a:solidFill>
              <a:latin typeface="Canva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9"/>
          <p:cNvSpPr txBox="1"/>
          <p:nvPr/>
        </p:nvSpPr>
        <p:spPr>
          <a:xfrm>
            <a:off x="6248400" y="968913"/>
            <a:ext cx="6172200" cy="707886"/>
          </a:xfrm>
          <a:prstGeom prst="rect">
            <a:avLst/>
          </a:prstGeom>
          <a:noFill/>
        </p:spPr>
        <p:txBody>
          <a:bodyPr wrap="square" anchor="t">
            <a:spAutoFit/>
          </a:bodyPr>
          <a:lstStyle/>
          <a:p>
            <a:pPr algn="l">
              <a:spcBef>
                <a:spcPts val="0"/>
              </a:spcBef>
            </a:pPr>
            <a:r>
              <a:rPr sz="4000" b="1" dirty="0">
                <a:solidFill>
                  <a:srgbClr val="004AAD"/>
                </a:solidFill>
                <a:latin typeface="Canva Sans Bold"/>
              </a:rPr>
              <a:t>Why Three Modalities</a:t>
            </a:r>
          </a:p>
        </p:txBody>
      </p:sp>
      <p:sp>
        <p:nvSpPr>
          <p:cNvPr id="12" name="Rectangle 11"/>
          <p:cNvSpPr/>
          <p:nvPr/>
        </p:nvSpPr>
        <p:spPr>
          <a:xfrm>
            <a:off x="1143000" y="2697480"/>
            <a:ext cx="4892040" cy="50292"/>
          </a:xfrm>
          <a:prstGeom prst="rect">
            <a:avLst/>
          </a:prstGeom>
          <a:solidFill>
            <a:srgbClr val="1C9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3000" y="2898648"/>
            <a:ext cx="4892040" cy="3639458"/>
          </a:xfrm>
          <a:prstGeom prst="rect">
            <a:avLst/>
          </a:prstGeom>
          <a:solidFill>
            <a:schemeClr val="accent1">
              <a:lumMod val="20000"/>
              <a:lumOff val="80000"/>
            </a:schemeClr>
          </a:solidFill>
        </p:spPr>
        <p:txBody>
          <a:bodyPr wrap="square" anchor="t">
            <a:spAutoFit/>
          </a:bodyPr>
          <a:lstStyle/>
          <a:p>
            <a:pPr algn="ctr">
              <a:spcBef>
                <a:spcPts val="0"/>
              </a:spcBef>
            </a:pPr>
            <a:r>
              <a:rPr sz="2800" b="1" dirty="0">
                <a:solidFill>
                  <a:srgbClr val="1C9CC0"/>
                </a:solidFill>
                <a:latin typeface="Canva Sans Bold"/>
              </a:rPr>
              <a:t>Face</a:t>
            </a:r>
            <a:endParaRPr lang="en-US" sz="2800" b="1" dirty="0">
              <a:solidFill>
                <a:srgbClr val="1C9CC0"/>
              </a:solidFill>
              <a:latin typeface="Canva Sans Bold"/>
            </a:endParaRPr>
          </a:p>
          <a:p>
            <a:pPr algn="l">
              <a:spcBef>
                <a:spcPts val="0"/>
              </a:spcBef>
            </a:pPr>
            <a:endParaRPr lang="en-IN" sz="2000" b="1" dirty="0">
              <a:solidFill>
                <a:srgbClr val="1C9CC0"/>
              </a:solidFill>
              <a:latin typeface="Canva Sans Bold"/>
            </a:endParaRPr>
          </a:p>
          <a:p>
            <a:pPr algn="l">
              <a:spcBef>
                <a:spcPts val="0"/>
              </a:spcBef>
            </a:pPr>
            <a:endParaRPr sz="2000" b="1" dirty="0">
              <a:solidFill>
                <a:srgbClr val="1C9CC0"/>
              </a:solidFill>
              <a:latin typeface="Canva Sans Bold"/>
            </a:endParaRPr>
          </a:p>
          <a:p>
            <a:pPr>
              <a:spcBef>
                <a:spcPts val="900"/>
              </a:spcBef>
            </a:pPr>
            <a:r>
              <a:rPr sz="2000" b="0" dirty="0">
                <a:solidFill>
                  <a:srgbClr val="1E2936"/>
                </a:solidFill>
                <a:latin typeface="Canva Sans"/>
              </a:rPr>
              <a:t>Always present and always current, but it is the weakest signal cross-dataset: 74% on its own test set, 52% on faces it has never seen. A still face is also genuinely ambiguous.</a:t>
            </a:r>
            <a:endParaRPr lang="en-US" sz="2000" b="0" dirty="0">
              <a:solidFill>
                <a:srgbClr val="1E2936"/>
              </a:solidFill>
              <a:latin typeface="Canva Sans"/>
            </a:endParaRPr>
          </a:p>
          <a:p>
            <a:pPr>
              <a:spcBef>
                <a:spcPts val="900"/>
              </a:spcBef>
            </a:pPr>
            <a:endParaRPr lang="en-IN" sz="2000" dirty="0">
              <a:solidFill>
                <a:srgbClr val="1E2936"/>
              </a:solidFill>
              <a:latin typeface="Canva Sans"/>
            </a:endParaRPr>
          </a:p>
          <a:p>
            <a:pPr>
              <a:spcBef>
                <a:spcPts val="900"/>
              </a:spcBef>
            </a:pPr>
            <a:endParaRPr sz="2000" b="0" dirty="0">
              <a:solidFill>
                <a:srgbClr val="1E2936"/>
              </a:solidFill>
              <a:latin typeface="Canva Sans"/>
            </a:endParaRPr>
          </a:p>
        </p:txBody>
      </p:sp>
      <p:sp>
        <p:nvSpPr>
          <p:cNvPr id="14" name="Rectangle 13"/>
          <p:cNvSpPr/>
          <p:nvPr/>
        </p:nvSpPr>
        <p:spPr>
          <a:xfrm>
            <a:off x="6675120" y="2697480"/>
            <a:ext cx="4892040" cy="50292"/>
          </a:xfrm>
          <a:prstGeom prst="rect">
            <a:avLst/>
          </a:prstGeom>
          <a:solidFill>
            <a:srgbClr val="B0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75120" y="2898648"/>
            <a:ext cx="4892040" cy="3639458"/>
          </a:xfrm>
          <a:prstGeom prst="rect">
            <a:avLst/>
          </a:prstGeom>
          <a:solidFill>
            <a:schemeClr val="accent2">
              <a:lumMod val="20000"/>
              <a:lumOff val="80000"/>
            </a:schemeClr>
          </a:solidFill>
        </p:spPr>
        <p:txBody>
          <a:bodyPr wrap="square" anchor="t">
            <a:spAutoFit/>
          </a:bodyPr>
          <a:lstStyle/>
          <a:p>
            <a:pPr algn="ctr">
              <a:spcBef>
                <a:spcPts val="0"/>
              </a:spcBef>
            </a:pPr>
            <a:r>
              <a:rPr sz="2800" b="1" dirty="0">
                <a:solidFill>
                  <a:srgbClr val="B06E00"/>
                </a:solidFill>
                <a:latin typeface="Canva Sans Bold"/>
              </a:rPr>
              <a:t>Voice</a:t>
            </a:r>
            <a:endParaRPr lang="en-US" sz="2800" b="1" dirty="0">
              <a:solidFill>
                <a:srgbClr val="B06E00"/>
              </a:solidFill>
              <a:latin typeface="Canva Sans Bold"/>
            </a:endParaRPr>
          </a:p>
          <a:p>
            <a:pPr algn="l">
              <a:spcBef>
                <a:spcPts val="0"/>
              </a:spcBef>
            </a:pPr>
            <a:endParaRPr lang="en-IN" sz="2000" b="1" dirty="0">
              <a:solidFill>
                <a:srgbClr val="B06E00"/>
              </a:solidFill>
              <a:latin typeface="Canva Sans Bold"/>
            </a:endParaRPr>
          </a:p>
          <a:p>
            <a:pPr algn="l">
              <a:spcBef>
                <a:spcPts val="0"/>
              </a:spcBef>
            </a:pPr>
            <a:endParaRPr sz="2000" b="1" dirty="0">
              <a:solidFill>
                <a:srgbClr val="B06E00"/>
              </a:solidFill>
              <a:latin typeface="Canva Sans Bold"/>
            </a:endParaRPr>
          </a:p>
          <a:p>
            <a:pPr>
              <a:spcBef>
                <a:spcPts val="900"/>
              </a:spcBef>
            </a:pPr>
            <a:r>
              <a:rPr sz="2000" dirty="0">
                <a:solidFill>
                  <a:srgbClr val="1E2936"/>
                </a:solidFill>
                <a:latin typeface="Canva Sans"/>
              </a:rPr>
              <a:t>Carries intensity the face hides - a flat expression with a sharp voice is still distress. Strong on clear speech (69%), much weaker in a noisy room (36%), and silent when nobody talks.</a:t>
            </a:r>
            <a:endParaRPr lang="en-US" sz="2000" dirty="0">
              <a:solidFill>
                <a:srgbClr val="1E2936"/>
              </a:solidFill>
              <a:latin typeface="Canva Sans"/>
            </a:endParaRPr>
          </a:p>
          <a:p>
            <a:pPr>
              <a:spcBef>
                <a:spcPts val="900"/>
              </a:spcBef>
            </a:pPr>
            <a:endParaRPr lang="en-IN" sz="2000" dirty="0">
              <a:solidFill>
                <a:srgbClr val="1E2936"/>
              </a:solidFill>
              <a:latin typeface="Canva Sans"/>
            </a:endParaRPr>
          </a:p>
          <a:p>
            <a:pPr>
              <a:spcBef>
                <a:spcPts val="900"/>
              </a:spcBef>
            </a:pPr>
            <a:endParaRPr sz="2000" dirty="0">
              <a:solidFill>
                <a:srgbClr val="1E2936"/>
              </a:solidFill>
              <a:latin typeface="Canva Sans"/>
            </a:endParaRPr>
          </a:p>
        </p:txBody>
      </p:sp>
      <p:sp>
        <p:nvSpPr>
          <p:cNvPr id="16" name="Rectangle 15"/>
          <p:cNvSpPr/>
          <p:nvPr/>
        </p:nvSpPr>
        <p:spPr>
          <a:xfrm>
            <a:off x="12207240" y="2697480"/>
            <a:ext cx="4892040" cy="50292"/>
          </a:xfrm>
          <a:prstGeom prst="rect">
            <a:avLst/>
          </a:prstGeom>
          <a:solidFill>
            <a:srgbClr val="7A5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207240" y="2898648"/>
            <a:ext cx="4892040" cy="3516347"/>
          </a:xfrm>
          <a:prstGeom prst="rect">
            <a:avLst/>
          </a:prstGeom>
          <a:solidFill>
            <a:schemeClr val="accent4">
              <a:lumMod val="20000"/>
              <a:lumOff val="80000"/>
            </a:schemeClr>
          </a:solidFill>
        </p:spPr>
        <p:txBody>
          <a:bodyPr wrap="square" anchor="t">
            <a:spAutoFit/>
          </a:bodyPr>
          <a:lstStyle/>
          <a:p>
            <a:pPr algn="ctr">
              <a:spcBef>
                <a:spcPts val="0"/>
              </a:spcBef>
            </a:pPr>
            <a:r>
              <a:rPr sz="2800" b="1" dirty="0">
                <a:solidFill>
                  <a:srgbClr val="7A5EA6"/>
                </a:solidFill>
                <a:latin typeface="Canva Sans Bold"/>
              </a:rPr>
              <a:t>Text</a:t>
            </a:r>
            <a:endParaRPr lang="en-US" sz="2800" b="1" dirty="0">
              <a:solidFill>
                <a:srgbClr val="7A5EA6"/>
              </a:solidFill>
              <a:latin typeface="Canva Sans Bold"/>
            </a:endParaRPr>
          </a:p>
          <a:p>
            <a:pPr algn="l">
              <a:spcBef>
                <a:spcPts val="0"/>
              </a:spcBef>
            </a:pPr>
            <a:endParaRPr lang="en-IN" sz="2000" b="1" dirty="0">
              <a:solidFill>
                <a:srgbClr val="7A5EA6"/>
              </a:solidFill>
              <a:latin typeface="Canva Sans Bold"/>
            </a:endParaRPr>
          </a:p>
          <a:p>
            <a:pPr algn="l">
              <a:spcBef>
                <a:spcPts val="0"/>
              </a:spcBef>
            </a:pPr>
            <a:endParaRPr sz="2000" b="1" dirty="0">
              <a:solidFill>
                <a:srgbClr val="7A5EA6"/>
              </a:solidFill>
              <a:latin typeface="Canva Sans Bold"/>
            </a:endParaRPr>
          </a:p>
          <a:p>
            <a:pPr>
              <a:spcBef>
                <a:spcPts val="900"/>
              </a:spcBef>
            </a:pPr>
            <a:r>
              <a:rPr sz="2000" dirty="0">
                <a:solidFill>
                  <a:srgbClr val="1E2936"/>
                </a:solidFill>
                <a:latin typeface="Canva Sans"/>
              </a:rPr>
              <a:t>The most explicit signal when it exists, but it arrives in bursts and goes stale. A message from two minutes ago says little about how someone feels now</a:t>
            </a:r>
            <a:r>
              <a:rPr sz="2400" dirty="0">
                <a:solidFill>
                  <a:srgbClr val="1E2936"/>
                </a:solidFill>
                <a:latin typeface="Canva Sans"/>
              </a:rPr>
              <a:t>.</a:t>
            </a:r>
            <a:endParaRPr lang="en-US" sz="2400" dirty="0">
              <a:solidFill>
                <a:srgbClr val="1E2936"/>
              </a:solidFill>
              <a:latin typeface="Canva Sans"/>
            </a:endParaRPr>
          </a:p>
          <a:p>
            <a:pPr>
              <a:spcBef>
                <a:spcPts val="900"/>
              </a:spcBef>
            </a:pPr>
            <a:endParaRPr lang="en-IN" sz="2400" dirty="0">
              <a:solidFill>
                <a:srgbClr val="1E2936"/>
              </a:solidFill>
              <a:latin typeface="Canva Sans"/>
            </a:endParaRPr>
          </a:p>
          <a:p>
            <a:pPr>
              <a:spcBef>
                <a:spcPts val="900"/>
              </a:spcBef>
            </a:pPr>
            <a:endParaRPr sz="2400" dirty="0">
              <a:solidFill>
                <a:srgbClr val="1E2936"/>
              </a:solidFill>
              <a:latin typeface="Canva Sans"/>
            </a:endParaRPr>
          </a:p>
        </p:txBody>
      </p:sp>
      <p:sp>
        <p:nvSpPr>
          <p:cNvPr id="18" name="TextBox 17"/>
          <p:cNvSpPr txBox="1"/>
          <p:nvPr/>
        </p:nvSpPr>
        <p:spPr>
          <a:xfrm>
            <a:off x="1143000" y="7086600"/>
            <a:ext cx="16002000" cy="1828800"/>
          </a:xfrm>
          <a:prstGeom prst="rect">
            <a:avLst/>
          </a:prstGeom>
          <a:noFill/>
        </p:spPr>
        <p:txBody>
          <a:bodyPr wrap="square" anchor="t">
            <a:spAutoFit/>
          </a:bodyPr>
          <a:lstStyle/>
          <a:p>
            <a:pPr algn="l">
              <a:spcBef>
                <a:spcPts val="0"/>
              </a:spcBef>
            </a:pPr>
            <a:r>
              <a:rPr sz="2000" b="1" dirty="0">
                <a:solidFill>
                  <a:srgbClr val="1F8A4C"/>
                </a:solidFill>
                <a:latin typeface="Canva Sans Bold"/>
              </a:rPr>
              <a:t>The consequence</a:t>
            </a:r>
          </a:p>
          <a:p>
            <a:pPr>
              <a:spcBef>
                <a:spcPts val="900"/>
              </a:spcBef>
            </a:pPr>
            <a:r>
              <a:rPr sz="1600" b="0" dirty="0">
                <a:solidFill>
                  <a:srgbClr val="1E2936"/>
                </a:solidFill>
                <a:latin typeface="Canva Sans"/>
              </a:rPr>
              <a:t>Because the three fail independently, the pool can recover when any one of them is wrong - and because each carries a confidence, the fusion knows when to stop trusting it. The system reports the weights alongside the answer, so a clinician can see which signal drove the call.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Title"/>
          <p:cNvSpPr txBox="1"/>
          <p:nvPr/>
        </p:nvSpPr>
        <p:spPr>
          <a:xfrm>
            <a:off x="1143000" y="475488"/>
            <a:ext cx="16002000" cy="777240"/>
          </a:xfrm>
          <a:prstGeom prst="rect">
            <a:avLst/>
          </a:prstGeom>
          <a:noFill/>
        </p:spPr>
        <p:txBody>
          <a:bodyPr wrap="square" anchor="t">
            <a:spAutoFit/>
          </a:bodyPr>
          <a:lstStyle/>
          <a:p>
            <a:pPr algn="l">
              <a:spcBef>
                <a:spcPts val="0"/>
              </a:spcBef>
            </a:pPr>
            <a:r>
              <a:rPr lang="en-US" sz="4000" b="1" dirty="0">
                <a:solidFill>
                  <a:srgbClr val="004AAD"/>
                </a:solidFill>
                <a:latin typeface="Canva Sans Bold"/>
              </a:rPr>
              <a:t>Why These Models</a:t>
            </a:r>
            <a:endParaRPr lang="en-US" sz="4000" b="1" dirty="0">
              <a:solidFill>
                <a:srgbClr val="004AAD"/>
              </a:solidFill>
              <a:latin typeface="Canva Sans Bold"/>
            </a:endParaRPr>
          </a:p>
        </p:txBody>
      </p:sp>
      <p:sp>
        <p:nvSpPr>
          <p:cNvPr id="11" name="TextBox Subtitle"/>
          <p:cNvSpPr txBox="1"/>
          <p:nvPr/>
        </p:nvSpPr>
        <p:spPr>
          <a:xfrm>
            <a:off x="1170432" y="1389888"/>
            <a:ext cx="15910560" cy="548640"/>
          </a:xfrm>
          <a:prstGeom prst="rect">
            <a:avLst/>
          </a:prstGeom>
          <a:noFill/>
        </p:spPr>
        <p:txBody>
          <a:bodyPr wrap="square" anchor="t">
            <a:spAutoFit/>
          </a:bodyPr>
          <a:lstStyle/>
          <a:p>
            <a:pPr algn="l">
              <a:spcBef>
                <a:spcPts val="0"/>
              </a:spcBef>
            </a:pPr>
            <a:r>
              <a:rPr lang="en-US" sz="1700" b="0" dirty="0">
                <a:solidFill>
                  <a:srgbClr val="1E2936"/>
                </a:solidFill>
                <a:latin typeface="Canva Sans"/>
              </a:rPr>
              <a:t>Each encoder was chosen against a measured alternative on the same data, not off a leaderboard.</a:t>
            </a:r>
            <a:endParaRPr lang="en-US" sz="1700" b="0" dirty="0">
              <a:solidFill>
                <a:srgbClr val="1E2936"/>
              </a:solidFill>
              <a:latin typeface="Canva Sans"/>
            </a:endParaRPr>
          </a:p>
        </p:txBody>
      </p:sp>
      <p:sp>
        <p:nvSpPr>
          <p:cNvPr id="100" name="Rule 100"/>
          <p:cNvSpPr/>
          <p:nvPr/>
        </p:nvSpPr>
        <p:spPr>
          <a:xfrm>
            <a:off x="1143000" y="2697480"/>
            <a:ext cx="4892040" cy="50292"/>
          </a:xfrm>
          <a:prstGeom prst="rect">
            <a:avLst/>
          </a:prstGeom>
          <a:solidFill>
            <a:srgbClr val="1C9CC0"/>
          </a:solidFill>
          <a:ln>
            <a:noFill/>
          </a:ln>
          <a:effectLst/>
        </p:spPr>
        <p:txBody>
          <a:bodyPr rtlCol="0" anchor="ctr"/>
          <a:lstStyle/>
          <a:p>
            <a:pPr algn="ctr"/>
            <a:endParaRPr/>
          </a:p>
        </p:txBody>
      </p:sp>
      <p:sp>
        <p:nvSpPr>
          <p:cNvPr id="101" name="Card 101"/>
          <p:cNvSpPr txBox="1"/>
          <p:nvPr/>
        </p:nvSpPr>
        <p:spPr>
          <a:xfrm>
            <a:off x="1143000" y="2880360"/>
            <a:ext cx="4892040" cy="3931920"/>
          </a:xfrm>
          <a:prstGeom prst="rect">
            <a:avLst/>
          </a:prstGeom>
          <a:solidFill>
            <a:schemeClr val="accent1">
              <a:lumMod val="20000"/>
              <a:lumOff val="80000"/>
            </a:schemeClr>
          </a:solidFill>
        </p:spPr>
        <p:txBody>
          <a:bodyPr wrap="square" anchor="t">
            <a:spAutoFit/>
          </a:bodyPr>
          <a:lstStyle/>
          <a:p>
            <a:pPr algn="ctr">
              <a:spcBef>
                <a:spcPts val="0"/>
              </a:spcBef>
            </a:pPr>
            <a:r>
              <a:rPr lang="en-US" sz="2600" b="1" dirty="0">
                <a:solidFill>
                  <a:srgbClr val="1C9CC0"/>
                </a:solidFill>
                <a:latin typeface="Canva Sans Bold"/>
              </a:rPr>
              <a:t>ViT-Base/16</a:t>
            </a:r>
            <a:endParaRPr lang="en-US" sz="2600" b="1" dirty="0">
              <a:solidFill>
                <a:srgbClr val="1C9CC0"/>
              </a:solidFill>
              <a:latin typeface="Canva Sans Bold"/>
            </a:endParaRPr>
          </a:p>
          <a:p>
            <a:pPr algn="l">
              <a:spcBef>
                <a:spcPts val="900"/>
              </a:spcBef>
            </a:pPr>
            <a:r>
              <a:rPr lang="en-US" sz="1600" b="0" dirty="0">
                <a:solidFill>
                  <a:srgbClr val="1E2936"/>
                </a:solidFill>
                <a:latin typeface="Canva Sans"/>
              </a:rPr>
              <a:t>Angry and sad differ in how the brow and the mouth move together, and self-attention over 16x16 patches relates those two regions in one layer where a small-kernel CNN needs depth to reach across the face. Capacity is not the binding constraint: balanced sampling (v5), label cleaning (v6) and a two-checkpoint ensemble all measured WORSE than v4 on unseen faces. ImageNet-21k pretraining is doing more work than any further architecture change would.</a:t>
            </a:r>
            <a:endParaRPr lang="en-US" sz="1600" b="0" dirty="0">
              <a:solidFill>
                <a:srgbClr val="1E2936"/>
              </a:solidFill>
              <a:latin typeface="Canva Sans"/>
            </a:endParaRPr>
          </a:p>
        </p:txBody>
      </p:sp>
      <p:sp>
        <p:nvSpPr>
          <p:cNvPr id="102" name="Rule 102"/>
          <p:cNvSpPr/>
          <p:nvPr/>
        </p:nvSpPr>
        <p:spPr>
          <a:xfrm>
            <a:off x="6675120" y="2697480"/>
            <a:ext cx="4892040" cy="50292"/>
          </a:xfrm>
          <a:prstGeom prst="rect">
            <a:avLst/>
          </a:prstGeom>
          <a:solidFill>
            <a:srgbClr val="B06E00"/>
          </a:solidFill>
          <a:ln>
            <a:noFill/>
          </a:ln>
          <a:effectLst/>
        </p:spPr>
        <p:txBody>
          <a:bodyPr rtlCol="0" anchor="ctr"/>
          <a:lstStyle/>
          <a:p>
            <a:pPr algn="ctr"/>
            <a:endParaRPr/>
          </a:p>
        </p:txBody>
      </p:sp>
      <p:sp>
        <p:nvSpPr>
          <p:cNvPr id="103" name="Card 103"/>
          <p:cNvSpPr txBox="1"/>
          <p:nvPr/>
        </p:nvSpPr>
        <p:spPr>
          <a:xfrm>
            <a:off x="6675120" y="2880360"/>
            <a:ext cx="4892040" cy="3931920"/>
          </a:xfrm>
          <a:prstGeom prst="rect">
            <a:avLst/>
          </a:prstGeom>
          <a:solidFill>
            <a:schemeClr val="accent2">
              <a:lumMod val="20000"/>
              <a:lumOff val="80000"/>
            </a:schemeClr>
          </a:solidFill>
        </p:spPr>
        <p:txBody>
          <a:bodyPr wrap="square" anchor="t">
            <a:spAutoFit/>
          </a:bodyPr>
          <a:lstStyle/>
          <a:p>
            <a:pPr algn="ctr">
              <a:spcBef>
                <a:spcPts val="0"/>
              </a:spcBef>
            </a:pPr>
            <a:r>
              <a:rPr lang="en-US" sz="2600" b="1" dirty="0">
                <a:solidFill>
                  <a:srgbClr val="B06E00"/>
                </a:solidFill>
                <a:latin typeface="Canva Sans Bold"/>
              </a:rPr>
              <a:t>WavLM-base+</a:t>
            </a:r>
            <a:endParaRPr lang="en-US" sz="2600" b="1" dirty="0">
              <a:solidFill>
                <a:srgbClr val="B06E00"/>
              </a:solidFill>
              <a:latin typeface="Canva Sans Bold"/>
            </a:endParaRPr>
          </a:p>
          <a:p>
            <a:pPr algn="l">
              <a:spcBef>
                <a:spcPts val="900"/>
              </a:spcBef>
            </a:pPr>
            <a:r>
              <a:rPr lang="en-US" sz="1600" b="0" dirty="0">
                <a:solidFill>
                  <a:srgbClr val="1E2936"/>
                </a:solidFill>
                <a:latin typeface="Canva Sans"/>
              </a:rPr>
              <a:t>Benchmarked against this project's own MFCC CNN on identical speaker-disjoint splits: macro-F1 0.322 to 0.499, a 17.7-point gap from the model alone. Self-supervised pretraining on roughly 94k hours of speech is knowledge 4,179 clips cannot supply. A learned mixture over its 13 hidden states settles on layers 9-10, not the top - the masked-prediction head drifts away from paralinguistics, so the final layer alone would discard the emotion.</a:t>
            </a:r>
            <a:endParaRPr lang="en-US" sz="1600" b="0" dirty="0">
              <a:solidFill>
                <a:srgbClr val="1E2936"/>
              </a:solidFill>
              <a:latin typeface="Canva Sans"/>
            </a:endParaRPr>
          </a:p>
        </p:txBody>
      </p:sp>
      <p:sp>
        <p:nvSpPr>
          <p:cNvPr id="104" name="Rule 104"/>
          <p:cNvSpPr/>
          <p:nvPr/>
        </p:nvSpPr>
        <p:spPr>
          <a:xfrm>
            <a:off x="12207240" y="2697480"/>
            <a:ext cx="4892040" cy="50292"/>
          </a:xfrm>
          <a:prstGeom prst="rect">
            <a:avLst/>
          </a:prstGeom>
          <a:solidFill>
            <a:srgbClr val="7A5EA6"/>
          </a:solidFill>
          <a:ln>
            <a:noFill/>
          </a:ln>
          <a:effectLst/>
        </p:spPr>
        <p:txBody>
          <a:bodyPr rtlCol="0" anchor="ctr"/>
          <a:lstStyle/>
          <a:p>
            <a:pPr algn="ctr"/>
            <a:endParaRPr/>
          </a:p>
        </p:txBody>
      </p:sp>
      <p:sp>
        <p:nvSpPr>
          <p:cNvPr id="105" name="Card 105"/>
          <p:cNvSpPr txBox="1"/>
          <p:nvPr/>
        </p:nvSpPr>
        <p:spPr>
          <a:xfrm>
            <a:off x="12207240" y="2880360"/>
            <a:ext cx="4892040" cy="3931920"/>
          </a:xfrm>
          <a:prstGeom prst="rect">
            <a:avLst/>
          </a:prstGeom>
          <a:solidFill>
            <a:schemeClr val="accent4">
              <a:lumMod val="20000"/>
              <a:lumOff val="80000"/>
            </a:schemeClr>
          </a:solidFill>
        </p:spPr>
        <p:txBody>
          <a:bodyPr wrap="square" anchor="t">
            <a:spAutoFit/>
          </a:bodyPr>
          <a:lstStyle/>
          <a:p>
            <a:pPr algn="ctr">
              <a:spcBef>
                <a:spcPts val="0"/>
              </a:spcBef>
            </a:pPr>
            <a:r>
              <a:rPr lang="en-US" sz="2600" b="1" dirty="0">
                <a:solidFill>
                  <a:srgbClr val="7A5EA6"/>
                </a:solidFill>
                <a:latin typeface="Canva Sans Bold"/>
              </a:rPr>
              <a:t>TinyBERT 4L-312D</a:t>
            </a:r>
            <a:endParaRPr lang="en-US" sz="2600" b="1" dirty="0">
              <a:solidFill>
                <a:srgbClr val="7A5EA6"/>
              </a:solidFill>
              <a:latin typeface="Canva Sans Bold"/>
            </a:endParaRPr>
          </a:p>
          <a:p>
            <a:pPr algn="l">
              <a:spcBef>
                <a:spcPts val="900"/>
              </a:spcBef>
            </a:pPr>
            <a:r>
              <a:rPr lang="en-US" sz="1600" b="0" dirty="0">
                <a:solidFill>
                  <a:srgbClr val="1E2936"/>
                </a:solidFill>
                <a:latin typeface="Canva Sans"/>
              </a:rPr>
              <a:t>Benchmarked against DistilBERT (67M) and MobileBERT (24.6M) on the same split: 88.6 macro-F1 against 89.3 and 89.4, so 0.8 points behind at 2.8 ms against 10.6 and 16.9, and 7.6x smaller than BERT-base. BERT-base and RoBERTa were excluded on the CPU budget, not on accuracy. The deployed checkpoint is the GoEmotions one because it predicts the shared seven directly; the 6-class head cannot say neutral or disgust.</a:t>
            </a:r>
            <a:endParaRPr lang="en-US" sz="1600" b="0" dirty="0">
              <a:solidFill>
                <a:srgbClr val="1E2936"/>
              </a:solidFill>
              <a:latin typeface="Canva Sans"/>
            </a:endParaRPr>
          </a:p>
        </p:txBody>
      </p:sp>
      <p:sp>
        <p:nvSpPr>
          <p:cNvPr id="106" name="Footer 106"/>
          <p:cNvSpPr txBox="1"/>
          <p:nvPr/>
        </p:nvSpPr>
        <p:spPr>
          <a:xfrm>
            <a:off x="1143000" y="7040880"/>
            <a:ext cx="16002000" cy="1221232"/>
          </a:xfrm>
          <a:prstGeom prst="rect">
            <a:avLst/>
          </a:prstGeom>
          <a:noFill/>
        </p:spPr>
        <p:txBody>
          <a:bodyPr wrap="square" anchor="t">
            <a:spAutoFit/>
          </a:bodyPr>
          <a:lstStyle/>
          <a:p>
            <a:pPr algn="l">
              <a:spcBef>
                <a:spcPts val="0"/>
              </a:spcBef>
            </a:pPr>
            <a:r>
              <a:rPr lang="en-US" sz="2000" b="1" dirty="0">
                <a:solidFill>
                  <a:srgbClr val="1E2936"/>
                </a:solidFill>
                <a:latin typeface="Canva Sans Bold"/>
              </a:rPr>
              <a:t>And why the fusion is not a fourth model</a:t>
            </a:r>
            <a:endParaRPr lang="en-US" sz="2000" b="1" dirty="0">
              <a:solidFill>
                <a:srgbClr val="1E2936"/>
              </a:solidFill>
              <a:latin typeface="Canva Sans Bold"/>
            </a:endParaRPr>
          </a:p>
          <a:p>
            <a:pPr algn="l">
              <a:spcBef>
                <a:spcPts val="600"/>
              </a:spcBef>
            </a:pPr>
            <a:r>
              <a:rPr lang="en-US" sz="1600" b="0" dirty="0">
                <a:solidFill>
                  <a:srgbClr val="1E2936"/>
                </a:solidFill>
                <a:latin typeface="Canva Sans"/>
              </a:rPr>
              <a:t>A learned fusion head needs trimodal training data in this label space, and none exists - it would have to be fitted on simulated pairs and could never be audited. The logarithmic opinion pool has no parameters to fit, survives a missing modality, and reports the weight it gave each signal, which is what a clinician actually has to check.</a:t>
            </a:r>
            <a:endParaRPr lang="en-US" sz="1600" b="0" dirty="0">
              <a:solidFill>
                <a:srgbClr val="1E2936"/>
              </a:solidFill>
              <a:latin typeface="Canva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9"/>
          <p:cNvSpPr txBox="1"/>
          <p:nvPr/>
        </p:nvSpPr>
        <p:spPr>
          <a:xfrm>
            <a:off x="5468111" y="469017"/>
            <a:ext cx="7315200" cy="707886"/>
          </a:xfrm>
          <a:prstGeom prst="rect">
            <a:avLst/>
          </a:prstGeom>
          <a:noFill/>
        </p:spPr>
        <p:txBody>
          <a:bodyPr wrap="square" anchor="t">
            <a:spAutoFit/>
          </a:bodyPr>
          <a:lstStyle/>
          <a:p>
            <a:pPr algn="l">
              <a:spcBef>
                <a:spcPts val="0"/>
              </a:spcBef>
            </a:pPr>
            <a:r>
              <a:rPr sz="4000" b="1" dirty="0">
                <a:solidFill>
                  <a:srgbClr val="004AAD"/>
                </a:solidFill>
                <a:latin typeface="Canva Sans Bold"/>
              </a:rPr>
              <a:t>Rebuilding the Audio Corpus</a:t>
            </a:r>
          </a:p>
        </p:txBody>
      </p:sp>
      <p:sp>
        <p:nvSpPr>
          <p:cNvPr id="11" name="TextBox 10"/>
          <p:cNvSpPr txBox="1"/>
          <p:nvPr/>
        </p:nvSpPr>
        <p:spPr>
          <a:xfrm>
            <a:off x="1170432" y="1389888"/>
            <a:ext cx="15910559" cy="548640"/>
          </a:xfrm>
          <a:prstGeom prst="rect">
            <a:avLst/>
          </a:prstGeom>
          <a:noFill/>
        </p:spPr>
        <p:txBody>
          <a:bodyPr wrap="square" anchor="t">
            <a:spAutoFit/>
          </a:bodyPr>
          <a:lstStyle/>
          <a:p>
            <a:pPr algn="l">
              <a:spcBef>
                <a:spcPts val="0"/>
              </a:spcBef>
            </a:pPr>
            <a:r>
              <a:rPr sz="1700" b="0">
                <a:solidFill>
                  <a:srgbClr val="5A6472"/>
                </a:solidFill>
                <a:latin typeface="Canva Sans"/>
              </a:rPr>
              <a:t>The earlier branch shipped an audio model that was never trained, on a corpus missing two of the seven emotions.</a:t>
            </a:r>
          </a:p>
        </p:txBody>
      </p:sp>
      <p:pic>
        <p:nvPicPr>
          <p:cNvPr id="12" name="Picture 11" descr="chart_corpus.png"/>
          <p:cNvPicPr>
            <a:picLocks noChangeAspect="1"/>
          </p:cNvPicPr>
          <p:nvPr/>
        </p:nvPicPr>
        <p:blipFill>
          <a:blip r:embed="rId4"/>
          <a:stretch>
            <a:fillRect/>
          </a:stretch>
        </p:blipFill>
        <p:spPr>
          <a:xfrm>
            <a:off x="1257300" y="1770727"/>
            <a:ext cx="14404571" cy="6889143"/>
          </a:xfrm>
          <a:prstGeom prst="rect">
            <a:avLst/>
          </a:prstGeom>
        </p:spPr>
      </p:pic>
      <p:sp>
        <p:nvSpPr>
          <p:cNvPr id="13" name="TextBox 12"/>
          <p:cNvSpPr txBox="1"/>
          <p:nvPr/>
        </p:nvSpPr>
        <p:spPr>
          <a:xfrm>
            <a:off x="1143000" y="8549640"/>
            <a:ext cx="16002000" cy="914400"/>
          </a:xfrm>
          <a:prstGeom prst="rect">
            <a:avLst/>
          </a:prstGeom>
          <a:noFill/>
        </p:spPr>
        <p:txBody>
          <a:bodyPr wrap="square" anchor="t">
            <a:spAutoFit/>
          </a:bodyPr>
          <a:lstStyle/>
          <a:p>
            <a:pPr algn="l">
              <a:spcBef>
                <a:spcPts val="0"/>
              </a:spcBef>
            </a:pPr>
            <a:r>
              <a:rPr sz="1500" b="0">
                <a:solidFill>
                  <a:srgbClr val="5A6472"/>
                </a:solidFill>
                <a:latin typeface="Canva Sans"/>
              </a:rPr>
              <a:t>Split by SPEAKER, not by clip. Every acted corpus has each actor perform every emotion on the same sentences, so a random split lets a model score by recognising the voice - worth 15-25 points, and the reason many published numbers look high.</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9"/>
          <p:cNvSpPr txBox="1"/>
          <p:nvPr/>
        </p:nvSpPr>
        <p:spPr>
          <a:xfrm>
            <a:off x="5334000" y="469603"/>
            <a:ext cx="6477000" cy="707886"/>
          </a:xfrm>
          <a:prstGeom prst="rect">
            <a:avLst/>
          </a:prstGeom>
          <a:noFill/>
        </p:spPr>
        <p:txBody>
          <a:bodyPr wrap="square" anchor="t">
            <a:spAutoFit/>
          </a:bodyPr>
          <a:lstStyle/>
          <a:p>
            <a:pPr algn="l">
              <a:spcBef>
                <a:spcPts val="0"/>
              </a:spcBef>
            </a:pPr>
            <a:r>
              <a:rPr sz="4000" b="1" dirty="0">
                <a:solidFill>
                  <a:srgbClr val="004AAD"/>
                </a:solidFill>
                <a:latin typeface="Canva Sans Bold"/>
              </a:rPr>
              <a:t>Audio Modality — Results</a:t>
            </a:r>
          </a:p>
        </p:txBody>
      </p:sp>
      <p:sp>
        <p:nvSpPr>
          <p:cNvPr id="11" name="TextBox 10"/>
          <p:cNvSpPr txBox="1"/>
          <p:nvPr/>
        </p:nvSpPr>
        <p:spPr>
          <a:xfrm>
            <a:off x="1170432" y="1389888"/>
            <a:ext cx="15910559" cy="548640"/>
          </a:xfrm>
          <a:prstGeom prst="rect">
            <a:avLst/>
          </a:prstGeom>
          <a:noFill/>
        </p:spPr>
        <p:txBody>
          <a:bodyPr wrap="square" anchor="t">
            <a:spAutoFit/>
          </a:bodyPr>
          <a:lstStyle/>
          <a:p>
            <a:pPr algn="l">
              <a:spcBef>
                <a:spcPts val="0"/>
              </a:spcBef>
            </a:pPr>
            <a:r>
              <a:rPr sz="1700" b="0">
                <a:solidFill>
                  <a:srgbClr val="5A6472"/>
                </a:solidFill>
                <a:latin typeface="Canva Sans"/>
              </a:rPr>
              <a:t>Speaker-disjoint test split, 4,179 clips, seven classes (chance = 14.3%). Same data, same splits — the gap is the model.</a:t>
            </a:r>
          </a:p>
        </p:txBody>
      </p:sp>
      <p:pic>
        <p:nvPicPr>
          <p:cNvPr id="12" name="Picture 11" descr="chart_audio.png"/>
          <p:cNvPicPr>
            <a:picLocks noChangeAspect="1"/>
          </p:cNvPicPr>
          <p:nvPr/>
        </p:nvPicPr>
        <p:blipFill>
          <a:blip r:embed="rId4"/>
          <a:stretch>
            <a:fillRect/>
          </a:stretch>
        </p:blipFill>
        <p:spPr>
          <a:xfrm>
            <a:off x="2158435" y="1714975"/>
            <a:ext cx="12828129" cy="6881314"/>
          </a:xfrm>
          <a:prstGeom prst="rect">
            <a:avLst/>
          </a:prstGeom>
        </p:spPr>
      </p:pic>
      <p:sp>
        <p:nvSpPr>
          <p:cNvPr id="13" name="TextBox 12"/>
          <p:cNvSpPr txBox="1"/>
          <p:nvPr/>
        </p:nvSpPr>
        <p:spPr>
          <a:xfrm>
            <a:off x="1143000" y="8536786"/>
            <a:ext cx="16002000" cy="1097280"/>
          </a:xfrm>
          <a:prstGeom prst="rect">
            <a:avLst/>
          </a:prstGeom>
          <a:noFill/>
        </p:spPr>
        <p:txBody>
          <a:bodyPr wrap="square" anchor="t">
            <a:spAutoFit/>
          </a:bodyPr>
          <a:lstStyle/>
          <a:p>
            <a:pPr algn="l">
              <a:spcBef>
                <a:spcPts val="0"/>
              </a:spcBef>
            </a:pPr>
            <a:r>
              <a:rPr sz="1500" b="0" dirty="0">
                <a:solidFill>
                  <a:srgbClr val="5A6472"/>
                </a:solidFill>
                <a:latin typeface="Canva Sans"/>
              </a:rPr>
              <a:t>The baseline is the earlier branch's own architecture, imported unchanged and retrained on the same data - so the +17.7 point gap isolates the model from the dataset. The averaged number hides the real finding: studio speech works, a noisy room is still hard, and the fusion is told the harder number.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chart_fusion.png"/>
          <p:cNvPicPr>
            <a:picLocks noChangeAspect="1"/>
          </p:cNvPicPr>
          <p:nvPr/>
        </p:nvPicPr>
        <p:blipFill>
          <a:blip r:embed="rId2"/>
          <a:stretch>
            <a:fillRect/>
          </a:stretch>
        </p:blipFill>
        <p:spPr>
          <a:xfrm>
            <a:off x="1022772" y="1485900"/>
            <a:ext cx="15472108" cy="7265907"/>
          </a:xfrm>
          <a:prstGeom prst="rect">
            <a:avLst/>
          </a:prstGeom>
        </p:spPr>
      </p:pic>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3"/>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4"/>
              <a:stretch>
                <a:fillRect l="-2" t="-5884" b="-6094"/>
              </a:stretch>
            </a:blipFill>
          </p:spPr>
        </p:sp>
      </p:grpSp>
      <p:sp>
        <p:nvSpPr>
          <p:cNvPr id="10" name="TextBox 9"/>
          <p:cNvSpPr txBox="1"/>
          <p:nvPr/>
        </p:nvSpPr>
        <p:spPr>
          <a:xfrm>
            <a:off x="1143000" y="475488"/>
            <a:ext cx="16002000" cy="1234440"/>
          </a:xfrm>
          <a:prstGeom prst="rect">
            <a:avLst/>
          </a:prstGeom>
          <a:noFill/>
        </p:spPr>
        <p:txBody>
          <a:bodyPr wrap="square" anchor="t">
            <a:spAutoFit/>
          </a:bodyPr>
          <a:lstStyle/>
          <a:p>
            <a:pPr algn="l">
              <a:spcBef>
                <a:spcPts val="0"/>
              </a:spcBef>
            </a:pPr>
            <a:r>
              <a:rPr sz="4000" b="1">
                <a:solidFill>
                  <a:srgbClr val="004AAD"/>
                </a:solidFill>
                <a:latin typeface="Canva Sans Bold"/>
              </a:rPr>
              <a:t>Does Fusion Actually Help?</a:t>
            </a:r>
          </a:p>
        </p:txBody>
      </p:sp>
      <p:sp>
        <p:nvSpPr>
          <p:cNvPr id="11" name="TextBox 10"/>
          <p:cNvSpPr txBox="1"/>
          <p:nvPr/>
        </p:nvSpPr>
        <p:spPr>
          <a:xfrm>
            <a:off x="1170432" y="1389888"/>
            <a:ext cx="15910559" cy="548640"/>
          </a:xfrm>
          <a:prstGeom prst="rect">
            <a:avLst/>
          </a:prstGeom>
          <a:noFill/>
        </p:spPr>
        <p:txBody>
          <a:bodyPr wrap="square" anchor="t">
            <a:spAutoFit/>
          </a:bodyPr>
          <a:lstStyle/>
          <a:p>
            <a:pPr algn="l">
              <a:spcBef>
                <a:spcPts val="0"/>
              </a:spcBef>
            </a:pPr>
            <a:r>
              <a:rPr sz="1700" b="0">
                <a:solidFill>
                  <a:srgbClr val="5A6472"/>
                </a:solidFill>
                <a:latin typeface="Canva Sans"/>
              </a:rPr>
              <a:t>MELD test split, 2,523 clips carrying both audio and a transcript. Solid = accuracy, hatched = macro-F1.</a:t>
            </a:r>
          </a:p>
        </p:txBody>
      </p:sp>
      <p:sp>
        <p:nvSpPr>
          <p:cNvPr id="13" name="TextBox 12"/>
          <p:cNvSpPr txBox="1"/>
          <p:nvPr/>
        </p:nvSpPr>
        <p:spPr>
          <a:xfrm>
            <a:off x="1143000" y="8651904"/>
            <a:ext cx="16002000" cy="1188720"/>
          </a:xfrm>
          <a:prstGeom prst="rect">
            <a:avLst/>
          </a:prstGeom>
          <a:noFill/>
        </p:spPr>
        <p:txBody>
          <a:bodyPr wrap="square" anchor="t">
            <a:spAutoFit/>
          </a:bodyPr>
          <a:lstStyle/>
          <a:p>
            <a:pPr algn="l">
              <a:spcBef>
                <a:spcPts val="0"/>
              </a:spcBef>
            </a:pPr>
            <a:r>
              <a:rPr sz="1500" b="0" dirty="0">
                <a:solidFill>
                  <a:srgbClr val="5A6472"/>
                </a:solidFill>
                <a:latin typeface="Canva Sans"/>
              </a:rPr>
              <a:t>Measured on real pairs, not synthetic ones: MELD ships a transcript per clip, so audio and text describe the same utterance. The gain is modest for an honest reason - on real data the modalities fail together (a flat delivery and a flat sentence co-occur), which independent pairing cannot show.</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9"/>
          <p:cNvSpPr txBox="1"/>
          <p:nvPr/>
        </p:nvSpPr>
        <p:spPr>
          <a:xfrm>
            <a:off x="1143000" y="475488"/>
            <a:ext cx="16002000" cy="1234440"/>
          </a:xfrm>
          <a:prstGeom prst="rect">
            <a:avLst/>
          </a:prstGeom>
          <a:noFill/>
        </p:spPr>
        <p:txBody>
          <a:bodyPr wrap="square" anchor="t">
            <a:spAutoFit/>
          </a:bodyPr>
          <a:lstStyle/>
          <a:p>
            <a:pPr algn="l">
              <a:spcBef>
                <a:spcPts val="0"/>
              </a:spcBef>
            </a:pPr>
            <a:r>
              <a:rPr sz="4000" b="1">
                <a:solidFill>
                  <a:srgbClr val="004AAD"/>
                </a:solidFill>
                <a:latin typeface="Canva Sans Bold"/>
              </a:rPr>
              <a:t>Scoring the Multimodality</a:t>
            </a:r>
          </a:p>
        </p:txBody>
      </p:sp>
      <p:sp>
        <p:nvSpPr>
          <p:cNvPr id="11" name="TextBox 10"/>
          <p:cNvSpPr txBox="1"/>
          <p:nvPr/>
        </p:nvSpPr>
        <p:spPr>
          <a:xfrm>
            <a:off x="1170432" y="1389888"/>
            <a:ext cx="15910559" cy="548640"/>
          </a:xfrm>
          <a:prstGeom prst="rect">
            <a:avLst/>
          </a:prstGeom>
          <a:noFill/>
        </p:spPr>
        <p:txBody>
          <a:bodyPr wrap="square" anchor="t">
            <a:spAutoFit/>
          </a:bodyPr>
          <a:lstStyle/>
          <a:p>
            <a:pPr algn="l">
              <a:spcBef>
                <a:spcPts val="0"/>
              </a:spcBef>
            </a:pPr>
            <a:r>
              <a:rPr sz="1700" b="0">
                <a:solidFill>
                  <a:srgbClr val="5A6472"/>
                </a:solidFill>
                <a:latin typeface="Canva Sans"/>
              </a:rPr>
              <a:t>A single figure, from five components with stated weights - so the number can be argued with.</a:t>
            </a:r>
          </a:p>
        </p:txBody>
      </p:sp>
      <p:sp>
        <p:nvSpPr>
          <p:cNvPr id="12" name="TextBox 11"/>
          <p:cNvSpPr txBox="1"/>
          <p:nvPr/>
        </p:nvSpPr>
        <p:spPr>
          <a:xfrm>
            <a:off x="1143000" y="2788920"/>
            <a:ext cx="4663440" cy="640080"/>
          </a:xfrm>
          <a:prstGeom prst="rect">
            <a:avLst/>
          </a:prstGeom>
          <a:noFill/>
        </p:spPr>
        <p:txBody>
          <a:bodyPr wrap="square" anchor="t">
            <a:spAutoFit/>
          </a:bodyPr>
          <a:lstStyle/>
          <a:p>
            <a:pPr algn="l">
              <a:spcBef>
                <a:spcPts val="0"/>
              </a:spcBef>
            </a:pPr>
            <a:r>
              <a:rPr sz="1700" b="1">
                <a:solidFill>
                  <a:srgbClr val="1E2936"/>
                </a:solidFill>
                <a:latin typeface="Canva Sans Bold"/>
              </a:rPr>
              <a:t>Capability</a:t>
            </a:r>
          </a:p>
        </p:txBody>
      </p:sp>
      <p:sp>
        <p:nvSpPr>
          <p:cNvPr id="13" name="TextBox 12"/>
          <p:cNvSpPr txBox="1"/>
          <p:nvPr/>
        </p:nvSpPr>
        <p:spPr>
          <a:xfrm>
            <a:off x="5897880" y="2788920"/>
            <a:ext cx="1188720" cy="640080"/>
          </a:xfrm>
          <a:prstGeom prst="rect">
            <a:avLst/>
          </a:prstGeom>
          <a:noFill/>
        </p:spPr>
        <p:txBody>
          <a:bodyPr wrap="square" anchor="t">
            <a:spAutoFit/>
          </a:bodyPr>
          <a:lstStyle/>
          <a:p>
            <a:pPr algn="l">
              <a:spcBef>
                <a:spcPts val="0"/>
              </a:spcBef>
            </a:pPr>
            <a:r>
              <a:rPr sz="1700" b="1">
                <a:solidFill>
                  <a:srgbClr val="004AAD"/>
                </a:solidFill>
                <a:latin typeface="Canva Sans Bold"/>
              </a:rPr>
              <a:t>0.633</a:t>
            </a:r>
          </a:p>
        </p:txBody>
      </p:sp>
      <p:sp>
        <p:nvSpPr>
          <p:cNvPr id="14" name="TextBox 13"/>
          <p:cNvSpPr txBox="1"/>
          <p:nvPr/>
        </p:nvSpPr>
        <p:spPr>
          <a:xfrm>
            <a:off x="7086600" y="2788920"/>
            <a:ext cx="1188720" cy="640080"/>
          </a:xfrm>
          <a:prstGeom prst="rect">
            <a:avLst/>
          </a:prstGeom>
          <a:noFill/>
        </p:spPr>
        <p:txBody>
          <a:bodyPr wrap="square" anchor="t">
            <a:spAutoFit/>
          </a:bodyPr>
          <a:lstStyle/>
          <a:p>
            <a:pPr algn="l">
              <a:spcBef>
                <a:spcPts val="0"/>
              </a:spcBef>
            </a:pPr>
            <a:r>
              <a:rPr sz="1500" b="0">
                <a:solidFill>
                  <a:srgbClr val="5A6472"/>
                </a:solidFill>
                <a:latin typeface="Canva Sans"/>
              </a:rPr>
              <a:t>x 0.35</a:t>
            </a:r>
          </a:p>
        </p:txBody>
      </p:sp>
      <p:sp>
        <p:nvSpPr>
          <p:cNvPr id="15" name="TextBox 14"/>
          <p:cNvSpPr txBox="1"/>
          <p:nvPr/>
        </p:nvSpPr>
        <p:spPr>
          <a:xfrm>
            <a:off x="8366760" y="2788920"/>
            <a:ext cx="8778240" cy="640080"/>
          </a:xfrm>
          <a:prstGeom prst="rect">
            <a:avLst/>
          </a:prstGeom>
          <a:noFill/>
        </p:spPr>
        <p:txBody>
          <a:bodyPr wrap="square" anchor="t">
            <a:spAutoFit/>
          </a:bodyPr>
          <a:lstStyle/>
          <a:p>
            <a:pPr algn="l">
              <a:spcBef>
                <a:spcPts val="0"/>
              </a:spcBef>
            </a:pPr>
            <a:r>
              <a:rPr sz="1500" b="0">
                <a:solidFill>
                  <a:srgbClr val="5A6472"/>
                </a:solidFill>
                <a:latin typeface="Canva Sans"/>
              </a:rPr>
              <a:t>trimodal macro-F1 against a 0.70 ceiling</a:t>
            </a:r>
          </a:p>
        </p:txBody>
      </p:sp>
      <p:sp>
        <p:nvSpPr>
          <p:cNvPr id="16" name="TextBox 15"/>
          <p:cNvSpPr txBox="1"/>
          <p:nvPr/>
        </p:nvSpPr>
        <p:spPr>
          <a:xfrm>
            <a:off x="1143000" y="3630168"/>
            <a:ext cx="4663440" cy="640080"/>
          </a:xfrm>
          <a:prstGeom prst="rect">
            <a:avLst/>
          </a:prstGeom>
          <a:noFill/>
        </p:spPr>
        <p:txBody>
          <a:bodyPr wrap="square" anchor="t">
            <a:spAutoFit/>
          </a:bodyPr>
          <a:lstStyle/>
          <a:p>
            <a:pPr algn="l">
              <a:spcBef>
                <a:spcPts val="0"/>
              </a:spcBef>
            </a:pPr>
            <a:r>
              <a:rPr sz="1700" b="1">
                <a:solidFill>
                  <a:srgbClr val="1E2936"/>
                </a:solidFill>
                <a:latin typeface="Canva Sans Bold"/>
              </a:rPr>
              <a:t>Fusion gain</a:t>
            </a:r>
          </a:p>
        </p:txBody>
      </p:sp>
      <p:sp>
        <p:nvSpPr>
          <p:cNvPr id="17" name="TextBox 16"/>
          <p:cNvSpPr txBox="1"/>
          <p:nvPr/>
        </p:nvSpPr>
        <p:spPr>
          <a:xfrm>
            <a:off x="5897880" y="3630168"/>
            <a:ext cx="1188720" cy="640080"/>
          </a:xfrm>
          <a:prstGeom prst="rect">
            <a:avLst/>
          </a:prstGeom>
          <a:noFill/>
        </p:spPr>
        <p:txBody>
          <a:bodyPr wrap="square" anchor="t">
            <a:spAutoFit/>
          </a:bodyPr>
          <a:lstStyle/>
          <a:p>
            <a:pPr algn="l">
              <a:spcBef>
                <a:spcPts val="0"/>
              </a:spcBef>
            </a:pPr>
            <a:r>
              <a:rPr sz="1700" b="1">
                <a:solidFill>
                  <a:srgbClr val="004AAD"/>
                </a:solidFill>
                <a:latin typeface="Canva Sans Bold"/>
              </a:rPr>
              <a:t>0.222</a:t>
            </a:r>
          </a:p>
        </p:txBody>
      </p:sp>
      <p:sp>
        <p:nvSpPr>
          <p:cNvPr id="18" name="TextBox 17"/>
          <p:cNvSpPr txBox="1"/>
          <p:nvPr/>
        </p:nvSpPr>
        <p:spPr>
          <a:xfrm>
            <a:off x="7086600" y="3630168"/>
            <a:ext cx="1188720" cy="640080"/>
          </a:xfrm>
          <a:prstGeom prst="rect">
            <a:avLst/>
          </a:prstGeom>
          <a:noFill/>
        </p:spPr>
        <p:txBody>
          <a:bodyPr wrap="square" anchor="t">
            <a:spAutoFit/>
          </a:bodyPr>
          <a:lstStyle/>
          <a:p>
            <a:pPr algn="l">
              <a:spcBef>
                <a:spcPts val="0"/>
              </a:spcBef>
            </a:pPr>
            <a:r>
              <a:rPr sz="1500" b="0">
                <a:solidFill>
                  <a:srgbClr val="5A6472"/>
                </a:solidFill>
                <a:latin typeface="Canva Sans"/>
              </a:rPr>
              <a:t>x 0.25</a:t>
            </a:r>
          </a:p>
        </p:txBody>
      </p:sp>
      <p:sp>
        <p:nvSpPr>
          <p:cNvPr id="19" name="TextBox 18"/>
          <p:cNvSpPr txBox="1"/>
          <p:nvPr/>
        </p:nvSpPr>
        <p:spPr>
          <a:xfrm>
            <a:off x="8366760" y="3630168"/>
            <a:ext cx="8778240" cy="640080"/>
          </a:xfrm>
          <a:prstGeom prst="rect">
            <a:avLst/>
          </a:prstGeom>
          <a:noFill/>
        </p:spPr>
        <p:txBody>
          <a:bodyPr wrap="square" anchor="t">
            <a:spAutoFit/>
          </a:bodyPr>
          <a:lstStyle/>
          <a:p>
            <a:pPr algn="l">
              <a:spcBef>
                <a:spcPts val="0"/>
              </a:spcBef>
            </a:pPr>
            <a:r>
              <a:rPr sz="1500" b="0">
                <a:solidFill>
                  <a:srgbClr val="5A6472"/>
                </a:solidFill>
                <a:latin typeface="Canva Sans"/>
              </a:rPr>
              <a:t>macro-F1 over the best single modality, against +0.10</a:t>
            </a:r>
          </a:p>
        </p:txBody>
      </p:sp>
      <p:sp>
        <p:nvSpPr>
          <p:cNvPr id="20" name="TextBox 19"/>
          <p:cNvSpPr txBox="1"/>
          <p:nvPr/>
        </p:nvSpPr>
        <p:spPr>
          <a:xfrm>
            <a:off x="1143000" y="4471416"/>
            <a:ext cx="4663440" cy="640080"/>
          </a:xfrm>
          <a:prstGeom prst="rect">
            <a:avLst/>
          </a:prstGeom>
          <a:noFill/>
        </p:spPr>
        <p:txBody>
          <a:bodyPr wrap="square" anchor="t">
            <a:spAutoFit/>
          </a:bodyPr>
          <a:lstStyle/>
          <a:p>
            <a:pPr algn="l">
              <a:spcBef>
                <a:spcPts val="0"/>
              </a:spcBef>
            </a:pPr>
            <a:r>
              <a:rPr sz="1700" b="1">
                <a:solidFill>
                  <a:srgbClr val="1E2936"/>
                </a:solidFill>
                <a:latin typeface="Canva Sans Bold"/>
              </a:rPr>
              <a:t>Calibration</a:t>
            </a:r>
          </a:p>
        </p:txBody>
      </p:sp>
      <p:sp>
        <p:nvSpPr>
          <p:cNvPr id="21" name="TextBox 20"/>
          <p:cNvSpPr txBox="1"/>
          <p:nvPr/>
        </p:nvSpPr>
        <p:spPr>
          <a:xfrm>
            <a:off x="5897880" y="4471416"/>
            <a:ext cx="1188720" cy="640080"/>
          </a:xfrm>
          <a:prstGeom prst="rect">
            <a:avLst/>
          </a:prstGeom>
          <a:noFill/>
        </p:spPr>
        <p:txBody>
          <a:bodyPr wrap="square" anchor="t">
            <a:spAutoFit/>
          </a:bodyPr>
          <a:lstStyle/>
          <a:p>
            <a:pPr algn="l">
              <a:spcBef>
                <a:spcPts val="0"/>
              </a:spcBef>
            </a:pPr>
            <a:r>
              <a:rPr sz="1700" b="1">
                <a:solidFill>
                  <a:srgbClr val="004AAD"/>
                </a:solidFill>
                <a:latin typeface="Canva Sans Bold"/>
              </a:rPr>
              <a:t>0.376</a:t>
            </a:r>
          </a:p>
        </p:txBody>
      </p:sp>
      <p:sp>
        <p:nvSpPr>
          <p:cNvPr id="22" name="TextBox 21"/>
          <p:cNvSpPr txBox="1"/>
          <p:nvPr/>
        </p:nvSpPr>
        <p:spPr>
          <a:xfrm>
            <a:off x="7086600" y="4471416"/>
            <a:ext cx="1188720" cy="640080"/>
          </a:xfrm>
          <a:prstGeom prst="rect">
            <a:avLst/>
          </a:prstGeom>
          <a:noFill/>
        </p:spPr>
        <p:txBody>
          <a:bodyPr wrap="square" anchor="t">
            <a:spAutoFit/>
          </a:bodyPr>
          <a:lstStyle/>
          <a:p>
            <a:pPr algn="l">
              <a:spcBef>
                <a:spcPts val="0"/>
              </a:spcBef>
            </a:pPr>
            <a:r>
              <a:rPr sz="1500" b="0">
                <a:solidFill>
                  <a:srgbClr val="5A6472"/>
                </a:solidFill>
                <a:latin typeface="Canva Sans"/>
              </a:rPr>
              <a:t>x 0.15</a:t>
            </a:r>
          </a:p>
        </p:txBody>
      </p:sp>
      <p:sp>
        <p:nvSpPr>
          <p:cNvPr id="23" name="TextBox 22"/>
          <p:cNvSpPr txBox="1"/>
          <p:nvPr/>
        </p:nvSpPr>
        <p:spPr>
          <a:xfrm>
            <a:off x="8366760" y="4471416"/>
            <a:ext cx="8778240" cy="640080"/>
          </a:xfrm>
          <a:prstGeom prst="rect">
            <a:avLst/>
          </a:prstGeom>
          <a:noFill/>
        </p:spPr>
        <p:txBody>
          <a:bodyPr wrap="square" anchor="t">
            <a:spAutoFit/>
          </a:bodyPr>
          <a:lstStyle/>
          <a:p>
            <a:pPr algn="l">
              <a:spcBef>
                <a:spcPts val="0"/>
              </a:spcBef>
            </a:pPr>
            <a:r>
              <a:rPr sz="1500" b="0">
                <a:solidFill>
                  <a:srgbClr val="5A6472"/>
                </a:solidFill>
                <a:latin typeface="Canva Sans"/>
              </a:rPr>
              <a:t>1 - ECE/0.25; audio is the best-calibrated leg</a:t>
            </a:r>
          </a:p>
        </p:txBody>
      </p:sp>
      <p:sp>
        <p:nvSpPr>
          <p:cNvPr id="24" name="TextBox 23"/>
          <p:cNvSpPr txBox="1"/>
          <p:nvPr/>
        </p:nvSpPr>
        <p:spPr>
          <a:xfrm>
            <a:off x="1143000" y="5312664"/>
            <a:ext cx="4663440" cy="640080"/>
          </a:xfrm>
          <a:prstGeom prst="rect">
            <a:avLst/>
          </a:prstGeom>
          <a:noFill/>
        </p:spPr>
        <p:txBody>
          <a:bodyPr wrap="square" anchor="t">
            <a:spAutoFit/>
          </a:bodyPr>
          <a:lstStyle/>
          <a:p>
            <a:pPr algn="l">
              <a:spcBef>
                <a:spcPts val="0"/>
              </a:spcBef>
            </a:pPr>
            <a:r>
              <a:rPr sz="1700" b="1">
                <a:solidFill>
                  <a:srgbClr val="1E2936"/>
                </a:solidFill>
                <a:latin typeface="Canva Sans Bold"/>
              </a:rPr>
              <a:t>Robustness</a:t>
            </a:r>
          </a:p>
        </p:txBody>
      </p:sp>
      <p:sp>
        <p:nvSpPr>
          <p:cNvPr id="25" name="TextBox 24"/>
          <p:cNvSpPr txBox="1"/>
          <p:nvPr/>
        </p:nvSpPr>
        <p:spPr>
          <a:xfrm>
            <a:off x="5897880" y="5312664"/>
            <a:ext cx="1188720" cy="640080"/>
          </a:xfrm>
          <a:prstGeom prst="rect">
            <a:avLst/>
          </a:prstGeom>
          <a:noFill/>
        </p:spPr>
        <p:txBody>
          <a:bodyPr wrap="square" anchor="t">
            <a:spAutoFit/>
          </a:bodyPr>
          <a:lstStyle/>
          <a:p>
            <a:pPr algn="l">
              <a:spcBef>
                <a:spcPts val="0"/>
              </a:spcBef>
            </a:pPr>
            <a:r>
              <a:rPr sz="1700" b="1">
                <a:solidFill>
                  <a:srgbClr val="004AAD"/>
                </a:solidFill>
                <a:latin typeface="Canva Sans Bold"/>
              </a:rPr>
              <a:t>0.609</a:t>
            </a:r>
          </a:p>
        </p:txBody>
      </p:sp>
      <p:sp>
        <p:nvSpPr>
          <p:cNvPr id="26" name="TextBox 25"/>
          <p:cNvSpPr txBox="1"/>
          <p:nvPr/>
        </p:nvSpPr>
        <p:spPr>
          <a:xfrm>
            <a:off x="7086600" y="5312664"/>
            <a:ext cx="1188720" cy="640080"/>
          </a:xfrm>
          <a:prstGeom prst="rect">
            <a:avLst/>
          </a:prstGeom>
          <a:noFill/>
        </p:spPr>
        <p:txBody>
          <a:bodyPr wrap="square" anchor="t">
            <a:spAutoFit/>
          </a:bodyPr>
          <a:lstStyle/>
          <a:p>
            <a:pPr algn="l">
              <a:spcBef>
                <a:spcPts val="0"/>
              </a:spcBef>
            </a:pPr>
            <a:r>
              <a:rPr sz="1500" b="0">
                <a:solidFill>
                  <a:srgbClr val="5A6472"/>
                </a:solidFill>
                <a:latin typeface="Canva Sans"/>
              </a:rPr>
              <a:t>x 0.15</a:t>
            </a:r>
          </a:p>
        </p:txBody>
      </p:sp>
      <p:sp>
        <p:nvSpPr>
          <p:cNvPr id="27" name="TextBox 26"/>
          <p:cNvSpPr txBox="1"/>
          <p:nvPr/>
        </p:nvSpPr>
        <p:spPr>
          <a:xfrm>
            <a:off x="8366760" y="5312664"/>
            <a:ext cx="8778240" cy="640080"/>
          </a:xfrm>
          <a:prstGeom prst="rect">
            <a:avLst/>
          </a:prstGeom>
          <a:noFill/>
        </p:spPr>
        <p:txBody>
          <a:bodyPr wrap="square" anchor="t">
            <a:spAutoFit/>
          </a:bodyPr>
          <a:lstStyle/>
          <a:p>
            <a:pPr algn="l">
              <a:spcBef>
                <a:spcPts val="0"/>
              </a:spcBef>
            </a:pPr>
            <a:r>
              <a:rPr sz="1500" b="0">
                <a:solidFill>
                  <a:srgbClr val="5A6472"/>
                </a:solidFill>
                <a:latin typeface="Canva Sans"/>
              </a:rPr>
              <a:t>worst two-modality result as a fraction of all three</a:t>
            </a:r>
          </a:p>
        </p:txBody>
      </p:sp>
      <p:sp>
        <p:nvSpPr>
          <p:cNvPr id="28" name="TextBox 27"/>
          <p:cNvSpPr txBox="1"/>
          <p:nvPr/>
        </p:nvSpPr>
        <p:spPr>
          <a:xfrm>
            <a:off x="1143000" y="6153912"/>
            <a:ext cx="4663440" cy="640080"/>
          </a:xfrm>
          <a:prstGeom prst="rect">
            <a:avLst/>
          </a:prstGeom>
          <a:noFill/>
        </p:spPr>
        <p:txBody>
          <a:bodyPr wrap="square" anchor="t">
            <a:spAutoFit/>
          </a:bodyPr>
          <a:lstStyle/>
          <a:p>
            <a:pPr algn="l">
              <a:spcBef>
                <a:spcPts val="0"/>
              </a:spcBef>
            </a:pPr>
            <a:r>
              <a:rPr sz="1700" b="1">
                <a:solidFill>
                  <a:srgbClr val="1E2936"/>
                </a:solidFill>
                <a:latin typeface="Canva Sans Bold"/>
              </a:rPr>
              <a:t>Conflict discrimination</a:t>
            </a:r>
          </a:p>
        </p:txBody>
      </p:sp>
      <p:sp>
        <p:nvSpPr>
          <p:cNvPr id="29" name="TextBox 28"/>
          <p:cNvSpPr txBox="1"/>
          <p:nvPr/>
        </p:nvSpPr>
        <p:spPr>
          <a:xfrm>
            <a:off x="5897880" y="6153912"/>
            <a:ext cx="1188720" cy="640080"/>
          </a:xfrm>
          <a:prstGeom prst="rect">
            <a:avLst/>
          </a:prstGeom>
          <a:noFill/>
        </p:spPr>
        <p:txBody>
          <a:bodyPr wrap="square" anchor="t">
            <a:spAutoFit/>
          </a:bodyPr>
          <a:lstStyle/>
          <a:p>
            <a:pPr algn="l">
              <a:spcBef>
                <a:spcPts val="0"/>
              </a:spcBef>
            </a:pPr>
            <a:r>
              <a:rPr sz="1700" b="1">
                <a:solidFill>
                  <a:srgbClr val="004AAD"/>
                </a:solidFill>
                <a:latin typeface="Canva Sans Bold"/>
              </a:rPr>
              <a:t>0.721</a:t>
            </a:r>
          </a:p>
        </p:txBody>
      </p:sp>
      <p:sp>
        <p:nvSpPr>
          <p:cNvPr id="30" name="TextBox 29"/>
          <p:cNvSpPr txBox="1"/>
          <p:nvPr/>
        </p:nvSpPr>
        <p:spPr>
          <a:xfrm>
            <a:off x="7086600" y="6153912"/>
            <a:ext cx="1188720" cy="640080"/>
          </a:xfrm>
          <a:prstGeom prst="rect">
            <a:avLst/>
          </a:prstGeom>
          <a:noFill/>
        </p:spPr>
        <p:txBody>
          <a:bodyPr wrap="square" anchor="t">
            <a:spAutoFit/>
          </a:bodyPr>
          <a:lstStyle/>
          <a:p>
            <a:pPr algn="l">
              <a:spcBef>
                <a:spcPts val="0"/>
              </a:spcBef>
            </a:pPr>
            <a:r>
              <a:rPr sz="1500" b="0">
                <a:solidFill>
                  <a:srgbClr val="5A6472"/>
                </a:solidFill>
                <a:latin typeface="Canva Sans"/>
              </a:rPr>
              <a:t>x 0.10</a:t>
            </a:r>
          </a:p>
        </p:txBody>
      </p:sp>
      <p:sp>
        <p:nvSpPr>
          <p:cNvPr id="31" name="TextBox 30"/>
          <p:cNvSpPr txBox="1"/>
          <p:nvPr/>
        </p:nvSpPr>
        <p:spPr>
          <a:xfrm>
            <a:off x="8366760" y="6153912"/>
            <a:ext cx="8778240" cy="640080"/>
          </a:xfrm>
          <a:prstGeom prst="rect">
            <a:avLst/>
          </a:prstGeom>
          <a:noFill/>
        </p:spPr>
        <p:txBody>
          <a:bodyPr wrap="square" anchor="t">
            <a:spAutoFit/>
          </a:bodyPr>
          <a:lstStyle/>
          <a:p>
            <a:pPr algn="l">
              <a:spcBef>
                <a:spcPts val="0"/>
              </a:spcBef>
            </a:pPr>
            <a:r>
              <a:rPr sz="1500" b="0">
                <a:solidFill>
                  <a:srgbClr val="5A6472"/>
                </a:solidFill>
                <a:latin typeface="Canva Sans"/>
              </a:rPr>
              <a:t>74.1% correct when the modalities agree vs 52.5% when they clash</a:t>
            </a:r>
          </a:p>
        </p:txBody>
      </p:sp>
      <p:sp>
        <p:nvSpPr>
          <p:cNvPr id="32" name="TextBox 31"/>
          <p:cNvSpPr txBox="1"/>
          <p:nvPr/>
        </p:nvSpPr>
        <p:spPr>
          <a:xfrm>
            <a:off x="1143000" y="7452360"/>
            <a:ext cx="16002000" cy="1463040"/>
          </a:xfrm>
          <a:prstGeom prst="rect">
            <a:avLst/>
          </a:prstGeom>
          <a:noFill/>
        </p:spPr>
        <p:txBody>
          <a:bodyPr wrap="square" anchor="t">
            <a:spAutoFit/>
          </a:bodyPr>
          <a:lstStyle/>
          <a:p>
            <a:pPr algn="l">
              <a:spcBef>
                <a:spcPts val="0"/>
              </a:spcBef>
            </a:pPr>
            <a:r>
              <a:rPr sz="3000" b="1">
                <a:solidFill>
                  <a:srgbClr val="1F8A4C"/>
                </a:solidFill>
                <a:latin typeface="Canva Sans Bold"/>
              </a:rPr>
              <a:t>Multimodal score:  49.7 / 100</a:t>
            </a:r>
          </a:p>
          <a:p>
            <a:pPr>
              <a:spcBef>
                <a:spcPts val="800"/>
              </a:spcBef>
            </a:pPr>
            <a:r>
              <a:rPr sz="1400" b="0">
                <a:solidFill>
                  <a:srgbClr val="5A6472"/>
                </a:solidFill>
                <a:latin typeface="Canva Sans"/>
              </a:rPr>
              <a:t>The composite is this project's own summary of “is the pool worth having”, not a standard metric - every component, its raw value and its weight are written to results/multimodal.json.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9"/>
          <p:cNvSpPr txBox="1"/>
          <p:nvPr/>
        </p:nvSpPr>
        <p:spPr>
          <a:xfrm>
            <a:off x="1143000" y="475488"/>
            <a:ext cx="16002000" cy="1234440"/>
          </a:xfrm>
          <a:prstGeom prst="rect">
            <a:avLst/>
          </a:prstGeom>
          <a:noFill/>
        </p:spPr>
        <p:txBody>
          <a:bodyPr wrap="square" anchor="t">
            <a:spAutoFit/>
          </a:bodyPr>
          <a:lstStyle/>
          <a:p>
            <a:pPr algn="l">
              <a:spcBef>
                <a:spcPts val="0"/>
              </a:spcBef>
            </a:pPr>
            <a:r>
              <a:rPr sz="4000" b="1">
                <a:solidFill>
                  <a:srgbClr val="004AAD"/>
                </a:solidFill>
                <a:latin typeface="Canva Sans Bold"/>
              </a:rPr>
              <a:t>The Live System</a:t>
            </a:r>
          </a:p>
        </p:txBody>
      </p:sp>
      <p:sp>
        <p:nvSpPr>
          <p:cNvPr id="11" name="TextBox 10"/>
          <p:cNvSpPr txBox="1"/>
          <p:nvPr/>
        </p:nvSpPr>
        <p:spPr>
          <a:xfrm>
            <a:off x="1170432" y="1389888"/>
            <a:ext cx="15910559" cy="353943"/>
          </a:xfrm>
          <a:prstGeom prst="rect">
            <a:avLst/>
          </a:prstGeom>
          <a:noFill/>
        </p:spPr>
        <p:txBody>
          <a:bodyPr wrap="square" anchor="t">
            <a:spAutoFit/>
          </a:bodyPr>
          <a:lstStyle/>
          <a:p>
            <a:pPr algn="l">
              <a:spcBef>
                <a:spcPts val="0"/>
              </a:spcBef>
            </a:pPr>
            <a:r>
              <a:rPr sz="1700" b="0" dirty="0">
                <a:solidFill>
                  <a:srgbClr val="5A6472"/>
                </a:solidFill>
                <a:latin typeface="Canva Sans"/>
              </a:rPr>
              <a:t>Face, voice and text fused in real time at 32 FPS, with the reasoning shown alongside the answer.</a:t>
            </a:r>
          </a:p>
        </p:txBody>
      </p:sp>
      <p:pic>
        <p:nvPicPr>
          <p:cNvPr id="14" name="Picture 13">
            <a:extLst>
              <a:ext uri="{FF2B5EF4-FFF2-40B4-BE49-F238E27FC236}">
                <a16:creationId xmlns:a16="http://schemas.microsoft.com/office/drawing/2014/main" id="{FF7893B8-2B12-C1F6-0822-A51A643A37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05000" y="1795704"/>
            <a:ext cx="14852198" cy="729614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a:extLst>
              <a:ext uri="{FF2B5EF4-FFF2-40B4-BE49-F238E27FC236}">
                <a16:creationId xmlns:a16="http://schemas.microsoft.com/office/drawing/2014/main" id="{1BAF0718-7042-6994-BDCD-F8E0628AEE9C}"/>
              </a:ext>
            </a:extLst>
          </p:cNvPr>
          <p:cNvGrpSpPr/>
          <p:nvPr/>
        </p:nvGrpSpPr>
        <p:grpSpPr>
          <a:xfrm>
            <a:off x="0" y="9342351"/>
            <a:ext cx="1257300" cy="964528"/>
            <a:chOff x="0" y="0"/>
            <a:chExt cx="1676400" cy="1286037"/>
          </a:xfrm>
        </p:grpSpPr>
        <p:sp>
          <p:nvSpPr>
            <p:cNvPr id="3" name="Freeform 3">
              <a:extLst>
                <a:ext uri="{FF2B5EF4-FFF2-40B4-BE49-F238E27FC236}">
                  <a16:creationId xmlns:a16="http://schemas.microsoft.com/office/drawing/2014/main" id="{406049E9-A246-B953-0B76-BCF28FF34A0E}"/>
                </a:ext>
              </a:extLst>
            </p:cNvPr>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a:extLst>
              <a:ext uri="{FF2B5EF4-FFF2-40B4-BE49-F238E27FC236}">
                <a16:creationId xmlns:a16="http://schemas.microsoft.com/office/drawing/2014/main" id="{A8D0621C-3E75-8EBB-7E13-54E5D8B13E89}"/>
              </a:ext>
            </a:extLst>
          </p:cNvPr>
          <p:cNvGrpSpPr/>
          <p:nvPr/>
        </p:nvGrpSpPr>
        <p:grpSpPr>
          <a:xfrm>
            <a:off x="1257300" y="9534525"/>
            <a:ext cx="13997121" cy="772354"/>
            <a:chOff x="0" y="0"/>
            <a:chExt cx="18662828" cy="1029805"/>
          </a:xfrm>
        </p:grpSpPr>
        <p:sp>
          <p:nvSpPr>
            <p:cNvPr id="5" name="Freeform 5">
              <a:extLst>
                <a:ext uri="{FF2B5EF4-FFF2-40B4-BE49-F238E27FC236}">
                  <a16:creationId xmlns:a16="http://schemas.microsoft.com/office/drawing/2014/main" id="{10F6F4A1-FE76-A1D7-C1CF-95501F12A54C}"/>
                </a:ext>
              </a:extLst>
            </p:cNvPr>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a:extLst>
              <a:ext uri="{FF2B5EF4-FFF2-40B4-BE49-F238E27FC236}">
                <a16:creationId xmlns:a16="http://schemas.microsoft.com/office/drawing/2014/main" id="{065902DD-EEBB-7A46-2997-3E2F1B01773F}"/>
              </a:ext>
            </a:extLst>
          </p:cNvPr>
          <p:cNvGrpSpPr/>
          <p:nvPr/>
        </p:nvGrpSpPr>
        <p:grpSpPr>
          <a:xfrm>
            <a:off x="14429891" y="9342351"/>
            <a:ext cx="3858109" cy="964528"/>
            <a:chOff x="0" y="0"/>
            <a:chExt cx="6491470" cy="1622868"/>
          </a:xfrm>
        </p:grpSpPr>
        <p:sp>
          <p:nvSpPr>
            <p:cNvPr id="7" name="Freeform 7" descr="A picture containing drawing  Description automatically generated">
              <a:extLst>
                <a:ext uri="{FF2B5EF4-FFF2-40B4-BE49-F238E27FC236}">
                  <a16:creationId xmlns:a16="http://schemas.microsoft.com/office/drawing/2014/main" id="{ED82EEC0-87C6-319A-DBA1-80F21CC2F910}"/>
                </a:ext>
              </a:extLst>
            </p:cNvPr>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a:extLst>
              <a:ext uri="{FF2B5EF4-FFF2-40B4-BE49-F238E27FC236}">
                <a16:creationId xmlns:a16="http://schemas.microsoft.com/office/drawing/2014/main" id="{4DF10B92-2D5D-78FF-2474-39655D7DBD1A}"/>
              </a:ext>
            </a:extLst>
          </p:cNvPr>
          <p:cNvGrpSpPr/>
          <p:nvPr/>
        </p:nvGrpSpPr>
        <p:grpSpPr>
          <a:xfrm>
            <a:off x="16902182" y="0"/>
            <a:ext cx="1452818" cy="968896"/>
            <a:chOff x="0" y="0"/>
            <a:chExt cx="1937090" cy="1291861"/>
          </a:xfrm>
        </p:grpSpPr>
        <p:sp>
          <p:nvSpPr>
            <p:cNvPr id="9" name="Freeform 9" descr="A close up of a sign  Description automatically generated">
              <a:extLst>
                <a:ext uri="{FF2B5EF4-FFF2-40B4-BE49-F238E27FC236}">
                  <a16:creationId xmlns:a16="http://schemas.microsoft.com/office/drawing/2014/main" id="{D3A38E7B-8A81-B63E-D8FF-DE9680F0D84B}"/>
                </a:ext>
              </a:extLst>
            </p:cNvPr>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pic>
        <p:nvPicPr>
          <p:cNvPr id="11" name="Picture 10">
            <a:extLst>
              <a:ext uri="{FF2B5EF4-FFF2-40B4-BE49-F238E27FC236}">
                <a16:creationId xmlns:a16="http://schemas.microsoft.com/office/drawing/2014/main" id="{9D7F6786-9798-FBD7-744D-2429610A622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 y="1485900"/>
            <a:ext cx="17463602" cy="7018185"/>
          </a:xfrm>
          <a:prstGeom prst="rect">
            <a:avLst/>
          </a:prstGeom>
        </p:spPr>
      </p:pic>
    </p:spTree>
    <p:extLst>
      <p:ext uri="{BB962C8B-B14F-4D97-AF65-F5344CB8AC3E}">
        <p14:creationId xmlns:p14="http://schemas.microsoft.com/office/powerpoint/2010/main" val="28035778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9"/>
          <p:cNvSpPr txBox="1"/>
          <p:nvPr/>
        </p:nvSpPr>
        <p:spPr>
          <a:xfrm>
            <a:off x="7086600" y="805715"/>
            <a:ext cx="5105400" cy="707886"/>
          </a:xfrm>
          <a:prstGeom prst="rect">
            <a:avLst/>
          </a:prstGeom>
          <a:noFill/>
        </p:spPr>
        <p:txBody>
          <a:bodyPr wrap="square" anchor="t">
            <a:spAutoFit/>
          </a:bodyPr>
          <a:lstStyle/>
          <a:p>
            <a:pPr algn="l">
              <a:spcBef>
                <a:spcPts val="0"/>
              </a:spcBef>
            </a:pPr>
            <a:r>
              <a:rPr sz="4000" b="1" dirty="0">
                <a:solidFill>
                  <a:srgbClr val="004AAD"/>
                </a:solidFill>
                <a:latin typeface="Canva Sans Bold"/>
              </a:rPr>
              <a:t>Inside the Interface</a:t>
            </a:r>
          </a:p>
        </p:txBody>
      </p:sp>
      <p:pic>
        <p:nvPicPr>
          <p:cNvPr id="12" name="Picture 11" descr="shot_modalities.png"/>
          <p:cNvPicPr>
            <a:picLocks noChangeAspect="1"/>
          </p:cNvPicPr>
          <p:nvPr/>
        </p:nvPicPr>
        <p:blipFill>
          <a:blip r:embed="rId4"/>
          <a:stretch>
            <a:fillRect/>
          </a:stretch>
        </p:blipFill>
        <p:spPr>
          <a:xfrm>
            <a:off x="467067" y="400457"/>
            <a:ext cx="3114333" cy="9461900"/>
          </a:xfrm>
          <a:prstGeom prst="rect">
            <a:avLst/>
          </a:prstGeom>
        </p:spPr>
      </p:pic>
      <p:pic>
        <p:nvPicPr>
          <p:cNvPr id="13" name="Picture 12" descr="shot_fusion.png"/>
          <p:cNvPicPr>
            <a:picLocks noChangeAspect="1"/>
          </p:cNvPicPr>
          <p:nvPr/>
        </p:nvPicPr>
        <p:blipFill>
          <a:blip r:embed="rId5"/>
          <a:stretch>
            <a:fillRect/>
          </a:stretch>
        </p:blipFill>
        <p:spPr>
          <a:xfrm>
            <a:off x="4047124" y="1675973"/>
            <a:ext cx="6960335" cy="3467527"/>
          </a:xfrm>
          <a:prstGeom prst="rect">
            <a:avLst/>
          </a:prstGeom>
        </p:spPr>
      </p:pic>
      <p:pic>
        <p:nvPicPr>
          <p:cNvPr id="14" name="Picture 13" descr="shot_contrib.png"/>
          <p:cNvPicPr>
            <a:picLocks noChangeAspect="1"/>
          </p:cNvPicPr>
          <p:nvPr/>
        </p:nvPicPr>
        <p:blipFill>
          <a:blip r:embed="rId6"/>
          <a:stretch>
            <a:fillRect/>
          </a:stretch>
        </p:blipFill>
        <p:spPr>
          <a:xfrm>
            <a:off x="4047124" y="5264637"/>
            <a:ext cx="6960334" cy="4284903"/>
          </a:xfrm>
          <a:prstGeom prst="rect">
            <a:avLst/>
          </a:prstGeom>
        </p:spPr>
      </p:pic>
      <p:sp>
        <p:nvSpPr>
          <p:cNvPr id="15" name="TextBox 14"/>
          <p:cNvSpPr txBox="1"/>
          <p:nvPr/>
        </p:nvSpPr>
        <p:spPr>
          <a:xfrm>
            <a:off x="11704320" y="3002627"/>
            <a:ext cx="6583680" cy="5119350"/>
          </a:xfrm>
          <a:prstGeom prst="rect">
            <a:avLst/>
          </a:prstGeom>
          <a:noFill/>
        </p:spPr>
        <p:txBody>
          <a:bodyPr wrap="square" anchor="t">
            <a:spAutoFit/>
          </a:bodyPr>
          <a:lstStyle/>
          <a:p>
            <a:pPr algn="l">
              <a:spcBef>
                <a:spcPts val="0"/>
              </a:spcBef>
            </a:pPr>
            <a:r>
              <a:rPr sz="2000" b="1" dirty="0">
                <a:solidFill>
                  <a:srgbClr val="004AAD"/>
                </a:solidFill>
                <a:latin typeface="Canva Sans Bold"/>
              </a:rPr>
              <a:t>Three readings</a:t>
            </a:r>
          </a:p>
          <a:p>
            <a:pPr>
              <a:spcBef>
                <a:spcPts val="800"/>
              </a:spcBef>
            </a:pPr>
            <a:r>
              <a:rPr sz="2000" b="0" dirty="0">
                <a:solidFill>
                  <a:srgbClr val="1E2936"/>
                </a:solidFill>
                <a:latin typeface="Canva Sans"/>
              </a:rPr>
              <a:t>The face says happy, the voice says angry, the text says happy. Nothing is hidden.</a:t>
            </a:r>
            <a:endParaRPr lang="en-US" sz="2000" b="0" dirty="0">
              <a:solidFill>
                <a:srgbClr val="1E2936"/>
              </a:solidFill>
              <a:latin typeface="Canva Sans"/>
            </a:endParaRPr>
          </a:p>
          <a:p>
            <a:pPr>
              <a:spcBef>
                <a:spcPts val="800"/>
              </a:spcBef>
            </a:pPr>
            <a:endParaRPr sz="2000" b="0" dirty="0">
              <a:solidFill>
                <a:srgbClr val="1E2936"/>
              </a:solidFill>
              <a:latin typeface="Canva Sans"/>
            </a:endParaRPr>
          </a:p>
          <a:p>
            <a:pPr>
              <a:spcBef>
                <a:spcPts val="2000"/>
              </a:spcBef>
            </a:pPr>
            <a:r>
              <a:rPr sz="2000" b="1" dirty="0">
                <a:solidFill>
                  <a:srgbClr val="004AAD"/>
                </a:solidFill>
                <a:latin typeface="Canva Sans Bold"/>
              </a:rPr>
              <a:t>Weighted, not averaged</a:t>
            </a:r>
          </a:p>
          <a:p>
            <a:pPr>
              <a:spcBef>
                <a:spcPts val="800"/>
              </a:spcBef>
            </a:pPr>
            <a:r>
              <a:rPr sz="2000" b="0" dirty="0">
                <a:solidFill>
                  <a:srgbClr val="1E2936"/>
                </a:solidFill>
                <a:latin typeface="Canva Sans"/>
              </a:rPr>
              <a:t>Face 10%, audio 26%, text 63% on this frame - the face crop was low quality, so it lost influence automatically.</a:t>
            </a:r>
            <a:endParaRPr lang="en-US" sz="2000" b="0" dirty="0">
              <a:solidFill>
                <a:srgbClr val="1E2936"/>
              </a:solidFill>
              <a:latin typeface="Canva Sans"/>
            </a:endParaRPr>
          </a:p>
          <a:p>
            <a:pPr>
              <a:spcBef>
                <a:spcPts val="800"/>
              </a:spcBef>
            </a:pPr>
            <a:endParaRPr sz="2000" b="0" dirty="0">
              <a:solidFill>
                <a:srgbClr val="1E2936"/>
              </a:solidFill>
              <a:latin typeface="Canva Sans"/>
            </a:endParaRPr>
          </a:p>
          <a:p>
            <a:pPr>
              <a:spcBef>
                <a:spcPts val="2000"/>
              </a:spcBef>
            </a:pPr>
            <a:r>
              <a:rPr sz="2000" b="1" dirty="0">
                <a:solidFill>
                  <a:srgbClr val="004AAD"/>
                </a:solidFill>
                <a:latin typeface="Canva Sans Bold"/>
              </a:rPr>
              <a:t>Disagreement surfaced</a:t>
            </a:r>
          </a:p>
          <a:p>
            <a:pPr>
              <a:spcBef>
                <a:spcPts val="800"/>
              </a:spcBef>
            </a:pPr>
            <a:r>
              <a:rPr sz="2000" b="0" dirty="0">
                <a:solidFill>
                  <a:srgbClr val="1E2936"/>
                </a:solidFill>
                <a:latin typeface="Canva Sans"/>
              </a:rPr>
              <a:t>When the modalities conflict the banner says so. That flag is predictive: accuracy drops from 74% to 53% when it fires.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Title"/>
          <p:cNvSpPr txBox="1"/>
          <p:nvPr/>
        </p:nvSpPr>
        <p:spPr>
          <a:xfrm>
            <a:off x="1143000" y="475488"/>
            <a:ext cx="16002000" cy="777240"/>
          </a:xfrm>
          <a:prstGeom prst="rect">
            <a:avLst/>
          </a:prstGeom>
          <a:noFill/>
        </p:spPr>
        <p:txBody>
          <a:bodyPr wrap="square" anchor="t">
            <a:spAutoFit/>
          </a:bodyPr>
          <a:lstStyle/>
          <a:p>
            <a:pPr algn="l">
              <a:spcBef>
                <a:spcPts val="0"/>
              </a:spcBef>
            </a:pPr>
            <a:r>
              <a:rPr lang="en-US" sz="4000" b="1" dirty="0">
                <a:solidFill>
                  <a:srgbClr val="004AAD"/>
                </a:solidFill>
                <a:latin typeface="Canva Sans Bold"/>
              </a:rPr>
              <a:t>The Honest Problem: The Label Will Not Sit Still</a:t>
            </a:r>
            <a:endParaRPr lang="en-US" sz="4000" b="1" dirty="0">
              <a:solidFill>
                <a:srgbClr val="004AAD"/>
              </a:solidFill>
              <a:latin typeface="Canva Sans Bold"/>
            </a:endParaRPr>
          </a:p>
        </p:txBody>
      </p:sp>
      <p:sp>
        <p:nvSpPr>
          <p:cNvPr id="11" name="TextBox Subtitle"/>
          <p:cNvSpPr txBox="1"/>
          <p:nvPr/>
        </p:nvSpPr>
        <p:spPr>
          <a:xfrm>
            <a:off x="1170432" y="1389888"/>
            <a:ext cx="15910560" cy="548640"/>
          </a:xfrm>
          <a:prstGeom prst="rect">
            <a:avLst/>
          </a:prstGeom>
          <a:noFill/>
        </p:spPr>
        <p:txBody>
          <a:bodyPr wrap="square" anchor="t">
            <a:spAutoFit/>
          </a:bodyPr>
          <a:lstStyle/>
          <a:p>
            <a:pPr algn="l">
              <a:spcBef>
                <a:spcPts val="0"/>
              </a:spcBef>
            </a:pPr>
            <a:r>
              <a:rPr lang="en-US" sz="1700" b="0" dirty="0">
                <a:solidFill>
                  <a:srgbClr val="1E2936"/>
                </a:solidFill>
                <a:latin typeface="Canva Sans"/>
              </a:rPr>
              <a:t>Hold a steady expression and the displayed emotion still changes several times a second. Three measured causes - none of them the viewer's imagination.</a:t>
            </a:r>
            <a:endParaRPr lang="en-US" sz="1700" b="0" dirty="0">
              <a:solidFill>
                <a:srgbClr val="1E2936"/>
              </a:solidFill>
              <a:latin typeface="Canva Sans"/>
            </a:endParaRPr>
          </a:p>
        </p:txBody>
      </p:sp>
      <p:sp>
        <p:nvSpPr>
          <p:cNvPr id="100" name="Rule 100"/>
          <p:cNvSpPr/>
          <p:nvPr/>
        </p:nvSpPr>
        <p:spPr>
          <a:xfrm>
            <a:off x="1143000" y="2697480"/>
            <a:ext cx="4892040" cy="50292"/>
          </a:xfrm>
          <a:prstGeom prst="rect">
            <a:avLst/>
          </a:prstGeom>
          <a:solidFill>
            <a:srgbClr val="A42530"/>
          </a:solidFill>
          <a:ln>
            <a:noFill/>
          </a:ln>
          <a:effectLst/>
        </p:spPr>
        <p:txBody>
          <a:bodyPr rtlCol="0" anchor="ctr"/>
          <a:lstStyle/>
          <a:p>
            <a:pPr algn="ctr"/>
            <a:endParaRPr/>
          </a:p>
        </p:txBody>
      </p:sp>
      <p:sp>
        <p:nvSpPr>
          <p:cNvPr id="101" name="Card 101"/>
          <p:cNvSpPr txBox="1"/>
          <p:nvPr/>
        </p:nvSpPr>
        <p:spPr>
          <a:xfrm>
            <a:off x="1143000" y="2880360"/>
            <a:ext cx="4892040" cy="3931920"/>
          </a:xfrm>
          <a:prstGeom prst="rect">
            <a:avLst/>
          </a:prstGeom>
          <a:solidFill>
            <a:schemeClr val="accent2">
              <a:lumMod val="20000"/>
              <a:lumOff val="80000"/>
            </a:schemeClr>
          </a:solidFill>
        </p:spPr>
        <p:txBody>
          <a:bodyPr wrap="square" anchor="t">
            <a:spAutoFit/>
          </a:bodyPr>
          <a:lstStyle/>
          <a:p>
            <a:pPr algn="ctr">
              <a:spcBef>
                <a:spcPts val="0"/>
              </a:spcBef>
            </a:pPr>
            <a:r>
              <a:rPr lang="en-US" sz="2600" b="1" dirty="0">
                <a:solidFill>
                  <a:srgbClr val="A42530"/>
                </a:solidFill>
                <a:latin typeface="Canva Sans Bold"/>
              </a:rPr>
              <a:t>The top-1 is nearly a tie</a:t>
            </a:r>
            <a:endParaRPr lang="en-US" sz="2600" b="1" dirty="0">
              <a:solidFill>
                <a:srgbClr val="A42530"/>
              </a:solidFill>
              <a:latin typeface="Canva Sans Bold"/>
            </a:endParaRPr>
          </a:p>
          <a:p>
            <a:pPr algn="l">
              <a:spcBef>
                <a:spcPts val="900"/>
              </a:spcBef>
            </a:pPr>
            <a:r>
              <a:rPr lang="en-US" sz="1600" b="0" dirty="0">
                <a:solidFill>
                  <a:srgbClr val="1E2936"/>
                </a:solidFill>
                <a:latin typeface="Canva Sans"/>
              </a:rPr>
              <a:t>52.3% accuracy over seven classes on unseen faces means the leading and the runner-up class are usually within a few points of each other. Any change in the crop, the lighting or the head pose re-orders them, so the argmax moves while the face does not. neutral against sad, and angry against disgust, are the pairs that swap most - disgust holds only 0.20 F1 cross-dataset.</a:t>
            </a:r>
            <a:endParaRPr lang="en-US" sz="1600" b="0" dirty="0">
              <a:solidFill>
                <a:srgbClr val="1E2936"/>
              </a:solidFill>
              <a:latin typeface="Canva Sans"/>
            </a:endParaRPr>
          </a:p>
        </p:txBody>
      </p:sp>
      <p:sp>
        <p:nvSpPr>
          <p:cNvPr id="102" name="Rule 102"/>
          <p:cNvSpPr/>
          <p:nvPr/>
        </p:nvSpPr>
        <p:spPr>
          <a:xfrm>
            <a:off x="6675120" y="2697480"/>
            <a:ext cx="4892040" cy="50292"/>
          </a:xfrm>
          <a:prstGeom prst="rect">
            <a:avLst/>
          </a:prstGeom>
          <a:solidFill>
            <a:srgbClr val="A42530"/>
          </a:solidFill>
          <a:ln>
            <a:noFill/>
          </a:ln>
          <a:effectLst/>
        </p:spPr>
        <p:txBody>
          <a:bodyPr rtlCol="0" anchor="ctr"/>
          <a:lstStyle/>
          <a:p>
            <a:pPr algn="ctr"/>
            <a:endParaRPr/>
          </a:p>
        </p:txBody>
      </p:sp>
      <p:sp>
        <p:nvSpPr>
          <p:cNvPr id="103" name="Card 103"/>
          <p:cNvSpPr txBox="1"/>
          <p:nvPr/>
        </p:nvSpPr>
        <p:spPr>
          <a:xfrm>
            <a:off x="6675120" y="2880360"/>
            <a:ext cx="4892040" cy="3931920"/>
          </a:xfrm>
          <a:prstGeom prst="rect">
            <a:avLst/>
          </a:prstGeom>
          <a:solidFill>
            <a:schemeClr val="accent2">
              <a:lumMod val="20000"/>
              <a:lumOff val="80000"/>
            </a:schemeClr>
          </a:solidFill>
        </p:spPr>
        <p:txBody>
          <a:bodyPr wrap="square" anchor="t">
            <a:spAutoFit/>
          </a:bodyPr>
          <a:lstStyle/>
          <a:p>
            <a:pPr algn="ctr">
              <a:spcBef>
                <a:spcPts val="0"/>
              </a:spcBef>
            </a:pPr>
            <a:r>
              <a:rPr lang="en-US" sz="2600" b="1" dirty="0">
                <a:solidFill>
                  <a:srgbClr val="A42530"/>
                </a:solidFill>
                <a:latin typeface="Canva Sans Bold"/>
              </a:rPr>
              <a:t>The session prior is wrong</a:t>
            </a:r>
            <a:endParaRPr lang="en-US" sz="2600" b="1" dirty="0">
              <a:solidFill>
                <a:srgbClr val="A42530"/>
              </a:solidFill>
              <a:latin typeface="Canva Sans Bold"/>
            </a:endParaRPr>
          </a:p>
          <a:p>
            <a:pPr algn="l">
              <a:spcBef>
                <a:spcPts val="900"/>
              </a:spcBef>
            </a:pPr>
            <a:r>
              <a:rPr lang="en-US" sz="1600" b="0" dirty="0">
                <a:solidFill>
                  <a:srgbClr val="1E2936"/>
                </a:solidFill>
                <a:latin typeface="Canva Sans"/>
              </a:rPr>
              <a:t>A webcam consultation is roughly 55% neutral, but the model is calibrated on a balanced set. Measured under a realistic prior it emits neutral on 27.5% of frames, sad at 2.2x and surprise at 2.1x their true rate - so most spurious 'surprise' flashes are a neutral face leaking. Correcting the prior lifts accuracy from 56.7% to 72.3%, and the correction ships switched off.</a:t>
            </a:r>
            <a:endParaRPr lang="en-US" sz="1600" b="0" dirty="0">
              <a:solidFill>
                <a:srgbClr val="1E2936"/>
              </a:solidFill>
              <a:latin typeface="Canva Sans"/>
            </a:endParaRPr>
          </a:p>
        </p:txBody>
      </p:sp>
      <p:sp>
        <p:nvSpPr>
          <p:cNvPr id="104" name="Rule 104"/>
          <p:cNvSpPr/>
          <p:nvPr/>
        </p:nvSpPr>
        <p:spPr>
          <a:xfrm>
            <a:off x="12207240" y="2697480"/>
            <a:ext cx="4892040" cy="50292"/>
          </a:xfrm>
          <a:prstGeom prst="rect">
            <a:avLst/>
          </a:prstGeom>
          <a:solidFill>
            <a:srgbClr val="A42530"/>
          </a:solidFill>
          <a:ln>
            <a:noFill/>
          </a:ln>
          <a:effectLst/>
        </p:spPr>
        <p:txBody>
          <a:bodyPr rtlCol="0" anchor="ctr"/>
          <a:lstStyle/>
          <a:p>
            <a:pPr algn="ctr"/>
            <a:endParaRPr/>
          </a:p>
        </p:txBody>
      </p:sp>
      <p:sp>
        <p:nvSpPr>
          <p:cNvPr id="105" name="Card 105"/>
          <p:cNvSpPr txBox="1"/>
          <p:nvPr/>
        </p:nvSpPr>
        <p:spPr>
          <a:xfrm>
            <a:off x="12207240" y="2880360"/>
            <a:ext cx="4892040" cy="3931920"/>
          </a:xfrm>
          <a:prstGeom prst="rect">
            <a:avLst/>
          </a:prstGeom>
          <a:solidFill>
            <a:schemeClr val="accent2">
              <a:lumMod val="20000"/>
              <a:lumOff val="80000"/>
            </a:schemeClr>
          </a:solidFill>
        </p:spPr>
        <p:txBody>
          <a:bodyPr wrap="square" anchor="t">
            <a:spAutoFit/>
          </a:bodyPr>
          <a:lstStyle/>
          <a:p>
            <a:pPr algn="ctr">
              <a:spcBef>
                <a:spcPts val="0"/>
              </a:spcBef>
            </a:pPr>
            <a:r>
              <a:rPr lang="en-US" sz="2600" b="1" dirty="0">
                <a:solidFill>
                  <a:srgbClr val="A42530"/>
                </a:solidFill>
                <a:latin typeface="Canva Sans Bold"/>
              </a:rPr>
              <a:t>Only the face leg is smoothed</a:t>
            </a:r>
            <a:endParaRPr lang="en-US" sz="2600" b="1" dirty="0">
              <a:solidFill>
                <a:srgbClr val="A42530"/>
              </a:solidFill>
              <a:latin typeface="Canva Sans Bold"/>
            </a:endParaRPr>
          </a:p>
          <a:p>
            <a:pPr algn="l">
              <a:spcBef>
                <a:spcPts val="900"/>
              </a:spcBef>
            </a:pPr>
            <a:r>
              <a:rPr lang="en-US" sz="1600" b="0" dirty="0">
                <a:solidFill>
                  <a:srgbClr val="1E2936"/>
                </a:solidFill>
                <a:latin typeface="Canva Sans"/>
              </a:rPr>
              <a:t>The EMA (0.6 s time constant) and the 0.05 hysteresis margin sit inside the face pipeline. The fusion engine is stateless by design, so the number on screen has no temporal filter at all - and its weights move every frame as audio decays with an 8 s half-life and text with a 30 s one. The reading can change with no new evidence.</a:t>
            </a:r>
            <a:endParaRPr lang="en-US" sz="1600" b="0" dirty="0">
              <a:solidFill>
                <a:srgbClr val="1E2936"/>
              </a:solidFill>
              <a:latin typeface="Canva Sans"/>
            </a:endParaRPr>
          </a:p>
        </p:txBody>
      </p:sp>
      <p:sp>
        <p:nvSpPr>
          <p:cNvPr id="106" name="Footer 106"/>
          <p:cNvSpPr txBox="1"/>
          <p:nvPr/>
        </p:nvSpPr>
        <p:spPr>
          <a:xfrm>
            <a:off x="1143000" y="7040880"/>
            <a:ext cx="16002000" cy="973328"/>
          </a:xfrm>
          <a:prstGeom prst="rect">
            <a:avLst/>
          </a:prstGeom>
          <a:noFill/>
        </p:spPr>
        <p:txBody>
          <a:bodyPr wrap="square" anchor="t">
            <a:spAutoFit/>
          </a:bodyPr>
          <a:lstStyle/>
          <a:p>
            <a:pPr algn="l">
              <a:spcBef>
                <a:spcPts val="0"/>
              </a:spcBef>
            </a:pPr>
            <a:r>
              <a:rPr lang="en-US" sz="2000" b="1" dirty="0">
                <a:solidFill>
                  <a:srgbClr val="A42530"/>
                </a:solidFill>
                <a:latin typeface="Canva Sans Bold"/>
              </a:rPr>
              <a:t>And nothing in this deck measures it</a:t>
            </a:r>
            <a:endParaRPr lang="en-US" sz="2000" b="1" dirty="0">
              <a:solidFill>
                <a:srgbClr val="A42530"/>
              </a:solidFill>
              <a:latin typeface="Canva Sans Bold"/>
            </a:endParaRPr>
          </a:p>
          <a:p>
            <a:pPr algn="l">
              <a:spcBef>
                <a:spcPts val="600"/>
              </a:spcBef>
            </a:pPr>
            <a:r>
              <a:rPr lang="en-US" sz="1600" b="0" dirty="0">
                <a:solidFill>
                  <a:srgbClr val="1E2936"/>
                </a:solidFill>
                <a:latin typeface="Canva Sans"/>
              </a:rPr>
              <a:t>Every figure presented so far is per-frame accuracy on still images. Not one metric describes how often the displayed label changes, which is the thing a clinician would notice first. That gap is the first item in the future scope, because nothing here can be fixed while nothing measures it.</a:t>
            </a:r>
            <a:endParaRPr lang="en-US" sz="1600" b="0" dirty="0">
              <a:solidFill>
                <a:srgbClr val="1E2936"/>
              </a:solidFill>
              <a:latin typeface="Canva San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342351"/>
            <a:ext cx="1257300" cy="964528"/>
            <a:chOff x="0" y="0"/>
            <a:chExt cx="1676400" cy="1286037"/>
          </a:xfrm>
        </p:grpSpPr>
        <p:sp>
          <p:nvSpPr>
            <p:cNvPr id="3" name="Freeform 3"/>
            <p:cNvSpPr/>
            <p:nvPr/>
          </p:nvSpPr>
          <p:spPr>
            <a:xfrm>
              <a:off x="0" y="0"/>
              <a:ext cx="1676400" cy="1286075"/>
            </a:xfrm>
            <a:custGeom>
              <a:avLst/>
              <a:gdLst/>
              <a:ahLst/>
              <a:cxnLst/>
              <a:rect l="l" t="t" r="r" b="b"/>
              <a:pathLst>
                <a:path w="1676400" h="1286075">
                  <a:moveTo>
                    <a:pt x="0" y="0"/>
                  </a:moveTo>
                  <a:lnTo>
                    <a:pt x="1676400" y="0"/>
                  </a:lnTo>
                  <a:lnTo>
                    <a:pt x="1676400" y="1286075"/>
                  </a:lnTo>
                  <a:lnTo>
                    <a:pt x="0" y="1286075"/>
                  </a:lnTo>
                  <a:close/>
                </a:path>
              </a:pathLst>
            </a:custGeom>
            <a:solidFill>
              <a:srgbClr val="A42530"/>
            </a:solidFill>
          </p:spPr>
        </p:sp>
      </p:grpSp>
      <p:grpSp>
        <p:nvGrpSpPr>
          <p:cNvPr id="4" name="Group 4"/>
          <p:cNvGrpSpPr/>
          <p:nvPr/>
        </p:nvGrpSpPr>
        <p:grpSpPr>
          <a:xfrm>
            <a:off x="1257300" y="9534525"/>
            <a:ext cx="13997121" cy="772354"/>
            <a:chOff x="0" y="0"/>
            <a:chExt cx="18662828" cy="1029805"/>
          </a:xfrm>
        </p:grpSpPr>
        <p:sp>
          <p:nvSpPr>
            <p:cNvPr id="5" name="Freeform 5"/>
            <p:cNvSpPr/>
            <p:nvPr/>
          </p:nvSpPr>
          <p:spPr>
            <a:xfrm>
              <a:off x="0" y="0"/>
              <a:ext cx="18662777" cy="1029843"/>
            </a:xfrm>
            <a:custGeom>
              <a:avLst/>
              <a:gdLst/>
              <a:ahLst/>
              <a:cxnLst/>
              <a:rect l="l" t="t" r="r" b="b"/>
              <a:pathLst>
                <a:path w="18662777" h="1029843">
                  <a:moveTo>
                    <a:pt x="0" y="0"/>
                  </a:moveTo>
                  <a:lnTo>
                    <a:pt x="18662777" y="0"/>
                  </a:lnTo>
                  <a:lnTo>
                    <a:pt x="18662777" y="1029843"/>
                  </a:lnTo>
                  <a:lnTo>
                    <a:pt x="0" y="1029843"/>
                  </a:lnTo>
                  <a:close/>
                </a:path>
              </a:pathLst>
            </a:custGeom>
            <a:solidFill>
              <a:srgbClr val="A42530"/>
            </a:solidFill>
          </p:spPr>
        </p:sp>
      </p:grpSp>
      <p:grpSp>
        <p:nvGrpSpPr>
          <p:cNvPr id="6" name="Group 6"/>
          <p:cNvGrpSpPr/>
          <p:nvPr/>
        </p:nvGrpSpPr>
        <p:grpSpPr>
          <a:xfrm>
            <a:off x="14429891" y="9342351"/>
            <a:ext cx="3858109" cy="964528"/>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2"/>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3"/>
              <a:stretch>
                <a:fillRect l="-2" t="-5884" b="-6094"/>
              </a:stretch>
            </a:blipFill>
          </p:spPr>
        </p:sp>
      </p:grpSp>
      <p:sp>
        <p:nvSpPr>
          <p:cNvPr id="10" name="TextBox Title"/>
          <p:cNvSpPr txBox="1"/>
          <p:nvPr/>
        </p:nvSpPr>
        <p:spPr>
          <a:xfrm>
            <a:off x="1143000" y="475488"/>
            <a:ext cx="16002000" cy="777240"/>
          </a:xfrm>
          <a:prstGeom prst="rect">
            <a:avLst/>
          </a:prstGeom>
          <a:noFill/>
        </p:spPr>
        <p:txBody>
          <a:bodyPr wrap="square" anchor="t">
            <a:spAutoFit/>
          </a:bodyPr>
          <a:lstStyle/>
          <a:p>
            <a:pPr algn="l">
              <a:spcBef>
                <a:spcPts val="0"/>
              </a:spcBef>
            </a:pPr>
            <a:r>
              <a:rPr lang="en-US" sz="4000" b="1" dirty="0">
                <a:solidFill>
                  <a:srgbClr val="004AAD"/>
                </a:solidFill>
                <a:latin typeface="Canva Sans Bold"/>
              </a:rPr>
              <a:t>Future Scope</a:t>
            </a:r>
            <a:endParaRPr lang="en-US" sz="4000" b="1" dirty="0">
              <a:solidFill>
                <a:srgbClr val="004AAD"/>
              </a:solidFill>
              <a:latin typeface="Canva Sans Bold"/>
            </a:endParaRPr>
          </a:p>
        </p:txBody>
      </p:sp>
      <p:sp>
        <p:nvSpPr>
          <p:cNvPr id="11" name="TextBox Subtitle"/>
          <p:cNvSpPr txBox="1"/>
          <p:nvPr/>
        </p:nvSpPr>
        <p:spPr>
          <a:xfrm>
            <a:off x="1170432" y="1389888"/>
            <a:ext cx="15910560" cy="548640"/>
          </a:xfrm>
          <a:prstGeom prst="rect">
            <a:avLst/>
          </a:prstGeom>
          <a:noFill/>
        </p:spPr>
        <p:txBody>
          <a:bodyPr wrap="square" anchor="t">
            <a:spAutoFit/>
          </a:bodyPr>
          <a:lstStyle/>
          <a:p>
            <a:pPr algn="l">
              <a:spcBef>
                <a:spcPts val="0"/>
              </a:spcBef>
            </a:pPr>
            <a:r>
              <a:rPr lang="en-US" sz="1700" b="0" dirty="0">
                <a:solidFill>
                  <a:srgbClr val="1E2936"/>
                </a:solidFill>
                <a:latin typeface="Canva Sans"/>
              </a:rPr>
              <a:t>Ordered, not listed: the instability has to be measured and closed before any clinical claim is worth making.</a:t>
            </a:r>
            <a:endParaRPr lang="en-US" sz="1700" b="0" dirty="0">
              <a:solidFill>
                <a:srgbClr val="1E2936"/>
              </a:solidFill>
              <a:latin typeface="Canva Sans"/>
            </a:endParaRPr>
          </a:p>
        </p:txBody>
      </p:sp>
      <p:sp>
        <p:nvSpPr>
          <p:cNvPr id="100" name="RowLabel 100"/>
          <p:cNvSpPr txBox="1"/>
          <p:nvPr/>
        </p:nvSpPr>
        <p:spPr>
          <a:xfrm>
            <a:off x="1143000" y="1938528"/>
            <a:ext cx="16002000" cy="354838"/>
          </a:xfrm>
          <a:prstGeom prst="rect">
            <a:avLst/>
          </a:prstGeom>
          <a:noFill/>
        </p:spPr>
        <p:txBody>
          <a:bodyPr wrap="square" anchor="t">
            <a:spAutoFit/>
          </a:bodyPr>
          <a:lstStyle/>
          <a:p>
            <a:pPr algn="l">
              <a:spcBef>
                <a:spcPts val="0"/>
              </a:spcBef>
            </a:pPr>
            <a:r>
              <a:rPr lang="en-US" sz="1700" b="1" dirty="0">
                <a:solidFill>
                  <a:srgbClr val="1E2936"/>
                </a:solidFill>
                <a:latin typeface="Canva Sans Bold"/>
              </a:rPr>
              <a:t>NEXT  —  make the live output trustworthy</a:t>
            </a:r>
            <a:endParaRPr lang="en-US" sz="1700" b="1" dirty="0">
              <a:solidFill>
                <a:srgbClr val="1E2936"/>
              </a:solidFill>
              <a:latin typeface="Canva Sans Bold"/>
            </a:endParaRPr>
          </a:p>
        </p:txBody>
      </p:sp>
      <p:sp>
        <p:nvSpPr>
          <p:cNvPr id="101" name="Rule 101"/>
          <p:cNvSpPr/>
          <p:nvPr/>
        </p:nvSpPr>
        <p:spPr>
          <a:xfrm>
            <a:off x="1143000" y="2468880"/>
            <a:ext cx="4892040" cy="50292"/>
          </a:xfrm>
          <a:prstGeom prst="rect">
            <a:avLst/>
          </a:prstGeom>
          <a:solidFill>
            <a:srgbClr val="1C9CC0"/>
          </a:solidFill>
          <a:ln>
            <a:noFill/>
          </a:ln>
          <a:effectLst/>
        </p:spPr>
        <p:txBody>
          <a:bodyPr rtlCol="0" anchor="ctr"/>
          <a:lstStyle/>
          <a:p>
            <a:pPr algn="ctr"/>
            <a:endParaRPr/>
          </a:p>
        </p:txBody>
      </p:sp>
      <p:sp>
        <p:nvSpPr>
          <p:cNvPr id="102" name="Card 102"/>
          <p:cNvSpPr txBox="1"/>
          <p:nvPr/>
        </p:nvSpPr>
        <p:spPr>
          <a:xfrm>
            <a:off x="1143000" y="2651760"/>
            <a:ext cx="4892040" cy="2697480"/>
          </a:xfrm>
          <a:prstGeom prst="rect">
            <a:avLst/>
          </a:prstGeom>
          <a:solidFill>
            <a:schemeClr val="accent1">
              <a:lumMod val="20000"/>
              <a:lumOff val="80000"/>
            </a:schemeClr>
          </a:solidFill>
        </p:spPr>
        <p:txBody>
          <a:bodyPr wrap="square" anchor="t">
            <a:spAutoFit/>
          </a:bodyPr>
          <a:lstStyle/>
          <a:p>
            <a:pPr algn="ctr">
              <a:spcBef>
                <a:spcPts val="0"/>
              </a:spcBef>
            </a:pPr>
            <a:r>
              <a:rPr lang="en-US" sz="2100" b="1" dirty="0">
                <a:solidFill>
                  <a:srgbClr val="1C9CC0"/>
                </a:solidFill>
                <a:latin typeface="Canva Sans Bold"/>
              </a:rPr>
              <a:t>1 · Measure stability</a:t>
            </a:r>
            <a:endParaRPr lang="en-US" sz="2100" b="1" dirty="0">
              <a:solidFill>
                <a:srgbClr val="1C9CC0"/>
              </a:solidFill>
              <a:latin typeface="Canva Sans Bold"/>
            </a:endParaRPr>
          </a:p>
          <a:p>
            <a:pPr algn="l">
              <a:spcBef>
                <a:spcPts val="900"/>
              </a:spcBef>
            </a:pPr>
            <a:r>
              <a:rPr lang="en-US" sz="1500" b="0" dirty="0">
                <a:solidFill>
                  <a:srgbClr val="1E2936"/>
                </a:solidFill>
                <a:latin typeface="Canva Sans"/>
              </a:rPr>
              <a:t>Report switches per minute, mean dwell time per label and the entropy of the displayed sequence over held-out video, beside accuracy. A model that is 52% accurate and steady is clinically usable; one that is 52% accurate and flickering is not, and today's metrics cannot tell them apart.</a:t>
            </a:r>
            <a:endParaRPr lang="en-US" sz="1500" b="0" dirty="0">
              <a:solidFill>
                <a:srgbClr val="1E2936"/>
              </a:solidFill>
              <a:latin typeface="Canva Sans"/>
            </a:endParaRPr>
          </a:p>
        </p:txBody>
      </p:sp>
      <p:sp>
        <p:nvSpPr>
          <p:cNvPr id="103" name="Rule 103"/>
          <p:cNvSpPr/>
          <p:nvPr/>
        </p:nvSpPr>
        <p:spPr>
          <a:xfrm>
            <a:off x="6675120" y="2468880"/>
            <a:ext cx="4892040" cy="50292"/>
          </a:xfrm>
          <a:prstGeom prst="rect">
            <a:avLst/>
          </a:prstGeom>
          <a:solidFill>
            <a:srgbClr val="B06E00"/>
          </a:solidFill>
          <a:ln>
            <a:noFill/>
          </a:ln>
          <a:effectLst/>
        </p:spPr>
        <p:txBody>
          <a:bodyPr rtlCol="0" anchor="ctr"/>
          <a:lstStyle/>
          <a:p>
            <a:pPr algn="ctr"/>
            <a:endParaRPr/>
          </a:p>
        </p:txBody>
      </p:sp>
      <p:sp>
        <p:nvSpPr>
          <p:cNvPr id="104" name="Card 104"/>
          <p:cNvSpPr txBox="1"/>
          <p:nvPr/>
        </p:nvSpPr>
        <p:spPr>
          <a:xfrm>
            <a:off x="6675120" y="2651760"/>
            <a:ext cx="4892040" cy="2697480"/>
          </a:xfrm>
          <a:prstGeom prst="rect">
            <a:avLst/>
          </a:prstGeom>
          <a:solidFill>
            <a:schemeClr val="accent2">
              <a:lumMod val="20000"/>
              <a:lumOff val="80000"/>
            </a:schemeClr>
          </a:solidFill>
        </p:spPr>
        <p:txBody>
          <a:bodyPr wrap="square" anchor="t">
            <a:spAutoFit/>
          </a:bodyPr>
          <a:lstStyle/>
          <a:p>
            <a:pPr algn="ctr">
              <a:spcBef>
                <a:spcPts val="0"/>
              </a:spcBef>
            </a:pPr>
            <a:r>
              <a:rPr lang="en-US" sz="2100" b="1" dirty="0">
                <a:solidFill>
                  <a:srgbClr val="B06E00"/>
                </a:solidFill>
                <a:latin typeface="Canva Sans Bold"/>
              </a:rPr>
              <a:t>2 · Smooth the decision</a:t>
            </a:r>
            <a:endParaRPr lang="en-US" sz="2100" b="1" dirty="0">
              <a:solidFill>
                <a:srgbClr val="B06E00"/>
              </a:solidFill>
              <a:latin typeface="Canva Sans Bold"/>
            </a:endParaRPr>
          </a:p>
          <a:p>
            <a:pPr algn="l">
              <a:spcBef>
                <a:spcPts val="900"/>
              </a:spcBef>
            </a:pPr>
            <a:r>
              <a:rPr lang="en-US" sz="1500" b="0" dirty="0">
                <a:solidFill>
                  <a:srgbClr val="1E2936"/>
                </a:solidFill>
                <a:latin typeface="Canva Sans"/>
              </a:rPr>
              <a:t>Move the EMA and hysteresis after the pool rather than inside the face leg, then replace both with an explicit dwell-time model - a seven-state HMM decoded with Viterbi - so changing the reported emotion has to be paid for. Enable the prior correction and report it as a serving rule.</a:t>
            </a:r>
            <a:endParaRPr lang="en-US" sz="1500" b="0" dirty="0">
              <a:solidFill>
                <a:srgbClr val="1E2936"/>
              </a:solidFill>
              <a:latin typeface="Canva Sans"/>
            </a:endParaRPr>
          </a:p>
        </p:txBody>
      </p:sp>
      <p:sp>
        <p:nvSpPr>
          <p:cNvPr id="105" name="Rule 105"/>
          <p:cNvSpPr/>
          <p:nvPr/>
        </p:nvSpPr>
        <p:spPr>
          <a:xfrm>
            <a:off x="12207240" y="2468880"/>
            <a:ext cx="4892040" cy="50292"/>
          </a:xfrm>
          <a:prstGeom prst="rect">
            <a:avLst/>
          </a:prstGeom>
          <a:solidFill>
            <a:srgbClr val="7A5EA6"/>
          </a:solidFill>
          <a:ln>
            <a:noFill/>
          </a:ln>
          <a:effectLst/>
        </p:spPr>
        <p:txBody>
          <a:bodyPr rtlCol="0" anchor="ctr"/>
          <a:lstStyle/>
          <a:p>
            <a:pPr algn="ctr"/>
            <a:endParaRPr/>
          </a:p>
        </p:txBody>
      </p:sp>
      <p:sp>
        <p:nvSpPr>
          <p:cNvPr id="106" name="Card 106"/>
          <p:cNvSpPr txBox="1"/>
          <p:nvPr/>
        </p:nvSpPr>
        <p:spPr>
          <a:xfrm>
            <a:off x="12207240" y="2651760"/>
            <a:ext cx="4892040" cy="2697480"/>
          </a:xfrm>
          <a:prstGeom prst="rect">
            <a:avLst/>
          </a:prstGeom>
          <a:solidFill>
            <a:schemeClr val="accent4">
              <a:lumMod val="20000"/>
              <a:lumOff val="80000"/>
            </a:schemeClr>
          </a:solidFill>
        </p:spPr>
        <p:txBody>
          <a:bodyPr wrap="square" anchor="t">
            <a:spAutoFit/>
          </a:bodyPr>
          <a:lstStyle/>
          <a:p>
            <a:pPr algn="ctr">
              <a:spcBef>
                <a:spcPts val="0"/>
              </a:spcBef>
            </a:pPr>
            <a:r>
              <a:rPr lang="en-US" sz="2100" b="1" dirty="0">
                <a:solidFill>
                  <a:srgbClr val="7A5EA6"/>
                </a:solidFill>
                <a:latin typeface="Canva Sans Bold"/>
              </a:rPr>
              <a:t>3 · Report episodes, not frames</a:t>
            </a:r>
            <a:endParaRPr lang="en-US" sz="2100" b="1" dirty="0">
              <a:solidFill>
                <a:srgbClr val="7A5EA6"/>
              </a:solidFill>
              <a:latin typeface="Canva Sans Bold"/>
            </a:endParaRPr>
          </a:p>
          <a:p>
            <a:pPr algn="l">
              <a:spcBef>
                <a:spcPts val="900"/>
              </a:spcBef>
            </a:pPr>
            <a:r>
              <a:rPr lang="en-US" sz="1500" b="0" dirty="0">
                <a:solidFill>
                  <a:srgbClr val="1E2936"/>
                </a:solidFill>
                <a:latin typeface="Canva Sans"/>
              </a:rPr>
              <a:t>A clinician does not need 32 labels a second. Aggregate to intervals - '2 min 40 s predominantly sad, two flagged conflicts' - and expose per-frame output only on request. This also lets the system abstain on a low-quality or conflicted stretch instead of guessing.</a:t>
            </a:r>
            <a:endParaRPr lang="en-US" sz="1500" b="0" dirty="0">
              <a:solidFill>
                <a:srgbClr val="1E2936"/>
              </a:solidFill>
              <a:latin typeface="Canva Sans"/>
            </a:endParaRPr>
          </a:p>
        </p:txBody>
      </p:sp>
      <p:sp>
        <p:nvSpPr>
          <p:cNvPr id="107" name="RowLabel 107"/>
          <p:cNvSpPr txBox="1"/>
          <p:nvPr/>
        </p:nvSpPr>
        <p:spPr>
          <a:xfrm>
            <a:off x="1143000" y="5550408"/>
            <a:ext cx="16002000" cy="354838"/>
          </a:xfrm>
          <a:prstGeom prst="rect">
            <a:avLst/>
          </a:prstGeom>
          <a:noFill/>
        </p:spPr>
        <p:txBody>
          <a:bodyPr wrap="square" anchor="t">
            <a:spAutoFit/>
          </a:bodyPr>
          <a:lstStyle/>
          <a:p>
            <a:pPr algn="l">
              <a:spcBef>
                <a:spcPts val="0"/>
              </a:spcBef>
            </a:pPr>
            <a:r>
              <a:rPr lang="en-US" sz="1700" b="1" dirty="0">
                <a:solidFill>
                  <a:srgbClr val="1E2936"/>
                </a:solidFill>
                <a:latin typeface="Canva Sans Bold"/>
              </a:rPr>
              <a:t>THEN  —  what a clinical claim would require</a:t>
            </a:r>
            <a:endParaRPr lang="en-US" sz="1700" b="1" dirty="0">
              <a:solidFill>
                <a:srgbClr val="1E2936"/>
              </a:solidFill>
              <a:latin typeface="Canva Sans Bold"/>
            </a:endParaRPr>
          </a:p>
        </p:txBody>
      </p:sp>
      <p:sp>
        <p:nvSpPr>
          <p:cNvPr id="108" name="Rule 108"/>
          <p:cNvSpPr/>
          <p:nvPr/>
        </p:nvSpPr>
        <p:spPr>
          <a:xfrm>
            <a:off x="1143000" y="6080760"/>
            <a:ext cx="4892040" cy="50292"/>
          </a:xfrm>
          <a:prstGeom prst="rect">
            <a:avLst/>
          </a:prstGeom>
          <a:solidFill>
            <a:srgbClr val="1C9CC0"/>
          </a:solidFill>
          <a:ln>
            <a:noFill/>
          </a:ln>
          <a:effectLst/>
        </p:spPr>
        <p:txBody>
          <a:bodyPr rtlCol="0" anchor="ctr"/>
          <a:lstStyle/>
          <a:p>
            <a:pPr algn="ctr"/>
            <a:endParaRPr/>
          </a:p>
        </p:txBody>
      </p:sp>
      <p:sp>
        <p:nvSpPr>
          <p:cNvPr id="109" name="Card 109"/>
          <p:cNvSpPr txBox="1"/>
          <p:nvPr/>
        </p:nvSpPr>
        <p:spPr>
          <a:xfrm>
            <a:off x="1143000" y="6263640"/>
            <a:ext cx="4892040" cy="2697480"/>
          </a:xfrm>
          <a:prstGeom prst="rect">
            <a:avLst/>
          </a:prstGeom>
          <a:solidFill>
            <a:schemeClr val="accent1">
              <a:lumMod val="20000"/>
              <a:lumOff val="80000"/>
            </a:schemeClr>
          </a:solidFill>
        </p:spPr>
        <p:txBody>
          <a:bodyPr wrap="square" anchor="t">
            <a:spAutoFit/>
          </a:bodyPr>
          <a:lstStyle/>
          <a:p>
            <a:pPr algn="ctr">
              <a:spcBef>
                <a:spcPts val="0"/>
              </a:spcBef>
            </a:pPr>
            <a:r>
              <a:rPr lang="en-US" sz="2100" b="1" dirty="0">
                <a:solidFill>
                  <a:srgbClr val="1C9CC0"/>
                </a:solidFill>
                <a:latin typeface="Canva Sans Bold"/>
              </a:rPr>
              <a:t>4 · Escape the data ceiling</a:t>
            </a:r>
            <a:endParaRPr lang="en-US" sz="2100" b="1" dirty="0">
              <a:solidFill>
                <a:srgbClr val="1C9CC0"/>
              </a:solidFill>
              <a:latin typeface="Canva Sans Bold"/>
            </a:endParaRPr>
          </a:p>
          <a:p>
            <a:pPr algn="l">
              <a:spcBef>
                <a:spcPts val="900"/>
              </a:spcBef>
            </a:pPr>
            <a:r>
              <a:rPr lang="en-US" sz="1500" b="0" dirty="0">
                <a:solidFill>
                  <a:srgbClr val="1E2936"/>
                </a:solidFill>
                <a:latin typeface="Canva Sans"/>
              </a:rPr>
              <a:t>v5, v6 and the ensemble all failed, which says the binding constraint is face diversity, not capacity. The levers left are the full AffectNet (~287k against the 27,823 public subset) and a trimodal corpus such as IEMOCAP or CMU-MOSEI, so fusion can be fitted and tested on real pairs rather than simulated ones.</a:t>
            </a:r>
            <a:endParaRPr lang="en-US" sz="1500" b="0" dirty="0">
              <a:solidFill>
                <a:srgbClr val="1E2936"/>
              </a:solidFill>
              <a:latin typeface="Canva Sans"/>
            </a:endParaRPr>
          </a:p>
        </p:txBody>
      </p:sp>
      <p:sp>
        <p:nvSpPr>
          <p:cNvPr id="110" name="Rule 110"/>
          <p:cNvSpPr/>
          <p:nvPr/>
        </p:nvSpPr>
        <p:spPr>
          <a:xfrm>
            <a:off x="6675120" y="6080760"/>
            <a:ext cx="4892040" cy="50292"/>
          </a:xfrm>
          <a:prstGeom prst="rect">
            <a:avLst/>
          </a:prstGeom>
          <a:solidFill>
            <a:srgbClr val="B06E00"/>
          </a:solidFill>
          <a:ln>
            <a:noFill/>
          </a:ln>
          <a:effectLst/>
        </p:spPr>
        <p:txBody>
          <a:bodyPr rtlCol="0" anchor="ctr"/>
          <a:lstStyle/>
          <a:p>
            <a:pPr algn="ctr"/>
            <a:endParaRPr/>
          </a:p>
        </p:txBody>
      </p:sp>
      <p:sp>
        <p:nvSpPr>
          <p:cNvPr id="111" name="Card 111"/>
          <p:cNvSpPr txBox="1"/>
          <p:nvPr/>
        </p:nvSpPr>
        <p:spPr>
          <a:xfrm>
            <a:off x="6675120" y="6263640"/>
            <a:ext cx="4892040" cy="2697480"/>
          </a:xfrm>
          <a:prstGeom prst="rect">
            <a:avLst/>
          </a:prstGeom>
          <a:solidFill>
            <a:schemeClr val="accent2">
              <a:lumMod val="20000"/>
              <a:lumOff val="80000"/>
            </a:schemeClr>
          </a:solidFill>
        </p:spPr>
        <p:txBody>
          <a:bodyPr wrap="square" anchor="t">
            <a:spAutoFit/>
          </a:bodyPr>
          <a:lstStyle/>
          <a:p>
            <a:pPr algn="ctr">
              <a:spcBef>
                <a:spcPts val="0"/>
              </a:spcBef>
            </a:pPr>
            <a:r>
              <a:rPr lang="en-US" sz="2100" b="1" dirty="0">
                <a:solidFill>
                  <a:srgbClr val="B06E00"/>
                </a:solidFill>
                <a:latin typeface="Canva Sans Bold"/>
              </a:rPr>
              <a:t>5 · Validate clinically</a:t>
            </a:r>
            <a:endParaRPr lang="en-US" sz="2100" b="1" dirty="0">
              <a:solidFill>
                <a:srgbClr val="B06E00"/>
              </a:solidFill>
              <a:latin typeface="Canva Sans Bold"/>
            </a:endParaRPr>
          </a:p>
          <a:p>
            <a:pPr algn="l">
              <a:spcBef>
                <a:spcPts val="900"/>
              </a:spcBef>
            </a:pPr>
            <a:r>
              <a:rPr lang="en-US" sz="1500" b="0" dirty="0">
                <a:solidFill>
                  <a:srgbClr val="1E2936"/>
                </a:solidFill>
                <a:latin typeface="Canva Sans"/>
              </a:rPr>
              <a:t>Every number here comes from acted corpora or TV dialogue. 'Emotionally intelligent telemedicine' needs agreement against clinician ratings on real consultations, under ethics approval, with accuracy reported per skin tone, age and gender - the fairness risk a face model carries by default.</a:t>
            </a:r>
            <a:endParaRPr lang="en-US" sz="1500" b="0" dirty="0">
              <a:solidFill>
                <a:srgbClr val="1E2936"/>
              </a:solidFill>
              <a:latin typeface="Canva Sans"/>
            </a:endParaRPr>
          </a:p>
        </p:txBody>
      </p:sp>
      <p:sp>
        <p:nvSpPr>
          <p:cNvPr id="112" name="Rule 112"/>
          <p:cNvSpPr/>
          <p:nvPr/>
        </p:nvSpPr>
        <p:spPr>
          <a:xfrm>
            <a:off x="12207240" y="6080760"/>
            <a:ext cx="4892040" cy="50292"/>
          </a:xfrm>
          <a:prstGeom prst="rect">
            <a:avLst/>
          </a:prstGeom>
          <a:solidFill>
            <a:srgbClr val="7A5EA6"/>
          </a:solidFill>
          <a:ln>
            <a:noFill/>
          </a:ln>
          <a:effectLst/>
        </p:spPr>
        <p:txBody>
          <a:bodyPr rtlCol="0" anchor="ctr"/>
          <a:lstStyle/>
          <a:p>
            <a:pPr algn="ctr"/>
            <a:endParaRPr/>
          </a:p>
        </p:txBody>
      </p:sp>
      <p:sp>
        <p:nvSpPr>
          <p:cNvPr id="113" name="Card 113"/>
          <p:cNvSpPr txBox="1"/>
          <p:nvPr/>
        </p:nvSpPr>
        <p:spPr>
          <a:xfrm>
            <a:off x="12207240" y="6263640"/>
            <a:ext cx="4892040" cy="2697480"/>
          </a:xfrm>
          <a:prstGeom prst="rect">
            <a:avLst/>
          </a:prstGeom>
          <a:solidFill>
            <a:schemeClr val="accent4">
              <a:lumMod val="20000"/>
              <a:lumOff val="80000"/>
            </a:schemeClr>
          </a:solidFill>
        </p:spPr>
        <p:txBody>
          <a:bodyPr wrap="square" anchor="t">
            <a:spAutoFit/>
          </a:bodyPr>
          <a:lstStyle/>
          <a:p>
            <a:pPr algn="ctr">
              <a:spcBef>
                <a:spcPts val="0"/>
              </a:spcBef>
            </a:pPr>
            <a:r>
              <a:rPr lang="en-US" sz="2100" b="1" dirty="0">
                <a:solidFill>
                  <a:srgbClr val="7A5EA6"/>
                </a:solidFill>
                <a:latin typeface="Canva Sans Bold"/>
              </a:rPr>
              <a:t>6 · Privacy by construction</a:t>
            </a:r>
            <a:endParaRPr lang="en-US" sz="2100" b="1" dirty="0">
              <a:solidFill>
                <a:srgbClr val="7A5EA6"/>
              </a:solidFill>
              <a:latin typeface="Canva Sans Bold"/>
            </a:endParaRPr>
          </a:p>
          <a:p>
            <a:pPr algn="l">
              <a:spcBef>
                <a:spcPts val="900"/>
              </a:spcBef>
            </a:pPr>
            <a:r>
              <a:rPr lang="en-US" sz="1500" b="0" dirty="0">
                <a:solidFill>
                  <a:srgbClr val="1E2936"/>
                </a:solidFill>
                <a:latin typeface="Canva Sans"/>
              </a:rPr>
              <a:t>Frames currently cross the wire as Base64 JPEG. Moving the face leg into the browser with ONNX Runtime Web keeps pixels on the device and sends only a probability vector. Federated fine-tuning is then the route to clinical data that cannot legally be centralised.</a:t>
            </a:r>
            <a:endParaRPr lang="en-US" sz="1500" b="0" dirty="0">
              <a:solidFill>
                <a:srgbClr val="1E2936"/>
              </a:solidFill>
              <a:latin typeface="Canva San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5400000">
            <a:off x="8888013" y="859470"/>
            <a:ext cx="578976" cy="18354998"/>
            <a:chOff x="0" y="0"/>
            <a:chExt cx="771968" cy="24473330"/>
          </a:xfrm>
        </p:grpSpPr>
        <p:sp>
          <p:nvSpPr>
            <p:cNvPr id="3" name="Freeform 3"/>
            <p:cNvSpPr/>
            <p:nvPr/>
          </p:nvSpPr>
          <p:spPr>
            <a:xfrm>
              <a:off x="0" y="0"/>
              <a:ext cx="771906" cy="24473281"/>
            </a:xfrm>
            <a:custGeom>
              <a:avLst/>
              <a:gdLst/>
              <a:ahLst/>
              <a:cxnLst/>
              <a:rect l="l" t="t" r="r" b="b"/>
              <a:pathLst>
                <a:path w="771906" h="24473281">
                  <a:moveTo>
                    <a:pt x="0" y="0"/>
                  </a:moveTo>
                  <a:lnTo>
                    <a:pt x="771906" y="0"/>
                  </a:lnTo>
                  <a:lnTo>
                    <a:pt x="771906" y="24473281"/>
                  </a:lnTo>
                  <a:lnTo>
                    <a:pt x="0" y="24473281"/>
                  </a:lnTo>
                  <a:lnTo>
                    <a:pt x="0" y="0"/>
                  </a:lnTo>
                  <a:close/>
                </a:path>
              </a:pathLst>
            </a:custGeom>
            <a:blipFill>
              <a:blip r:embed="rId2"/>
              <a:stretch>
                <a:fillRect r="-494469"/>
              </a:stretch>
            </a:blipFill>
          </p:spPr>
        </p:sp>
      </p:grpSp>
      <p:grpSp>
        <p:nvGrpSpPr>
          <p:cNvPr id="4" name="Group 4"/>
          <p:cNvGrpSpPr/>
          <p:nvPr/>
        </p:nvGrpSpPr>
        <p:grpSpPr>
          <a:xfrm rot="5400000">
            <a:off x="6867480" y="2631033"/>
            <a:ext cx="264614" cy="13999572"/>
            <a:chOff x="0" y="0"/>
            <a:chExt cx="352818" cy="18666096"/>
          </a:xfrm>
        </p:grpSpPr>
        <p:sp>
          <p:nvSpPr>
            <p:cNvPr id="5" name="Freeform 5"/>
            <p:cNvSpPr/>
            <p:nvPr/>
          </p:nvSpPr>
          <p:spPr>
            <a:xfrm>
              <a:off x="0" y="0"/>
              <a:ext cx="352806" cy="18666079"/>
            </a:xfrm>
            <a:custGeom>
              <a:avLst/>
              <a:gdLst/>
              <a:ahLst/>
              <a:cxnLst/>
              <a:rect l="l" t="t" r="r" b="b"/>
              <a:pathLst>
                <a:path w="352806" h="18666079">
                  <a:moveTo>
                    <a:pt x="0" y="0"/>
                  </a:moveTo>
                  <a:lnTo>
                    <a:pt x="352806" y="0"/>
                  </a:lnTo>
                  <a:lnTo>
                    <a:pt x="352806" y="18666079"/>
                  </a:lnTo>
                  <a:lnTo>
                    <a:pt x="0" y="18666079"/>
                  </a:lnTo>
                  <a:lnTo>
                    <a:pt x="0" y="0"/>
                  </a:lnTo>
                  <a:close/>
                </a:path>
              </a:pathLst>
            </a:custGeom>
            <a:blipFill>
              <a:blip r:embed="rId3"/>
              <a:stretch>
                <a:fillRect r="-340183"/>
              </a:stretch>
            </a:blipFill>
          </p:spPr>
        </p:sp>
      </p:grpSp>
      <p:grpSp>
        <p:nvGrpSpPr>
          <p:cNvPr id="6" name="Group 6"/>
          <p:cNvGrpSpPr/>
          <p:nvPr/>
        </p:nvGrpSpPr>
        <p:grpSpPr>
          <a:xfrm>
            <a:off x="13798189" y="8819818"/>
            <a:ext cx="4868602" cy="1217151"/>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4"/>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5"/>
              <a:stretch>
                <a:fillRect l="-2" t="-5884" b="-6094"/>
              </a:stretch>
            </a:blipFill>
          </p:spPr>
        </p:sp>
      </p:grpSp>
      <p:sp>
        <p:nvSpPr>
          <p:cNvPr id="11" name="TextBox 11"/>
          <p:cNvSpPr txBox="1"/>
          <p:nvPr/>
        </p:nvSpPr>
        <p:spPr>
          <a:xfrm>
            <a:off x="13230608" y="9707593"/>
            <a:ext cx="3931950" cy="465812"/>
          </a:xfrm>
          <a:prstGeom prst="rect">
            <a:avLst/>
          </a:prstGeom>
        </p:spPr>
        <p:txBody>
          <a:bodyPr lIns="0" tIns="0" rIns="0" bIns="0" rtlCol="0" anchor="t">
            <a:spAutoFit/>
          </a:bodyPr>
          <a:lstStyle/>
          <a:p>
            <a:pPr algn="r">
              <a:lnSpc>
                <a:spcPts val="2160"/>
              </a:lnSpc>
            </a:pPr>
            <a:r>
              <a:rPr lang="en-US" sz="1800">
                <a:solidFill>
                  <a:srgbClr val="FFFFFF"/>
                </a:solidFill>
                <a:latin typeface="Fira Sans"/>
                <a:ea typeface="Fira Sans"/>
                <a:cs typeface="Fira Sans"/>
                <a:sym typeface="Fira Sans"/>
              </a:rPr>
              <a:t>1</a:t>
            </a:r>
          </a:p>
        </p:txBody>
      </p:sp>
      <p:sp>
        <p:nvSpPr>
          <p:cNvPr id="12" name="TextBox 12"/>
          <p:cNvSpPr txBox="1"/>
          <p:nvPr/>
        </p:nvSpPr>
        <p:spPr>
          <a:xfrm>
            <a:off x="6449695" y="446348"/>
            <a:ext cx="5049473" cy="914400"/>
          </a:xfrm>
          <a:prstGeom prst="rect">
            <a:avLst/>
          </a:prstGeom>
        </p:spPr>
        <p:txBody>
          <a:bodyPr lIns="0" tIns="0" rIns="0" bIns="0" rtlCol="0" anchor="t">
            <a:spAutoFit/>
          </a:bodyPr>
          <a:lstStyle/>
          <a:p>
            <a:pPr algn="ctr">
              <a:lnSpc>
                <a:spcPts val="6955"/>
              </a:lnSpc>
            </a:pPr>
            <a:r>
              <a:rPr lang="en-US" sz="5796" b="1">
                <a:solidFill>
                  <a:srgbClr val="009320"/>
                </a:solidFill>
                <a:latin typeface="Times New Roman Bold"/>
                <a:ea typeface="Times New Roman Bold"/>
                <a:cs typeface="Times New Roman Bold"/>
                <a:sym typeface="Times New Roman Bold"/>
              </a:rPr>
              <a:t>References</a:t>
            </a:r>
          </a:p>
        </p:txBody>
      </p:sp>
      <p:graphicFrame>
        <p:nvGraphicFramePr>
          <p:cNvPr id="15" name="Table 14">
            <a:extLst>
              <a:ext uri="{FF2B5EF4-FFF2-40B4-BE49-F238E27FC236}">
                <a16:creationId xmlns:a16="http://schemas.microsoft.com/office/drawing/2014/main" id="{755DEF30-6ED8-57BE-BA3E-0C8D15F7DD5B}"/>
              </a:ext>
            </a:extLst>
          </p:cNvPr>
          <p:cNvGraphicFramePr>
            <a:graphicFrameLocks noGrp="1"/>
          </p:cNvGraphicFramePr>
          <p:nvPr>
            <p:extLst>
              <p:ext uri="{D42A27DB-BD31-4B8C-83A1-F6EECF244321}">
                <p14:modId xmlns:p14="http://schemas.microsoft.com/office/powerpoint/2010/main" val="3693399389"/>
              </p:ext>
            </p:extLst>
          </p:nvPr>
        </p:nvGraphicFramePr>
        <p:xfrm>
          <a:off x="1286448" y="1907553"/>
          <a:ext cx="15606693" cy="6728744"/>
        </p:xfrm>
        <a:graphic>
          <a:graphicData uri="http://schemas.openxmlformats.org/drawingml/2006/table">
            <a:tbl>
              <a:tblPr>
                <a:tableStyleId>{F5AB1C69-6EDB-4FF4-983F-18BD219EF322}</a:tableStyleId>
              </a:tblPr>
              <a:tblGrid>
                <a:gridCol w="533400">
                  <a:extLst>
                    <a:ext uri="{9D8B030D-6E8A-4147-A177-3AD203B41FA5}">
                      <a16:colId xmlns:a16="http://schemas.microsoft.com/office/drawing/2014/main" val="2570022743"/>
                    </a:ext>
                  </a:extLst>
                </a:gridCol>
                <a:gridCol w="15073293">
                  <a:extLst>
                    <a:ext uri="{9D8B030D-6E8A-4147-A177-3AD203B41FA5}">
                      <a16:colId xmlns:a16="http://schemas.microsoft.com/office/drawing/2014/main" val="3177042360"/>
                    </a:ext>
                  </a:extLst>
                </a:gridCol>
              </a:tblGrid>
              <a:tr h="579423">
                <a:tc>
                  <a:txBody>
                    <a:bodyPr/>
                    <a:lstStyle/>
                    <a:p>
                      <a:pPr>
                        <a:buNone/>
                      </a:pPr>
                      <a:r>
                        <a:rPr lang="en-IN" sz="2000">
                          <a:effectLst/>
                        </a:rPr>
                        <a:t>1</a:t>
                      </a:r>
                    </a:p>
                  </a:txBody>
                  <a:tcPr marL="26834" marR="26834" marT="13417" marB="13417" anchor="ctr"/>
                </a:tc>
                <a:tc>
                  <a:txBody>
                    <a:bodyPr/>
                    <a:lstStyle/>
                    <a:p>
                      <a:pPr algn="l" rtl="0">
                        <a:buNone/>
                      </a:pPr>
                      <a:r>
                        <a:rPr lang="en-IN" sz="2000" dirty="0">
                          <a:effectLst/>
                        </a:rPr>
                        <a:t>M. Egger, M. Ley, and S. Hanke, "Emotion recognition from physiological signal analysis: A review," Electronic Notes in Theoretical Computer Science, vol. 343, pp. 35–55, 2019.</a:t>
                      </a:r>
                    </a:p>
                  </a:txBody>
                  <a:tcPr marL="26834" marR="26834" marT="13417" marB="13417" anchor="ctr"/>
                </a:tc>
                <a:extLst>
                  <a:ext uri="{0D108BD9-81ED-4DB2-BD59-A6C34878D82A}">
                    <a16:rowId xmlns:a16="http://schemas.microsoft.com/office/drawing/2014/main" val="121886306"/>
                  </a:ext>
                </a:extLst>
              </a:tr>
              <a:tr h="687666">
                <a:tc>
                  <a:txBody>
                    <a:bodyPr/>
                    <a:lstStyle/>
                    <a:p>
                      <a:pPr>
                        <a:buNone/>
                      </a:pPr>
                      <a:r>
                        <a:rPr lang="en-IN" sz="2000">
                          <a:effectLst/>
                        </a:rPr>
                        <a:t>2</a:t>
                      </a:r>
                    </a:p>
                  </a:txBody>
                  <a:tcPr marL="26834" marR="26834" marT="13417" marB="13417" anchor="ctr"/>
                </a:tc>
                <a:tc>
                  <a:txBody>
                    <a:bodyPr/>
                    <a:lstStyle/>
                    <a:p>
                      <a:pPr algn="l" rtl="0">
                        <a:buNone/>
                      </a:pPr>
                      <a:r>
                        <a:rPr lang="en-IN" sz="2000" dirty="0">
                          <a:effectLst/>
                        </a:rPr>
                        <a:t>C. W. Huang et al., "Emotion recognition in doctor-patient interactions from real-world clinical video database: Initial development of artificial empathy," Computer Methods and Programs in Biomedicine, vol. 233, p. 107480, 2023.</a:t>
                      </a:r>
                    </a:p>
                  </a:txBody>
                  <a:tcPr marL="26834" marR="26834" marT="13417" marB="13417" anchor="ctr"/>
                </a:tc>
                <a:extLst>
                  <a:ext uri="{0D108BD9-81ED-4DB2-BD59-A6C34878D82A}">
                    <a16:rowId xmlns:a16="http://schemas.microsoft.com/office/drawing/2014/main" val="564913137"/>
                  </a:ext>
                </a:extLst>
              </a:tr>
              <a:tr h="579423">
                <a:tc>
                  <a:txBody>
                    <a:bodyPr/>
                    <a:lstStyle/>
                    <a:p>
                      <a:pPr>
                        <a:buNone/>
                      </a:pPr>
                      <a:r>
                        <a:rPr lang="en-IN" sz="2000">
                          <a:effectLst/>
                        </a:rPr>
                        <a:t>3</a:t>
                      </a:r>
                    </a:p>
                  </a:txBody>
                  <a:tcPr marL="26834" marR="26834" marT="13417" marB="13417" anchor="ctr"/>
                </a:tc>
                <a:tc>
                  <a:txBody>
                    <a:bodyPr/>
                    <a:lstStyle/>
                    <a:p>
                      <a:pPr algn="l" rtl="0">
                        <a:buNone/>
                      </a:pPr>
                      <a:r>
                        <a:rPr lang="en-IN" sz="2000">
                          <a:effectLst/>
                        </a:rPr>
                        <a:t>K. Sarvakar and K. Rana, "Revolutionizing facial emotion recognition: in-depth analysis of cutting-edge models, methodologies, and datasets," Discover Artificial Intelligence, vol. 5, no. 1, p. 388, 2025.</a:t>
                      </a:r>
                    </a:p>
                  </a:txBody>
                  <a:tcPr marL="26834" marR="26834" marT="13417" marB="13417" anchor="ctr"/>
                </a:tc>
                <a:extLst>
                  <a:ext uri="{0D108BD9-81ED-4DB2-BD59-A6C34878D82A}">
                    <a16:rowId xmlns:a16="http://schemas.microsoft.com/office/drawing/2014/main" val="1007850737"/>
                  </a:ext>
                </a:extLst>
              </a:tr>
              <a:tr h="687666">
                <a:tc>
                  <a:txBody>
                    <a:bodyPr/>
                    <a:lstStyle/>
                    <a:p>
                      <a:pPr>
                        <a:buNone/>
                      </a:pPr>
                      <a:r>
                        <a:rPr lang="en-IN" sz="2000">
                          <a:effectLst/>
                        </a:rPr>
                        <a:t>4</a:t>
                      </a:r>
                    </a:p>
                  </a:txBody>
                  <a:tcPr marL="26834" marR="26834" marT="13417" marB="13417" anchor="ctr"/>
                </a:tc>
                <a:tc>
                  <a:txBody>
                    <a:bodyPr/>
                    <a:lstStyle/>
                    <a:p>
                      <a:pPr algn="l" rtl="0">
                        <a:buNone/>
                      </a:pPr>
                      <a:r>
                        <a:rPr lang="en-IN" sz="2000" dirty="0">
                          <a:effectLst/>
                        </a:rPr>
                        <a:t>J. Pan, W. Fang, Z. Zhang, B. Chen, Z. Zhang, and S. Wang, "Multimodal emotion recognition based on facial expressions, speech, and EEG," IEEE Open Journal of Engineering in Medicine and Biology, vol. 5, pp. 396–403, 2023.</a:t>
                      </a:r>
                    </a:p>
                  </a:txBody>
                  <a:tcPr marL="26834" marR="26834" marT="13417" marB="13417" anchor="ctr"/>
                </a:tc>
                <a:extLst>
                  <a:ext uri="{0D108BD9-81ED-4DB2-BD59-A6C34878D82A}">
                    <a16:rowId xmlns:a16="http://schemas.microsoft.com/office/drawing/2014/main" val="1217521159"/>
                  </a:ext>
                </a:extLst>
              </a:tr>
              <a:tr h="579423">
                <a:tc>
                  <a:txBody>
                    <a:bodyPr/>
                    <a:lstStyle/>
                    <a:p>
                      <a:pPr>
                        <a:buNone/>
                      </a:pPr>
                      <a:r>
                        <a:rPr lang="en-IN" sz="2000">
                          <a:effectLst/>
                        </a:rPr>
                        <a:t>5</a:t>
                      </a:r>
                    </a:p>
                  </a:txBody>
                  <a:tcPr marL="26834" marR="26834" marT="13417" marB="13417" anchor="ctr"/>
                </a:tc>
                <a:tc>
                  <a:txBody>
                    <a:bodyPr/>
                    <a:lstStyle/>
                    <a:p>
                      <a:pPr algn="l" rtl="0">
                        <a:buNone/>
                      </a:pPr>
                      <a:r>
                        <a:rPr lang="en-IN" sz="2000">
                          <a:effectLst/>
                        </a:rPr>
                        <a:t>M. D. Kumar, M. S. Rao, and K. C. Narendra, "Multimodal Emotion Recognition: A Comprehensive Survey of Datasets, Methods, and Applications," IEEE Access, vol. 13, pp. 201067–201097, 2025.</a:t>
                      </a:r>
                    </a:p>
                  </a:txBody>
                  <a:tcPr marL="26834" marR="26834" marT="13417" marB="13417" anchor="ctr"/>
                </a:tc>
                <a:extLst>
                  <a:ext uri="{0D108BD9-81ED-4DB2-BD59-A6C34878D82A}">
                    <a16:rowId xmlns:a16="http://schemas.microsoft.com/office/drawing/2014/main" val="55882463"/>
                  </a:ext>
                </a:extLst>
              </a:tr>
              <a:tr h="687666">
                <a:tc>
                  <a:txBody>
                    <a:bodyPr/>
                    <a:lstStyle/>
                    <a:p>
                      <a:pPr>
                        <a:buNone/>
                      </a:pPr>
                      <a:r>
                        <a:rPr lang="en-IN" sz="2000">
                          <a:effectLst/>
                        </a:rPr>
                        <a:t>6</a:t>
                      </a:r>
                    </a:p>
                  </a:txBody>
                  <a:tcPr marL="26834" marR="26834" marT="13417" marB="13417" anchor="ctr"/>
                </a:tc>
                <a:tc>
                  <a:txBody>
                    <a:bodyPr/>
                    <a:lstStyle/>
                    <a:p>
                      <a:pPr algn="l" rtl="0">
                        <a:buNone/>
                      </a:pPr>
                      <a:r>
                        <a:rPr lang="en-IN" sz="2000">
                          <a:effectLst/>
                        </a:rPr>
                        <a:t>Y. Lei, "In-depth Study and Application Analysis of Multimodal Emotion Recognition Methods: Multidimensional Fusion Techniques Based on Vision, Speech, and Text," Appl. Comput. Eng., vol. 107, pp. 73–80, 2024.</a:t>
                      </a:r>
                    </a:p>
                  </a:txBody>
                  <a:tcPr marL="26834" marR="26834" marT="13417" marB="13417" anchor="ctr"/>
                </a:tc>
                <a:extLst>
                  <a:ext uri="{0D108BD9-81ED-4DB2-BD59-A6C34878D82A}">
                    <a16:rowId xmlns:a16="http://schemas.microsoft.com/office/drawing/2014/main" val="3594566951"/>
                  </a:ext>
                </a:extLst>
              </a:tr>
              <a:tr h="579423">
                <a:tc>
                  <a:txBody>
                    <a:bodyPr/>
                    <a:lstStyle/>
                    <a:p>
                      <a:pPr>
                        <a:buNone/>
                      </a:pPr>
                      <a:r>
                        <a:rPr lang="en-IN" sz="2000">
                          <a:effectLst/>
                        </a:rPr>
                        <a:t>7</a:t>
                      </a:r>
                    </a:p>
                  </a:txBody>
                  <a:tcPr marL="26834" marR="26834" marT="13417" marB="13417" anchor="ctr"/>
                </a:tc>
                <a:tc>
                  <a:txBody>
                    <a:bodyPr/>
                    <a:lstStyle/>
                    <a:p>
                      <a:pPr algn="l" rtl="0">
                        <a:buNone/>
                      </a:pPr>
                      <a:r>
                        <a:rPr lang="en-IN" sz="2000">
                          <a:effectLst/>
                        </a:rPr>
                        <a:t>X. Zhu et al., "RMER-DT: robust multimodal emotion recognition in conversational contexts based on diffusion and transformers," Information Fusion, vol. 123, p. 103268, 2025.</a:t>
                      </a:r>
                    </a:p>
                  </a:txBody>
                  <a:tcPr marL="26834" marR="26834" marT="13417" marB="13417" anchor="ctr"/>
                </a:tc>
                <a:extLst>
                  <a:ext uri="{0D108BD9-81ED-4DB2-BD59-A6C34878D82A}">
                    <a16:rowId xmlns:a16="http://schemas.microsoft.com/office/drawing/2014/main" val="3591970212"/>
                  </a:ext>
                </a:extLst>
              </a:tr>
              <a:tr h="795910">
                <a:tc>
                  <a:txBody>
                    <a:bodyPr/>
                    <a:lstStyle/>
                    <a:p>
                      <a:pPr>
                        <a:buNone/>
                      </a:pPr>
                      <a:r>
                        <a:rPr lang="en-IN" sz="2000">
                          <a:effectLst/>
                        </a:rPr>
                        <a:t>8</a:t>
                      </a:r>
                    </a:p>
                  </a:txBody>
                  <a:tcPr marL="26834" marR="26834" marT="13417" marB="13417" anchor="ctr"/>
                </a:tc>
                <a:tc>
                  <a:txBody>
                    <a:bodyPr/>
                    <a:lstStyle/>
                    <a:p>
                      <a:pPr algn="l" rtl="0">
                        <a:buNone/>
                      </a:pPr>
                      <a:r>
                        <a:rPr lang="en-IN" sz="2000">
                          <a:effectLst/>
                        </a:rPr>
                        <a:t>L. Ismail, N. Shahin, H. Materwala, A. Hennebelle, and L. Frermann, "ML-NLPEmot: machine learning-natural Language processing event-based emotion detection proactive framework addressing mental health," IEEE Access, vol. 11, pp. 144126–144149, 2023.</a:t>
                      </a:r>
                    </a:p>
                  </a:txBody>
                  <a:tcPr marL="26834" marR="26834" marT="13417" marB="13417" anchor="ctr"/>
                </a:tc>
                <a:extLst>
                  <a:ext uri="{0D108BD9-81ED-4DB2-BD59-A6C34878D82A}">
                    <a16:rowId xmlns:a16="http://schemas.microsoft.com/office/drawing/2014/main" val="2423469359"/>
                  </a:ext>
                </a:extLst>
              </a:tr>
              <a:tr h="687666">
                <a:tc>
                  <a:txBody>
                    <a:bodyPr/>
                    <a:lstStyle/>
                    <a:p>
                      <a:pPr>
                        <a:buNone/>
                      </a:pPr>
                      <a:r>
                        <a:rPr lang="en-IN" sz="2000">
                          <a:effectLst/>
                        </a:rPr>
                        <a:t>9</a:t>
                      </a:r>
                    </a:p>
                  </a:txBody>
                  <a:tcPr marL="26834" marR="26834" marT="13417" marB="13417" anchor="ctr"/>
                </a:tc>
                <a:tc>
                  <a:txBody>
                    <a:bodyPr/>
                    <a:lstStyle/>
                    <a:p>
                      <a:pPr algn="l" rtl="0">
                        <a:buNone/>
                      </a:pPr>
                      <a:r>
                        <a:rPr lang="en-IN" sz="2000">
                          <a:effectLst/>
                        </a:rPr>
                        <a:t>R. Gutiérrez, W. Villegas-Ch, and S. Luján-Mora, "Implementing federated learning for privacy-preserving emotion detection in educational environments," Frontiers in Artificial Intelligence, vol. 8, p. 1644844, 2025.</a:t>
                      </a:r>
                    </a:p>
                  </a:txBody>
                  <a:tcPr marL="26834" marR="26834" marT="13417" marB="13417" anchor="ctr"/>
                </a:tc>
                <a:extLst>
                  <a:ext uri="{0D108BD9-81ED-4DB2-BD59-A6C34878D82A}">
                    <a16:rowId xmlns:a16="http://schemas.microsoft.com/office/drawing/2014/main" val="3169499138"/>
                  </a:ext>
                </a:extLst>
              </a:tr>
              <a:tr h="579423">
                <a:tc>
                  <a:txBody>
                    <a:bodyPr/>
                    <a:lstStyle/>
                    <a:p>
                      <a:pPr>
                        <a:buNone/>
                      </a:pPr>
                      <a:r>
                        <a:rPr lang="en-IN" sz="2000">
                          <a:effectLst/>
                        </a:rPr>
                        <a:t>10</a:t>
                      </a:r>
                    </a:p>
                  </a:txBody>
                  <a:tcPr marL="26834" marR="26834" marT="13417" marB="13417" anchor="ctr"/>
                </a:tc>
                <a:tc>
                  <a:txBody>
                    <a:bodyPr/>
                    <a:lstStyle/>
                    <a:p>
                      <a:pPr algn="l" rtl="0">
                        <a:buNone/>
                      </a:pPr>
                      <a:r>
                        <a:rPr lang="en-IN" sz="2000" dirty="0">
                          <a:effectLst/>
                        </a:rPr>
                        <a:t>Y. Y. Tsai et al., "Emerging trends and clinical challenges in AI-enhanced emotion diagnosis using physiological data," Medical &amp; Biological Engineering &amp; Computing, pp. 1–22, 2025.</a:t>
                      </a:r>
                    </a:p>
                  </a:txBody>
                  <a:tcPr marL="26834" marR="26834" marT="13417" marB="13417" anchor="ctr"/>
                </a:tc>
                <a:extLst>
                  <a:ext uri="{0D108BD9-81ED-4DB2-BD59-A6C34878D82A}">
                    <a16:rowId xmlns:a16="http://schemas.microsoft.com/office/drawing/2014/main" val="2952247246"/>
                  </a:ext>
                </a:extLst>
              </a:tr>
            </a:tbl>
          </a:graphicData>
        </a:graphic>
      </p:graphicFrame>
    </p:spTree>
  </p:cSld>
  <p:clrMapOvr>
    <a:masterClrMapping/>
  </p:clrMapOvr>
  <p:transition>
    <p:wip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5400000">
            <a:off x="8888013" y="859470"/>
            <a:ext cx="578976" cy="18354998"/>
            <a:chOff x="0" y="0"/>
            <a:chExt cx="771968" cy="24473330"/>
          </a:xfrm>
        </p:grpSpPr>
        <p:sp>
          <p:nvSpPr>
            <p:cNvPr id="3" name="Freeform 3"/>
            <p:cNvSpPr/>
            <p:nvPr/>
          </p:nvSpPr>
          <p:spPr>
            <a:xfrm>
              <a:off x="0" y="0"/>
              <a:ext cx="771906" cy="24473281"/>
            </a:xfrm>
            <a:custGeom>
              <a:avLst/>
              <a:gdLst/>
              <a:ahLst/>
              <a:cxnLst/>
              <a:rect l="l" t="t" r="r" b="b"/>
              <a:pathLst>
                <a:path w="771906" h="24473281">
                  <a:moveTo>
                    <a:pt x="0" y="0"/>
                  </a:moveTo>
                  <a:lnTo>
                    <a:pt x="771906" y="0"/>
                  </a:lnTo>
                  <a:lnTo>
                    <a:pt x="771906" y="24473281"/>
                  </a:lnTo>
                  <a:lnTo>
                    <a:pt x="0" y="24473281"/>
                  </a:lnTo>
                  <a:lnTo>
                    <a:pt x="0" y="0"/>
                  </a:lnTo>
                  <a:close/>
                </a:path>
              </a:pathLst>
            </a:custGeom>
            <a:blipFill>
              <a:blip r:embed="rId2"/>
              <a:stretch>
                <a:fillRect r="-494469"/>
              </a:stretch>
            </a:blipFill>
          </p:spPr>
        </p:sp>
      </p:grpSp>
      <p:grpSp>
        <p:nvGrpSpPr>
          <p:cNvPr id="4" name="Group 4"/>
          <p:cNvGrpSpPr/>
          <p:nvPr/>
        </p:nvGrpSpPr>
        <p:grpSpPr>
          <a:xfrm rot="5400000">
            <a:off x="6867480" y="2631033"/>
            <a:ext cx="264614" cy="13999572"/>
            <a:chOff x="0" y="0"/>
            <a:chExt cx="352818" cy="18666096"/>
          </a:xfrm>
        </p:grpSpPr>
        <p:sp>
          <p:nvSpPr>
            <p:cNvPr id="5" name="Freeform 5"/>
            <p:cNvSpPr/>
            <p:nvPr/>
          </p:nvSpPr>
          <p:spPr>
            <a:xfrm>
              <a:off x="0" y="0"/>
              <a:ext cx="352806" cy="18666079"/>
            </a:xfrm>
            <a:custGeom>
              <a:avLst/>
              <a:gdLst/>
              <a:ahLst/>
              <a:cxnLst/>
              <a:rect l="l" t="t" r="r" b="b"/>
              <a:pathLst>
                <a:path w="352806" h="18666079">
                  <a:moveTo>
                    <a:pt x="0" y="0"/>
                  </a:moveTo>
                  <a:lnTo>
                    <a:pt x="352806" y="0"/>
                  </a:lnTo>
                  <a:lnTo>
                    <a:pt x="352806" y="18666079"/>
                  </a:lnTo>
                  <a:lnTo>
                    <a:pt x="0" y="18666079"/>
                  </a:lnTo>
                  <a:lnTo>
                    <a:pt x="0" y="0"/>
                  </a:lnTo>
                  <a:close/>
                </a:path>
              </a:pathLst>
            </a:custGeom>
            <a:blipFill>
              <a:blip r:embed="rId3"/>
              <a:stretch>
                <a:fillRect r="-340183"/>
              </a:stretch>
            </a:blipFill>
          </p:spPr>
        </p:sp>
      </p:grpSp>
      <p:grpSp>
        <p:nvGrpSpPr>
          <p:cNvPr id="6" name="Group 6"/>
          <p:cNvGrpSpPr/>
          <p:nvPr/>
        </p:nvGrpSpPr>
        <p:grpSpPr>
          <a:xfrm>
            <a:off x="13798189" y="8819818"/>
            <a:ext cx="4868602" cy="1217151"/>
            <a:chOff x="0" y="0"/>
            <a:chExt cx="6491470" cy="1622868"/>
          </a:xfrm>
        </p:grpSpPr>
        <p:sp>
          <p:nvSpPr>
            <p:cNvPr id="7" name="Freeform 7" descr="A picture containing drawing  Description automatically generated"/>
            <p:cNvSpPr/>
            <p:nvPr/>
          </p:nvSpPr>
          <p:spPr>
            <a:xfrm>
              <a:off x="0" y="0"/>
              <a:ext cx="6491478" cy="1622806"/>
            </a:xfrm>
            <a:custGeom>
              <a:avLst/>
              <a:gdLst/>
              <a:ahLst/>
              <a:cxnLst/>
              <a:rect l="l" t="t" r="r" b="b"/>
              <a:pathLst>
                <a:path w="6491478" h="1622806">
                  <a:moveTo>
                    <a:pt x="0" y="0"/>
                  </a:moveTo>
                  <a:lnTo>
                    <a:pt x="6491478" y="0"/>
                  </a:lnTo>
                  <a:lnTo>
                    <a:pt x="6491478" y="1622806"/>
                  </a:lnTo>
                  <a:lnTo>
                    <a:pt x="0" y="1622806"/>
                  </a:lnTo>
                  <a:lnTo>
                    <a:pt x="0" y="0"/>
                  </a:lnTo>
                  <a:close/>
                </a:path>
              </a:pathLst>
            </a:custGeom>
            <a:blipFill>
              <a:blip r:embed="rId4"/>
              <a:stretch>
                <a:fillRect b="-3"/>
              </a:stretch>
            </a:blipFill>
          </p:spPr>
        </p:sp>
      </p:grpSp>
      <p:grpSp>
        <p:nvGrpSpPr>
          <p:cNvPr id="8" name="Group 8"/>
          <p:cNvGrpSpPr/>
          <p:nvPr/>
        </p:nvGrpSpPr>
        <p:grpSpPr>
          <a:xfrm>
            <a:off x="16902182" y="0"/>
            <a:ext cx="1452818" cy="968896"/>
            <a:chOff x="0" y="0"/>
            <a:chExt cx="1937090" cy="1291861"/>
          </a:xfrm>
        </p:grpSpPr>
        <p:sp>
          <p:nvSpPr>
            <p:cNvPr id="9" name="Freeform 9" descr="A close up of a sign  Description automatically generated"/>
            <p:cNvSpPr/>
            <p:nvPr/>
          </p:nvSpPr>
          <p:spPr>
            <a:xfrm>
              <a:off x="0" y="0"/>
              <a:ext cx="1937131" cy="1291884"/>
            </a:xfrm>
            <a:custGeom>
              <a:avLst/>
              <a:gdLst/>
              <a:ahLst/>
              <a:cxnLst/>
              <a:rect l="l" t="t" r="r" b="b"/>
              <a:pathLst>
                <a:path w="1937131" h="1291884">
                  <a:moveTo>
                    <a:pt x="0" y="0"/>
                  </a:moveTo>
                  <a:lnTo>
                    <a:pt x="1937131" y="0"/>
                  </a:lnTo>
                  <a:lnTo>
                    <a:pt x="1937131" y="1291884"/>
                  </a:lnTo>
                  <a:lnTo>
                    <a:pt x="0" y="1291884"/>
                  </a:lnTo>
                  <a:lnTo>
                    <a:pt x="0" y="0"/>
                  </a:lnTo>
                  <a:close/>
                </a:path>
              </a:pathLst>
            </a:custGeom>
            <a:blipFill>
              <a:blip r:embed="rId5"/>
              <a:stretch>
                <a:fillRect l="-2" t="-5884" b="-6094"/>
              </a:stretch>
            </a:blipFill>
          </p:spPr>
        </p:sp>
      </p:grpSp>
      <p:sp>
        <p:nvSpPr>
          <p:cNvPr id="10" name="TextBox 10"/>
          <p:cNvSpPr txBox="1"/>
          <p:nvPr/>
        </p:nvSpPr>
        <p:spPr>
          <a:xfrm>
            <a:off x="13230608" y="9707593"/>
            <a:ext cx="3931950" cy="465812"/>
          </a:xfrm>
          <a:prstGeom prst="rect">
            <a:avLst/>
          </a:prstGeom>
        </p:spPr>
        <p:txBody>
          <a:bodyPr lIns="0" tIns="0" rIns="0" bIns="0" rtlCol="0" anchor="t">
            <a:spAutoFit/>
          </a:bodyPr>
          <a:lstStyle/>
          <a:p>
            <a:pPr algn="r">
              <a:lnSpc>
                <a:spcPts val="2160"/>
              </a:lnSpc>
            </a:pPr>
            <a:r>
              <a:rPr lang="en-US" sz="1800">
                <a:solidFill>
                  <a:srgbClr val="FFFFFF"/>
                </a:solidFill>
                <a:latin typeface="Fira Sans"/>
                <a:ea typeface="Fira Sans"/>
                <a:cs typeface="Fira Sans"/>
                <a:sym typeface="Fira Sans"/>
              </a:rPr>
              <a:t>1</a:t>
            </a:r>
          </a:p>
        </p:txBody>
      </p:sp>
      <p:sp>
        <p:nvSpPr>
          <p:cNvPr id="11" name="TextBox 11"/>
          <p:cNvSpPr txBox="1"/>
          <p:nvPr/>
        </p:nvSpPr>
        <p:spPr>
          <a:xfrm>
            <a:off x="4509745" y="3982712"/>
            <a:ext cx="9268509" cy="1619287"/>
          </a:xfrm>
          <a:prstGeom prst="rect">
            <a:avLst/>
          </a:prstGeom>
        </p:spPr>
        <p:txBody>
          <a:bodyPr lIns="0" tIns="0" rIns="0" bIns="0" rtlCol="0" anchor="t">
            <a:spAutoFit/>
          </a:bodyPr>
          <a:lstStyle/>
          <a:p>
            <a:pPr algn="ctr">
              <a:lnSpc>
                <a:spcPts val="12700"/>
              </a:lnSpc>
            </a:pPr>
            <a:r>
              <a:rPr lang="en-US" sz="10583" b="1" spc="518">
                <a:solidFill>
                  <a:srgbClr val="7ED957"/>
                </a:solidFill>
                <a:latin typeface="Anonymous Pro Bold"/>
                <a:ea typeface="Anonymous Pro Bold"/>
                <a:cs typeface="Anonymous Pro Bold"/>
                <a:sym typeface="Anonymous Pro Bold"/>
              </a:rPr>
              <a:t>THANK YOU</a:t>
            </a:r>
          </a:p>
        </p:txBody>
      </p:sp>
    </p:spTree>
  </p:cSld>
  <p:clrMapOvr>
    <a:masterClrMapping/>
  </p:clrMapOvr>
  <p:transition>
    <p:circl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18</TotalTime>
  <Words>1659</Words>
  <Application>Microsoft Office PowerPoint</Application>
  <PresentationFormat>Custom</PresentationFormat>
  <Paragraphs>148</Paragraphs>
  <Slides>21</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21</vt:i4>
      </vt:variant>
    </vt:vector>
  </HeadingPairs>
  <TitlesOfParts>
    <vt:vector size="31" baseType="lpstr">
      <vt:lpstr>League Spartan</vt:lpstr>
      <vt:lpstr>Canva Sans</vt:lpstr>
      <vt:lpstr>Canva Sans Bold</vt:lpstr>
      <vt:lpstr>Fira Sans Bold</vt:lpstr>
      <vt:lpstr>Arial</vt:lpstr>
      <vt:lpstr>Times New Roman Bold</vt:lpstr>
      <vt:lpstr>Anonymous Pro Bold</vt:lpstr>
      <vt:lpstr>Fira Sans</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Sept_eval</dc:title>
  <cp:lastModifiedBy>Muskan Shaikh</cp:lastModifiedBy>
  <cp:revision>1</cp:revision>
  <dcterms:created xsi:type="dcterms:W3CDTF">2006-08-16T00:00:00Z</dcterms:created>
  <dcterms:modified xsi:type="dcterms:W3CDTF">2026-10-04T16:35:32Z</dcterms:modified>
  <dc:identifier>DAHW-cADzq0</dc:identifier>
</cp:coreProperties>
</file>